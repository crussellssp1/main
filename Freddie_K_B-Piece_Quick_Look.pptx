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6.xml" ContentType="application/vnd.openxmlformats-officedocument.drawingml.chart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3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17" r:id="rId1"/>
    <p:sldMasterId id="2147484232" r:id="rId2"/>
  </p:sldMasterIdLst>
  <p:notesMasterIdLst>
    <p:notesMasterId r:id="rId77"/>
  </p:notesMasterIdLst>
  <p:sldIdLst>
    <p:sldId id="256" r:id="rId3"/>
    <p:sldId id="2147471168" r:id="rId4"/>
    <p:sldId id="2147471177" r:id="rId5"/>
    <p:sldId id="2147471172" r:id="rId20"/>
    <p:sldId id="2147471152" r:id="rId10"/>
  </p:sldIdLst>
  <p:sldSz cx="9144000" cy="6858000" type="screen4x3"/>
  <p:notesSz cx="6950075" cy="9236075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 and Disclaimers" id="{31BE143B-7876-483B-BDFA-AAABA7B29D77}">
          <p14:sldIdLst>
            <p14:sldId id="256"/>
            <p14:sldId id="2147471168"/>
            <p14:sldId id="2147471177"/>
            <p14:sldId id="2147471591"/>
            <p14:sldId id="2147471596"/>
            <p14:sldId id="2147471625"/>
            <p14:sldId id="2147471592"/>
            <p14:sldId id="2147471152"/>
            <p14:sldId id="2147471634"/>
            <p14:sldId id="2147471635"/>
            <p14:sldId id="2147471633"/>
            <p14:sldId id="2147471156"/>
            <p14:sldId id="2147471636"/>
            <p14:sldId id="2147471622"/>
            <p14:sldId id="2147471624"/>
            <p14:sldId id="2147471015"/>
            <p14:sldId id="2147471171"/>
            <p14:sldId id="2147471172"/>
            <p14:sldId id="2147471170"/>
            <p14:sldId id="2147471173"/>
            <p14:sldId id="2147471174"/>
            <p14:sldId id="2147471175"/>
            <p14:sldId id="2147471176"/>
            <p14:sldId id="2147471025"/>
            <p14:sldId id="2147471608"/>
            <p14:sldId id="2147471016"/>
            <p14:sldId id="2147471620"/>
            <p14:sldId id="2147471630"/>
            <p14:sldId id="2147471626"/>
            <p14:sldId id="2147471161"/>
            <p14:sldId id="2147471270"/>
            <p14:sldId id="2147471162"/>
            <p14:sldId id="2147471163"/>
            <p14:sldId id="2147471164"/>
            <p14:sldId id="2147471165"/>
            <p14:sldId id="2147471166"/>
            <p14:sldId id="2147471167"/>
            <p14:sldId id="2147471610"/>
            <p14:sldId id="2147471169"/>
            <p14:sldId id="2147471611"/>
            <p14:sldId id="2147471612"/>
            <p14:sldId id="2147471613"/>
            <p14:sldId id="2147471614"/>
            <p14:sldId id="2147471615"/>
            <p14:sldId id="2147471616"/>
            <p14:sldId id="2147471617"/>
            <p14:sldId id="2147471618"/>
            <p14:sldId id="2147471178"/>
            <p14:sldId id="2147471179"/>
            <p14:sldId id="2147471180"/>
            <p14:sldId id="2147471181"/>
            <p14:sldId id="2147471182"/>
            <p14:sldId id="2147471183"/>
            <p14:sldId id="2147471184"/>
            <p14:sldId id="2147471185"/>
            <p14:sldId id="2147471186"/>
            <p14:sldId id="2147471187"/>
            <p14:sldId id="2147471188"/>
            <p14:sldId id="2147471189"/>
            <p14:sldId id="2147471190"/>
            <p14:sldId id="2147471191"/>
            <p14:sldId id="2147471192"/>
            <p14:sldId id="2147471193"/>
            <p14:sldId id="2147471194"/>
            <p14:sldId id="2147471195"/>
            <p14:sldId id="2147471196"/>
            <p14:sldId id="2147471197"/>
            <p14:sldId id="2147471198"/>
            <p14:sldId id="2147471199"/>
            <p14:sldId id="2147471200"/>
            <p14:sldId id="2147471201"/>
            <p14:sldId id="2147471202"/>
            <p14:sldId id="2147471203"/>
            <p14:sldId id="2147471204"/>
          </p14:sldIdLst>
        </p14:section>
        <p14:section name="Colors and elements" id="{A6B535EC-6CB9-4F20-8594-720539AA739F}">
          <p14:sldIdLst/>
        </p14:section>
        <p14:section name="Slide layouts" id="{699CA706-F436-4E04-A20E-338A3548C6F9}">
          <p14:sldIdLst/>
        </p14:section>
        <p14:section name="Content slides" id="{A9645E32-EBB3-4131-83E7-D15923D985C9}">
          <p14:sldIdLst/>
        </p14:section>
        <p14:section name="Tables" id="{E3B5A021-5C8E-4E47-9486-85AFD886FAD7}">
          <p14:sldIdLst/>
        </p14:section>
        <p14:section name="Charts" id="{0E48DF6D-3732-4AB9-AADF-E400D364FD16}">
          <p14:sldIdLst/>
        </p14:section>
        <p14:section name="Diagrams and Maps" id="{3AD1E4C1-CAC2-48C2-AA10-1DD463DF45B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1F2"/>
    <a:srgbClr val="9AA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2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040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20" Type="http://schemas.openxmlformats.org/officeDocument/2006/relationships/slide" Target="slides/slide18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850" b="1">
                <a:solidFill>
                  <a:srgbClr val="080808"/>
                </a:solidFill>
                <a:latin typeface="Calibri"/>
              </a:rPr>
              <a:t>Largest Positions by Fair Value ($M; Top 10 = 55.0% of FV)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Fair Value ($M)</c:v>
                </c:pt>
              </c:strCache>
            </c:strRef>
          </c:tx>
          <c:spPr>
            <a:solidFill>
              <a:srgbClr val="0F2F51"/>
            </a:solidFill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UBSCM 2017-C2</c:v>
                </c:pt>
                <c:pt idx="1">
                  <c:v>CGCMT 2017-C4</c:v>
                </c:pt>
                <c:pt idx="2">
                  <c:v>WFCM 2018-C47</c:v>
                </c:pt>
                <c:pt idx="3">
                  <c:v>BBCMS 2019-C3</c:v>
                </c:pt>
                <c:pt idx="4">
                  <c:v>GSMS 2019-GC38</c:v>
                </c:pt>
                <c:pt idx="5">
                  <c:v>UBSCM 2018-C8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71.599999999999994</c:v>
                </c:pt>
                <c:pt idx="1">
                  <c:v>68.400000000000006</c:v>
                </c:pt>
                <c:pt idx="2">
                  <c:v>52.3</c:v>
                </c:pt>
                <c:pt idx="3">
                  <c:v>50.3</c:v>
                </c:pt>
                <c:pt idx="4">
                  <c:v>48.9</c:v>
                </c:pt>
                <c:pt idx="5">
                  <c:v>46.2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296-49EB-AC9D-A872993B71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9AA0A8"/>
            </a:solidFill>
          </a:ln>
        </c:spPr>
        <c:txPr>
          <a:bodyPr/>
          <a:lstStyle/>
          <a:p>
            <a:pPr>
              <a:defRPr sz="75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8BE59-4BA8-4F86-A851-CCA4B563B4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A84F-A257-4E7F-BDF5-9E889CA72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5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svg"/><Relationship Id="rId7" Type="http://schemas.openxmlformats.org/officeDocument/2006/relationships/image" Target="../media/image6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7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9.bin"/><Relationship Id="rId6" Type="http://schemas.openxmlformats.org/officeDocument/2006/relationships/image" Target="../media/image7.emf"/><Relationship Id="rId7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10.emf"/><Relationship Id="rId7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svg"/><Relationship Id="rId7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7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7.emf"/><Relationship Id="rId6" Type="http://schemas.openxmlformats.org/officeDocument/2006/relationships/image" Target="../media/image9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10.emf"/><Relationship Id="rId7" Type="http://schemas.openxmlformats.org/officeDocument/2006/relationships/image" Target="../media/image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0F2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34968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rgbClr val="FFFFFE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rgbClr val="FFFFFE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B29CDCCC-343F-4136-9772-1137E00EDF1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4B7190ED-1C73-42D3-B22E-9AD6B740DD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6165" y="581233"/>
            <a:ext cx="2719417" cy="7596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C262728-5A3E-4027-AA1F-EC54D61F9E97}"/>
              </a:ext>
            </a:extLst>
          </p:cNvPr>
          <p:cNvSpPr/>
          <p:nvPr/>
        </p:nvSpPr>
        <p:spPr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6057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B64578E8-CFB5-103E-1461-508BA068CE2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sq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cap="sq" cmpd="sng" algn="ctr">
                <a:solidFill>
                  <a:srgbClr val="C33154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2197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8E61697F-7CC1-4F8C-879A-B738D1CB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128322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Title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13981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75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" y="58134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ctr" anchorCtr="0">
            <a:noAutofit/>
          </a:bodyPr>
          <a:lstStyle>
            <a:lvl1pPr>
              <a:lnSpc>
                <a:spcPct val="90000"/>
              </a:lnSpc>
              <a:defRPr sz="1750"/>
            </a:lvl1pPr>
          </a:lstStyle>
          <a:p>
            <a:pPr marL="0" lvl="0"/>
            <a:r>
              <a:rPr lang="en-US" noProof="0" dirty="0"/>
              <a:t>SLIDE TITLE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F71F00A5-3E59-4A3A-9881-5898E75B0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418483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8A4D0824-5921-7D14-A586-97AE4053A0D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sq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cap="sq" cmpd="sng" algn="ctr">
                <a:solidFill>
                  <a:srgbClr val="C33154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27D79AA3-3B0C-4A07-9648-1AB9DB56D0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4792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27D79AA3-3B0C-4A07-9648-1AB9DB56D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4F5919A-F141-44F8-A255-B20CFCCB05F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3D18900-A64B-4092-AD63-6E442E6AB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0BA4139-C552-4581-BC79-BE8ECF9A6F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20" y="1048286"/>
            <a:ext cx="8823960" cy="1574790"/>
          </a:xfrm>
          <a:prstGeom prst="rect">
            <a:avLst/>
          </a:prstGeom>
        </p:spPr>
        <p:txBody>
          <a:bodyPr>
            <a:spAutoFit/>
          </a:bodyPr>
          <a:lstStyle>
            <a:lvl1pPr marL="152400" indent="-15240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SzPct val="90000"/>
              <a:buFont typeface="Calibri" panose="020F050202020403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1pPr>
            <a:lvl2pPr marL="3810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2pPr>
            <a:lvl3pPr marL="5715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3pPr>
            <a:lvl4pPr marL="808038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4pPr>
            <a:lvl5pPr marL="1012825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Primary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33B111F-F2B3-4B09-A620-646ADA82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495BA40B-7C37-42F1-B7C1-7B99D09A7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57106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0928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n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012375"/>
            <a:ext cx="9144000" cy="387798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(1 Line)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93F0BEE6-6287-497F-8F23-56B983264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14174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7498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(2 Lines)</a:t>
            </a: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51A21E2-CBFB-478C-97E6-1DF85619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417337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7496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2B61BF-428D-4935-80AF-D4AF69F54312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9A2AFC-BF60-4FC5-892A-34473E7FD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E991F92D-64B8-402A-AAF3-8FC50FF9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6127545-1C92-4332-96DD-DA86E8F50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(3 lines)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2E88C089-8DAD-48CA-8000-879AB7290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64629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DE8729A7-375D-D5B0-DED3-5AE2A5C4DA5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sq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cap="sq" cmpd="sng" algn="ctr">
                <a:solidFill>
                  <a:srgbClr val="C33154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6C1E106-B173-4C77-84E9-0384A2B8C8C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96371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6C1E106-B173-4C77-84E9-0384A2B8C8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BAE97C9-37B0-466E-97BF-1B5E905EFCF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873379" y="3602915"/>
            <a:ext cx="5106259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 bwMode="black">
          <a:xfrm>
            <a:off x="3873381" y="2848821"/>
            <a:ext cx="5106258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Section Header</a:t>
            </a:r>
          </a:p>
        </p:txBody>
      </p:sp>
      <p:cxnSp>
        <p:nvCxnSpPr>
          <p:cNvPr id="10" name="Separator Line"/>
          <p:cNvCxnSpPr/>
          <p:nvPr/>
        </p:nvCxnSpPr>
        <p:spPr>
          <a:xfrm>
            <a:off x="-627882" y="4920282"/>
            <a:ext cx="7315200" cy="0"/>
          </a:xfrm>
          <a:prstGeom prst="line">
            <a:avLst/>
          </a:prstGeom>
          <a:solidFill>
            <a:srgbClr val="093A5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9A2843-21AE-42D6-8784-C5A9BFF48788}"/>
              </a:ext>
            </a:extLst>
          </p:cNvPr>
          <p:cNvCxnSpPr>
            <a:cxnSpLocks/>
          </p:cNvCxnSpPr>
          <p:nvPr/>
        </p:nvCxnSpPr>
        <p:spPr>
          <a:xfrm flipH="1">
            <a:off x="3873381" y="3557500"/>
            <a:ext cx="5106258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0B59AB-BD73-4A7B-91F0-A59C1AE5F65B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4B358AB-17AD-4FA9-8A44-BD44ACC08C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5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B23FA3-3B9F-4453-9487-4B573E32590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B07B5FF-747D-4FD2-9258-7FAF13AFF8BD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735A86-BA87-4032-932A-92D1E3056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0890C6F-06EA-454E-98CD-D3A69BFC0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DA768706-9A6D-4AF2-8D4C-5C1C376B5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148462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43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xth Street IR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0597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90138-6D0A-45FE-9B62-D5B9205EE5EE}"/>
              </a:ext>
            </a:extLst>
          </p:cNvPr>
          <p:cNvSpPr/>
          <p:nvPr/>
        </p:nvSpPr>
        <p:spPr bwMode="gray"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30DCAC-21AF-42C4-9A28-514556CFD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990083" y="581233"/>
            <a:ext cx="2715499" cy="7589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BE781A6-05F4-4478-97BF-E0CF236080E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50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2B1BF-28F6-4844-8E5E-01EB638FE72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026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0F2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3506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rgbClr val="FFFFFE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rgbClr val="FFFFFE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B29CDCCC-343F-4136-9772-1137E00EDF1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4B7190ED-1C73-42D3-B22E-9AD6B740DD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6165" y="581233"/>
            <a:ext cx="2719417" cy="7596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C262728-5A3E-4027-AA1F-EC54D61F9E97}"/>
              </a:ext>
            </a:extLst>
          </p:cNvPr>
          <p:cNvSpPr/>
          <p:nvPr/>
        </p:nvSpPr>
        <p:spPr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73401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2656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8E61697F-7CC1-4F8C-879A-B738D1CB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4155565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Title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5358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75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" y="58134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ctr" anchorCtr="0">
            <a:noAutofit/>
          </a:bodyPr>
          <a:lstStyle>
            <a:lvl1pPr>
              <a:lnSpc>
                <a:spcPct val="90000"/>
              </a:lnSpc>
              <a:defRPr sz="1750"/>
            </a:lvl1pPr>
          </a:lstStyle>
          <a:p>
            <a:pPr marL="0" lvl="0"/>
            <a:r>
              <a:rPr lang="en-US" noProof="0" dirty="0"/>
              <a:t>SLIDE TITLE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F71F00A5-3E59-4A3A-9881-5898E75B0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525189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27D79AA3-3B0C-4A07-9648-1AB9DB56D0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1053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27D79AA3-3B0C-4A07-9648-1AB9DB56D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4F5919A-F141-44F8-A255-B20CFCCB05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3D18900-A64B-4092-AD63-6E442E6AB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0BA4139-C552-4581-BC79-BE8ECF9A6F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20" y="1048286"/>
            <a:ext cx="8823960" cy="1574790"/>
          </a:xfrm>
          <a:prstGeom prst="rect">
            <a:avLst/>
          </a:prstGeom>
        </p:spPr>
        <p:txBody>
          <a:bodyPr>
            <a:spAutoFit/>
          </a:bodyPr>
          <a:lstStyle>
            <a:lvl1pPr marL="152400" indent="-15240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SzPct val="90000"/>
              <a:buFont typeface="Calibri" panose="020F050202020403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1pPr>
            <a:lvl2pPr marL="3810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2pPr>
            <a:lvl3pPr marL="5715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3pPr>
            <a:lvl4pPr marL="808038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4pPr>
            <a:lvl5pPr marL="1012825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Primary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33B111F-F2B3-4B09-A620-646ADA82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495BA40B-7C37-42F1-B7C1-7B99D09A7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68353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386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n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012375"/>
            <a:ext cx="9144000" cy="387798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(1 Line)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93F0BEE6-6287-497F-8F23-56B983264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3339065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8657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(2 Lines)</a:t>
            </a: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51A21E2-CBFB-478C-97E6-1DF85619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1408405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5171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2B61BF-428D-4935-80AF-D4AF69F54312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9A2AFC-BF60-4FC5-892A-34473E7FD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E991F92D-64B8-402A-AAF3-8FC50FF9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6127545-1C92-4332-96DD-DA86E8F50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(3 lines)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2E88C089-8DAD-48CA-8000-879AB7290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537143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6C1E106-B173-4C77-84E9-0384A2B8C8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3379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6C1E106-B173-4C77-84E9-0384A2B8C8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BAE97C9-37B0-466E-97BF-1B5E905EFC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873379" y="3602915"/>
            <a:ext cx="5106259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 bwMode="black">
          <a:xfrm>
            <a:off x="3873381" y="2848821"/>
            <a:ext cx="5106258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Section Header</a:t>
            </a:r>
          </a:p>
        </p:txBody>
      </p:sp>
      <p:cxnSp>
        <p:nvCxnSpPr>
          <p:cNvPr id="10" name="Separator Line"/>
          <p:cNvCxnSpPr/>
          <p:nvPr/>
        </p:nvCxnSpPr>
        <p:spPr>
          <a:xfrm>
            <a:off x="-627882" y="4920282"/>
            <a:ext cx="7315200" cy="0"/>
          </a:xfrm>
          <a:prstGeom prst="line">
            <a:avLst/>
          </a:prstGeom>
          <a:solidFill>
            <a:srgbClr val="093A5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9A2843-21AE-42D6-8784-C5A9BFF48788}"/>
              </a:ext>
            </a:extLst>
          </p:cNvPr>
          <p:cNvCxnSpPr>
            <a:cxnSpLocks/>
          </p:cNvCxnSpPr>
          <p:nvPr/>
        </p:nvCxnSpPr>
        <p:spPr>
          <a:xfrm flipH="1">
            <a:off x="3873381" y="3557500"/>
            <a:ext cx="5106258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0B59AB-BD73-4A7B-91F0-A59C1AE5F65B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4B358AB-17AD-4FA9-8A44-BD44ACC08C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09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B23FA3-3B9F-4453-9487-4B573E32590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B07B5FF-747D-4FD2-9258-7FAF13AFF8BD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735A86-BA87-4032-932A-92D1E3056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0890C6F-06EA-454E-98CD-D3A69BFC0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DA768706-9A6D-4AF2-8D4C-5C1C376B5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3136600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2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xth Street IR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527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90138-6D0A-45FE-9B62-D5B9205EE5EE}"/>
              </a:ext>
            </a:extLst>
          </p:cNvPr>
          <p:cNvSpPr/>
          <p:nvPr/>
        </p:nvSpPr>
        <p:spPr bwMode="gray"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30DCAC-21AF-42C4-9A28-514556CFD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990083" y="581233"/>
            <a:ext cx="2715499" cy="7589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BE781A6-05F4-4478-97BF-E0CF236080E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72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2B1BF-28F6-4844-8E5E-01EB638FE72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39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1.xml"/><Relationship Id="rId15" Type="http://schemas.openxmlformats.org/officeDocument/2006/relationships/tags" Target="../tags/tag2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2.emf"/><Relationship Id="rId18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tags" Target="../tags/tag24.xml"/><Relationship Id="rId15" Type="http://schemas.openxmlformats.org/officeDocument/2006/relationships/tags" Target="../tags/tag25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2.emf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7B823948-C8BC-4DDC-BFA1-F25EE97AD3B3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83187985"/>
              </p:ext>
            </p:extLst>
          </p:nvPr>
        </p:nvGraphicFramePr>
        <p:xfrm>
          <a:off x="1589" y="164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7B823948-C8BC-4DDC-BFA1-F25EE97AD3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9" y="164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17F23A7-24A7-497E-BB1F-85A26570FD8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C370E3-CF6A-4D97-8AD5-089BA3E27527}"/>
              </a:ext>
            </a:extLst>
          </p:cNvPr>
          <p:cNvCxnSpPr/>
          <p:nvPr/>
        </p:nvCxnSpPr>
        <p:spPr>
          <a:xfrm>
            <a:off x="160020" y="562214"/>
            <a:ext cx="882396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A985053-DDB2-42CC-9576-256F9E1F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 dirty="0"/>
              <a:t>SLIDE 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527956-E83A-47E0-A8F0-987241010AAF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9">
            <a:extLst>
              <a:ext uri="{FF2B5EF4-FFF2-40B4-BE49-F238E27FC236}">
                <a16:creationId xmlns:a16="http://schemas.microsoft.com/office/drawing/2014/main" id="{220D5230-216B-47C2-AEBB-D8CFF7840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BEEB6E2A-1563-43CE-9948-D57D6580B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483F20-0475-4D46-92FD-A1A83EB07A63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E453D8-EF2C-4F34-B85D-62E9446D1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2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19" r:id="rId2"/>
    <p:sldLayoutId id="2147484228" r:id="rId3"/>
    <p:sldLayoutId id="2147484220" r:id="rId4"/>
    <p:sldLayoutId id="2147484227" r:id="rId5"/>
    <p:sldLayoutId id="2147484229" r:id="rId6"/>
    <p:sldLayoutId id="2147484222" r:id="rId7"/>
    <p:sldLayoutId id="2147484224" r:id="rId8"/>
    <p:sldLayoutId id="2147484223" r:id="rId9"/>
    <p:sldLayoutId id="2147484225" r:id="rId10"/>
    <p:sldLayoutId id="2147484231" r:id="rId11"/>
    <p:sldLayoutId id="2147484226" r:id="rId12"/>
  </p:sldLayoutIdLst>
  <p:hf hdr="0" ftr="0" dt="0"/>
  <p:txStyles>
    <p:titleStyle>
      <a:lvl1pPr algn="l" defTabSz="914290" rtl="0" eaLnBrk="1" latinLnBrk="0" hangingPunct="1">
        <a:spcBef>
          <a:spcPct val="0"/>
        </a:spcBef>
        <a:buNone/>
        <a:tabLst>
          <a:tab pos="457200" algn="l"/>
        </a:tabLst>
        <a:defRPr lang="en-US" sz="2200" kern="0" cap="all" spc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SzPct val="100000"/>
        <a:buFont typeface="Wingdings" panose="05000000000000000000" pitchFamily="2" charset="2"/>
        <a:buChar char="§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1pPr>
      <a:lvl2pPr marL="4000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2pPr>
      <a:lvl3pPr marL="5715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3pPr>
      <a:lvl4pPr marL="7429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4pPr>
      <a:lvl5pPr marL="9144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7B823948-C8BC-4DDC-BFA1-F25EE97AD3B3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128194157"/>
              </p:ext>
            </p:extLst>
          </p:nvPr>
        </p:nvGraphicFramePr>
        <p:xfrm>
          <a:off x="1589" y="164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7B823948-C8BC-4DDC-BFA1-F25EE97AD3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9" y="164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17F23A7-24A7-497E-BB1F-85A26570FD8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C370E3-CF6A-4D97-8AD5-089BA3E27527}"/>
              </a:ext>
            </a:extLst>
          </p:cNvPr>
          <p:cNvCxnSpPr/>
          <p:nvPr/>
        </p:nvCxnSpPr>
        <p:spPr>
          <a:xfrm>
            <a:off x="160020" y="562214"/>
            <a:ext cx="882396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A985053-DDB2-42CC-9576-256F9E1F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 dirty="0"/>
              <a:t>SLIDE 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527956-E83A-47E0-A8F0-987241010AAF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9">
            <a:extLst>
              <a:ext uri="{FF2B5EF4-FFF2-40B4-BE49-F238E27FC236}">
                <a16:creationId xmlns:a16="http://schemas.microsoft.com/office/drawing/2014/main" id="{220D5230-216B-47C2-AEBB-D8CFF7840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BEEB6E2A-1563-43CE-9948-D57D6580B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483F20-0475-4D46-92FD-A1A83EB07A63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E453D8-EF2C-4F34-B85D-62E9446D1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6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</p:sldLayoutIdLst>
  <p:hf hdr="0" ftr="0" dt="0"/>
  <p:txStyles>
    <p:titleStyle>
      <a:lvl1pPr algn="l" defTabSz="914290" rtl="0" eaLnBrk="1" latinLnBrk="0" hangingPunct="1">
        <a:spcBef>
          <a:spcPct val="0"/>
        </a:spcBef>
        <a:buNone/>
        <a:tabLst>
          <a:tab pos="457200" algn="l"/>
        </a:tabLst>
        <a:defRPr lang="en-US" sz="2200" kern="0" cap="all" spc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SzPct val="100000"/>
        <a:buFont typeface="Wingdings" panose="05000000000000000000" pitchFamily="2" charset="2"/>
        <a:buChar char="§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1pPr>
      <a:lvl2pPr marL="4000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2pPr>
      <a:lvl3pPr marL="5715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3pPr>
      <a:lvl4pPr marL="7429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4pPr>
      <a:lvl5pPr marL="9144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Layout" Target="../slideLayouts/slideLayout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7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Layout" Target="../slideLayouts/slideLayout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7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8BA8A-ECA8-4945-AF6B-B22AD83CC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10" y="5040650"/>
            <a:ext cx="5075372" cy="553998"/>
          </a:xfrm>
        </p:spPr>
        <p:txBody>
          <a:bodyPr/>
          <a:lstStyle/>
          <a:p>
            <a:r>
              <a:rPr lang="en-US" sz="2400" dirty="0"/>
              <a:t>Freddie K B-Piece Portfolio</a:t>
            </a: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655A6BD0-0FB1-8489-CB71-811CC99E5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1979" y="5531845"/>
            <a:ext cx="5073603" cy="1328569"/>
          </a:xfrm>
        </p:spPr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October 2026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Investment Size: $100M+ (target)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Asset Class: Freddie Mac K Series B-Pieces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Partner: Forum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Seller: Kayne Anderson (legacy funds)</a:t>
            </a:r>
          </a:p>
        </p:txBody>
      </p:sp>
    </p:spTree>
    <p:extLst>
      <p:ext uri="{BB962C8B-B14F-4D97-AF65-F5344CB8AC3E}">
        <p14:creationId xmlns:p14="http://schemas.microsoft.com/office/powerpoint/2010/main" val="114146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E4FF-2710-4173-1E9A-F083BAEE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2ACC2D8-CA5C-70A6-23A3-1EF5881997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2ACC2D8-CA5C-70A6-23A3-1EF588199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1D4510E-4426-5164-E0F8-F72A7ACA96E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kern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50289E-2640-E738-3888-8F5C12B2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D5706FC-B3C8-207D-C2FE-79D6F85E4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</p:spPr>
        <p:txBody>
          <a:bodyPr/>
          <a:lstStyle/>
          <a:p>
            <a:fld id="{C094185C-1F9E-4EDB-A688-258533A03247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3775AC-DCDA-2DA5-711C-C9E2A719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54654"/>
              </p:ext>
            </p:extLst>
          </p:nvPr>
        </p:nvGraphicFramePr>
        <p:xfrm>
          <a:off x="160021" y="602233"/>
          <a:ext cx="8823959" cy="1742174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890452">
                  <a:extLst>
                    <a:ext uri="{9D8B030D-6E8A-4147-A177-3AD203B41FA5}">
                      <a16:colId xmlns:a16="http://schemas.microsoft.com/office/drawing/2014/main" val="1479029980"/>
                    </a:ext>
                  </a:extLst>
                </a:gridCol>
                <a:gridCol w="2501852">
                  <a:extLst>
                    <a:ext uri="{9D8B030D-6E8A-4147-A177-3AD203B41FA5}">
                      <a16:colId xmlns:a16="http://schemas.microsoft.com/office/drawing/2014/main" val="3650010185"/>
                    </a:ext>
                  </a:extLst>
                </a:gridCol>
                <a:gridCol w="1345753">
                  <a:extLst>
                    <a:ext uri="{9D8B030D-6E8A-4147-A177-3AD203B41FA5}">
                      <a16:colId xmlns:a16="http://schemas.microsoft.com/office/drawing/2014/main" val="584053601"/>
                    </a:ext>
                  </a:extLst>
                </a:gridCol>
                <a:gridCol w="3085902">
                  <a:extLst>
                    <a:ext uri="{9D8B030D-6E8A-4147-A177-3AD203B41FA5}">
                      <a16:colId xmlns:a16="http://schemas.microsoft.com/office/drawing/2014/main" val="3210309449"/>
                    </a:ext>
                  </a:extLst>
                </a:gridCol>
              </a:tblGrid>
              <a:tr h="2488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Deal Summary</a:t>
                      </a:r>
                    </a:p>
                  </a:txBody>
                  <a:tcPr>
                    <a:solidFill>
                      <a:srgbClr val="0F2F5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8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29822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/>
                        <a:t>Asset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Freddie K B-Piece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SSP Vehicle: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GIC (TBD)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101181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/>
                        <a:t>Asset Class: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Multifamily Freddie K B-Pieces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Partner: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007271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/>
                        <a:t># of B-Pieces: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 of 27 (carved pool)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SSP Investment: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ct val="900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$100M+ (target)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539369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Carved Pool Balance: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$606M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Seller: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ct val="900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80808"/>
                          </a:solidFill>
                        </a:rPr>
                        <a:t>Kayne Anderson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16621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Wtd. Avg. Coupon / Tranche: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91429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ct val="90000"/>
                        <a:buFont typeface="Calibri" panose="020F0502020204030204" pitchFamily="34" charset="0"/>
                        <a:buNone/>
                      </a:pPr>
                      <a:r>
                        <a:rPr lang="en-US" sz="1000" b="0" kern="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8.73% / 9.2% (Forum pool)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Returns: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ct val="900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lang="en-US" sz="1000" b="0" kern="0" spc="0" baseline="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10.0% IRR (base case, gross)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310296"/>
                  </a:ext>
                </a:extLst>
              </a:tr>
              <a:tr h="24888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Forum Bid: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96.34 px / 9.9% loss adjusted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Forum First Loss: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91429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ct val="90000"/>
                        <a:buFont typeface="Calibri" panose="020F0502020204030204" pitchFamily="34" charset="0"/>
                        <a:buNone/>
                      </a:pPr>
                      <a:r>
                        <a:rPr lang="en-US" sz="1000" b="0" kern="0" spc="0" baseline="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[100] bps (proposed)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95890"/>
                  </a:ext>
                </a:extLst>
              </a:tr>
            </a:tbl>
          </a:graphicData>
        </a:graphic>
      </p:graphicFrame>
      <p:graphicFrame>
        <p:nvGraphicFramePr>
          <p:cNvPr id="7" name="Table 180">
            <a:extLst>
              <a:ext uri="{FF2B5EF4-FFF2-40B4-BE49-F238E27FC236}">
                <a16:creationId xmlns:a16="http://schemas.microsoft.com/office/drawing/2014/main" id="{F5141E14-D12C-980D-6555-CB4A912E0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349000"/>
              </p:ext>
            </p:extLst>
          </p:nvPr>
        </p:nvGraphicFramePr>
        <p:xfrm>
          <a:off x="160020" y="2388289"/>
          <a:ext cx="882396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18">
                  <a:extLst>
                    <a:ext uri="{9D8B030D-6E8A-4147-A177-3AD203B41FA5}">
                      <a16:colId xmlns:a16="http://schemas.microsoft.com/office/drawing/2014/main" val="44862911"/>
                    </a:ext>
                  </a:extLst>
                </a:gridCol>
                <a:gridCol w="7874642">
                  <a:extLst>
                    <a:ext uri="{9D8B030D-6E8A-4147-A177-3AD203B41FA5}">
                      <a16:colId xmlns:a16="http://schemas.microsoft.com/office/drawing/2014/main" val="2302682346"/>
                    </a:ext>
                  </a:extLst>
                </a:gridCol>
              </a:tblGrid>
              <a:tr h="3000000">
                <a:tc>
                  <a:txBody>
                    <a:bodyPr/>
                    <a:lstStyle/>
                    <a:p>
                      <a:pPr marL="0" marR="0" lvl="0" indent="0" algn="l" defTabSz="91429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cap="all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</a:rPr>
                        <a:t>Situation overview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Kayne Anderson (“KA”) is looking to exit a portfolio of 43 Freddie K B-Pieces totaling $1.4B held in legacy funds being wound down. Forum was offered the entire portfolio, narrowed it to 27 B-Pieces totaling $889M (signed LOI, in diligence), and is seeking partners given check size.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The Forum pool comprises 1 fixed rate deal (11% of balance), 20 floaters (67%) and 6 junior liens (22%), issued between 2017 and 2025 (65% from 2017 to 2022 and 35% from 2023 to 2025). Floaters and junior liens pay down pro rata, and the K Series has realized ~5 bps of CNL since inception.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 have identified 13 loans with $48.6M of expected losses across 7 deals, plus 31 loans totaling $908M of UPB across 11 deals at an 89.5% wtd. avg. LTV. We believe an 85% to 90%+ LTV tail means a 10% move in values crushes returns, and we do not want to underwrite sponsors defending assets to stay in good standing with the agencies.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 believe the better execution is a carved pool of 19 underlying deals totaling $606M with limited tails, which we underwrite to a 10.0% gross IRR base case, 10.5% assuming no losses and 9.3% assuming values decline 20% (3% loss).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 would also ask Forum to subordinate and take the first [100] bps of loss, which Forum appeared amenable to if the level is reasonable. Forum expects to contribute $50M to $100M of its own equity and would manage the JV day to day, including workouts, subject to our consent rights.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The next step is a non-binding indication to Forum of the deals we would carve out and the size we could speak for (ideally $100M+). Fees to Forum remain to be negotiated.</a:t>
                      </a:r>
                    </a:p>
                  </a:txBody>
                  <a:tcPr marL="36000" marR="36000" marT="91440" marB="9144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79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12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46EA6-4D4A-D749-92F0-9E2B7042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E2B5443-8077-7BE7-1D10-9376716B66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E2B5443-8077-7BE7-1D10-9376716B6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E7E67AF-AF1E-D867-808E-B0D4713DA0B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kern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1BABC6-3173-29FD-D480-98BF6BB8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Highlights &amp; Concerns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A493C2C-2B9D-D81B-814D-0AC6FB233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</p:spPr>
        <p:txBody>
          <a:bodyPr/>
          <a:lstStyle/>
          <a:p>
            <a:fld id="{C094185C-1F9E-4EDB-A688-258533A03247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Table 180">
            <a:extLst>
              <a:ext uri="{FF2B5EF4-FFF2-40B4-BE49-F238E27FC236}">
                <a16:creationId xmlns:a16="http://schemas.microsoft.com/office/drawing/2014/main" id="{E5B2AE76-BA20-52BD-39A6-D60213F25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69180"/>
              </p:ext>
            </p:extLst>
          </p:nvPr>
        </p:nvGraphicFramePr>
        <p:xfrm>
          <a:off x="160020" y="594360"/>
          <a:ext cx="8823960" cy="5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18">
                  <a:extLst>
                    <a:ext uri="{9D8B030D-6E8A-4147-A177-3AD203B41FA5}">
                      <a16:colId xmlns:a16="http://schemas.microsoft.com/office/drawing/2014/main" val="44862911"/>
                    </a:ext>
                  </a:extLst>
                </a:gridCol>
                <a:gridCol w="7874642">
                  <a:extLst>
                    <a:ext uri="{9D8B030D-6E8A-4147-A177-3AD203B41FA5}">
                      <a16:colId xmlns:a16="http://schemas.microsoft.com/office/drawing/2014/main" val="2302682346"/>
                    </a:ext>
                  </a:extLst>
                </a:gridCol>
              </a:tblGrid>
              <a:tr h="2650000">
                <a:tc>
                  <a:txBody>
                    <a:bodyPr/>
                    <a:lstStyle/>
                    <a:p>
                      <a:pPr marL="0" marR="0" lvl="0" indent="0" algn="l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What Really Matters?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Clean Pool Carve Out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believe a carved pool of 19 underlying deals totaling $606M with limited tails offers a more stable return profile than Forum’s 27 deal, $889M portfolio.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Return Band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view the 10.0% gross IRR base case, 10.5% IRR assuming no losses and 9.3% IRR assuming values decline 20% (3% loss) as a much better band of outcomes than the full pool.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Forum Alignment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think Forum taking the first [100] bps of loss would reduce volatility given they are closer to the underlying assets. Forum expects to contribute $50M to $100M of its own equity and appeared amenable if the level is reasonable.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 Rata Paydown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Floaters and junior liens pay down pro rata so we are repaid as assets pay off, and the K Series has realized only ~5 bps of CNL since inception.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Relative Value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view the carved pool as attractive against originating or buying multifamily loans at a +250 bps spread (assuming 75% advance back leverage at +140 bps) given scale, diversification, liquidity and upside from deals priced at mid 80s to low 90s px alongside 10%+ coupons.</a:t>
                      </a:r>
                    </a:p>
                  </a:txBody>
                  <a:tcPr marL="36000" marR="36000" marT="91440" marB="9144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79713"/>
                  </a:ext>
                </a:extLst>
              </a:tr>
              <a:tr h="3250000">
                <a:tc>
                  <a:txBody>
                    <a:bodyPr/>
                    <a:lstStyle/>
                    <a:p>
                      <a:pPr marL="0" marR="0" lvl="0" indent="0" algn="l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Key Concerns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 Leverage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In the Forum pool, 31 loans totaling $908M of UPB across 11 deals carry an 89.5% wtd. avg. LTV, so we believe a 10% move in values crushes returns.</a:t>
                      </a:r>
                    </a:p>
                    <a:p>
                      <a:pPr marL="301625" marR="0" lvl="0" indent="-17145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–"/>
                        <a:tabLst/>
                        <a:defRPr/>
                      </a:pP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Mitigant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believe the carved pool of 19 deals avoids these tails, and a 20% decline in values results in only a 3% loss and a 9.3% IRR.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Underwritten Losses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expect 13 loans to take $48.6M of losses across 7 underlying deals in the Forum pool.</a:t>
                      </a:r>
                    </a:p>
                    <a:p>
                      <a:pPr marL="301625" marR="0" lvl="0" indent="-17145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–"/>
                        <a:tabLst/>
                        <a:defRPr/>
                      </a:pP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Mitigant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We would exclude the impaired deals from the carved pool and seek Forum first loss protection of [100] bps.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Sponsor Dependence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The full pool relies on sponsors defending assets to avoid being blacklisted from the agencies, which we view as a real incentive but not the bet we want to make.</a:t>
                      </a:r>
                    </a:p>
                    <a:p>
                      <a:pPr marL="301625" marR="0" lvl="0" indent="-17145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–"/>
                        <a:tabLst/>
                        <a:defRPr/>
                      </a:pP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Mitigant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The carved pool is underwritten on asset values, with limited reliance on sponsor behavior.</a:t>
                      </a:r>
                    </a:p>
                    <a:p>
                      <a:pPr marL="152400" marR="0" lvl="0" indent="-15240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Forum Control &amp; Economics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Forum would manage the JV day to day, including workouts, while we hold decision making and consent rights, and fees to Forum are not yet agreed.</a:t>
                      </a:r>
                    </a:p>
                    <a:p>
                      <a:pPr marL="301625" marR="0" lvl="0" indent="-171450" algn="just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90000"/>
                        <a:buFont typeface="Calibri" panose="020F0502020204030204" pitchFamily="34" charset="0"/>
                        <a:buChar char="–"/>
                        <a:tabLst/>
                        <a:defRPr/>
                      </a:pP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Mitigant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Forum is closer to the assets and has spent more time on them, and we expect reasonable fees if an execution works with KA.</a:t>
                      </a:r>
                    </a:p>
                  </a:txBody>
                  <a:tcPr marL="36000" marR="36000" marT="91440" marB="9144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05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21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F57D-F3B7-B0DF-4F70-AE3BE74A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3B5740-8B6A-2697-24EF-C2C1FCF72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4CCD91-5FDC-AE6E-A62F-634F0789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Execution &amp; Next Steps</a:t>
            </a:r>
          </a:p>
        </p:txBody>
      </p:sp>
      <p:graphicFrame>
        <p:nvGraphicFramePr>
          <p:cNvPr id="4" name="Table 180">
            <a:extLst>
              <a:ext uri="{FF2B5EF4-FFF2-40B4-BE49-F238E27FC236}">
                <a16:creationId xmlns:a16="http://schemas.microsoft.com/office/drawing/2014/main" id="{1091B2E6-FFB1-60C0-997D-B606894F1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354269"/>
              </p:ext>
            </p:extLst>
          </p:nvPr>
        </p:nvGraphicFramePr>
        <p:xfrm>
          <a:off x="160020" y="1157571"/>
          <a:ext cx="8823960" cy="257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782">
                  <a:extLst>
                    <a:ext uri="{9D8B030D-6E8A-4147-A177-3AD203B41FA5}">
                      <a16:colId xmlns:a16="http://schemas.microsoft.com/office/drawing/2014/main" val="44862911"/>
                    </a:ext>
                  </a:extLst>
                </a:gridCol>
                <a:gridCol w="7186178">
                  <a:extLst>
                    <a:ext uri="{9D8B030D-6E8A-4147-A177-3AD203B41FA5}">
                      <a16:colId xmlns:a16="http://schemas.microsoft.com/office/drawing/2014/main" val="2302682346"/>
                    </a:ext>
                  </a:extLst>
                </a:gridCol>
              </a:tblGrid>
              <a:tr h="960000">
                <a:tc>
                  <a:txBody>
                    <a:bodyPr/>
                    <a:lstStyle/>
                    <a:p>
                      <a:pPr marL="0" marR="0" lvl="0" indent="0" algn="just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Carved Pool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19 underlying deals totaling $606M out of Forum’s 27 deal, $889M portfolio, with limited tails and a stable return profile.</a:t>
                      </a:r>
                    </a:p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Mix of deals with 10%+ coupons and others priced at mid 80s to low 90s px, which creates potential upside scenarios.</a:t>
                      </a:r>
                    </a:p>
                  </a:txBody>
                  <a:tcPr marL="36576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019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marL="0" marR="0" lvl="0" indent="0" algn="just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Forum Alignment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JV buys the B-Pieces and Forum manages day to day, including workouts, with SSP holding decision making and consent rights.</a:t>
                      </a:r>
                    </a:p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Forum expects to contribute $50M to $100M of its own equity and would take the first [100] bps of loss, even if SSP gives up some return.</a:t>
                      </a:r>
                    </a:p>
                  </a:txBody>
                  <a:tcPr marL="36576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01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marR="0" lvl="0" indent="0" algn="just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Size &amp; Vehicle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Ideally at least $100M of SSP exposure, which we think fits only GIC. To be discussed.</a:t>
                      </a:r>
                    </a:p>
                  </a:txBody>
                  <a:tcPr marL="36576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019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marL="0" marR="0" lvl="0" indent="0" algn="just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Re-REMIC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Explored a Re-REMIC similar to the AXMF deal and we think it would be tough to execute.</a:t>
                      </a:r>
                    </a:p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Less diversification would receive worse rating agency treatment and make an IG rating difficult, which hurts pricing given the pool does not fit for insurance.</a:t>
                      </a:r>
                    </a:p>
                  </a:txBody>
                  <a:tcPr marL="36576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019"/>
                  </a:ext>
                </a:extLst>
              </a:tr>
              <a:tr h="1290000">
                <a:tc>
                  <a:txBody>
                    <a:bodyPr/>
                    <a:lstStyle/>
                    <a:p>
                      <a:pPr marL="0" marR="0" lvl="0" indent="0" algn="just" defTabSz="91429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imSun" pitchFamily="2" charset="-122"/>
                          <a:cs typeface="+mn-cs"/>
                        </a:rPr>
                        <a:t>Next Steps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Align on approach internally and discuss open questions live.</a:t>
                      </a:r>
                    </a:p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Provide Forum a non-binding indication of the carved out deals and total size we could speak for.</a:t>
                      </a:r>
                    </a:p>
                    <a:p>
                      <a:pPr marL="171450" indent="-171450" algn="just" defTabSz="91429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accent2"/>
                        </a:buClr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kern="0" spc="0" baseline="0" dirty="0" u="none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Negotiate the first loss level and settle Forum fees.</a:t>
                      </a:r>
                    </a:p>
                  </a:txBody>
                  <a:tcPr marL="36576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019"/>
                  </a:ext>
                </a:extLst>
              </a:tr>
            </a:tbl>
          </a:graphicData>
        </a:graphic>
      </p:graphicFrame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BF9472D-DCE4-A9BC-0DCA-221EDEC9D0BA}"/>
              </a:ext>
            </a:extLst>
          </p:cNvPr>
          <p:cNvSpPr txBox="1">
            <a:spLocks/>
          </p:cNvSpPr>
          <p:nvPr/>
        </p:nvSpPr>
        <p:spPr>
          <a:xfrm>
            <a:off x="160020" y="594360"/>
            <a:ext cx="8823960" cy="476402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txBody>
          <a:bodyPr lIns="91440"/>
          <a:lstStyle>
            <a:defPPr>
              <a:defRPr lang="en-US"/>
            </a:defPPr>
            <a:lvl1pPr marL="171450" indent="-171450" algn="l" defTabSz="9142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808080"/>
              </a:buClr>
              <a:buSzPct val="100000"/>
              <a:buFont typeface="Wingdings" panose="05000000000000000000" pitchFamily="2" charset="2"/>
              <a:buChar char="§"/>
              <a:defRPr sz="1800" kern="0" spc="0" baseline="0">
                <a:solidFill>
                  <a:srgbClr val="C0C0C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00050" indent="-171450" algn="l" defTabSz="9142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808080"/>
              </a:buClr>
              <a:buFont typeface="Arial" pitchFamily="34" charset="0"/>
              <a:buChar char="–"/>
              <a:defRPr sz="1800" kern="0" spc="0" baseline="0">
                <a:solidFill>
                  <a:srgbClr val="C0C0C0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571500" indent="-171450" algn="l" defTabSz="9142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808080"/>
              </a:buClr>
              <a:buFont typeface="Arial" pitchFamily="34" charset="0"/>
              <a:buChar char="•"/>
              <a:defRPr sz="1800" kern="0" spc="0" baseline="0">
                <a:solidFill>
                  <a:srgbClr val="C0C0C0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742950" indent="-171450" algn="l" defTabSz="9142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808080"/>
              </a:buClr>
              <a:buFont typeface="Arial" pitchFamily="34" charset="0"/>
              <a:buChar char="–"/>
              <a:defRPr sz="1800" kern="0" spc="0" baseline="0">
                <a:solidFill>
                  <a:srgbClr val="C0C0C0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914400" indent="-171450" algn="l" defTabSz="9142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808080"/>
              </a:buClr>
              <a:buFont typeface="Arial" pitchFamily="34" charset="0"/>
              <a:buChar char="•"/>
              <a:defRPr sz="1800" kern="0" spc="0" baseline="0">
                <a:solidFill>
                  <a:srgbClr val="C0C0C0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298" indent="-228573" algn="l" defTabSz="9142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 b="0" u="none">
                <a:solidFill>
                  <a:srgbClr val="080808"/>
                </a:solidFill>
              </a:rPr>
              <a:t>We believe a smaller, cleaner pool with Forum subordination is the better risk adjusted execution than the full Forum pool.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 b="0" u="none">
                <a:solidFill>
                  <a:srgbClr val="080808"/>
                </a:solidFill>
              </a:rPr>
              <a:t>Economics to Forum and final sizing remain open and are expected to follow once an approach works with KA.</a:t>
            </a:r>
          </a:p>
        </p:txBody>
      </p:sp>
    </p:spTree>
    <p:extLst>
      <p:ext uri="{BB962C8B-B14F-4D97-AF65-F5344CB8AC3E}">
        <p14:creationId xmlns:p14="http://schemas.microsoft.com/office/powerpoint/2010/main" val="2425407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 &amp; Returns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2EBB4D68-53C9-4884-A143-07DE9A49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13000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 dirty="0" u="none">
                <a:solidFill>
                  <a:srgbClr val="080808"/>
                </a:solidFill>
                <a:latin typeface="Calibri"/>
              </a:rPr>
              <a:t>Forum’s 27 B-Pieces total $889M, comprised of 1 fixed rate deal (11% of balance), 20 floaters (67%) and 6 junior liens (22%), with tranche thickness of 7.5% to 30% (9.2% wtd. avg.) and coupons of 7.0% to 13.75% (8.73% wtd. avg.).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 dirty="0" u="none">
                <a:solidFill>
                  <a:srgbClr val="080808"/>
                </a:solidFill>
                <a:latin typeface="Calibri"/>
              </a:rPr>
              <a:t>Forum bid 96.34 px for a 9.9% loss adjusted yield in its base case, and the K Series has realized ~5 bps of CNL since inception.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 dirty="0" u="none">
                <a:solidFill>
                  <a:srgbClr val="080808"/>
                </a:solidFill>
                <a:latin typeface="Calibri"/>
              </a:rPr>
              <a:t>The tail includes 13 loans with $48.6M of expected losses across 7 deals and 31 loans ($908M of UPB) across 11 deals at an 89.5% wtd. avg. LTV.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 dirty="0" u="none">
                <a:solidFill>
                  <a:srgbClr val="080808"/>
                </a:solidFill>
                <a:latin typeface="Calibri"/>
              </a:rPr>
              <a:t>The carved pool of 19 underlying deals totaling $606M (68% of the Forum pool) earns a 10.0% gross IRR base case, only declining to 9.3% if values decrease 20% (3% loss).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60020" y="1990000"/>
          <a:ext cx="4297680" cy="14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/>
                <a:gridCol w="998000"/>
                <a:gridCol w="999680"/>
              </a:tblGrid>
              <a:tr h="240000">
                <a:tc gridSpan="3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Forum Pool Composition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($ in millions)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# of Deals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% of Balance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Fixed Rate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11.0%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Floaters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67.0%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Junior Liens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080808"/>
                          </a:solidFill>
                          <a:latin typeface="Calibri"/>
                        </a:rPr>
                        <a:t>Total Forum Pool ($889M)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080808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0020" y="3920000"/>
          <a:ext cx="4297680" cy="96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/>
                <a:gridCol w="998000"/>
                <a:gridCol w="999680"/>
              </a:tblGrid>
              <a:tr h="240000">
                <a:tc gridSpan="3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Tail Assets Identified (Forum Pool)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# of Loans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# of Deals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Loans with Expected Losses ($48.6M)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High Leverage Loans ($908M UPB, 89.5% LTV)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640580" y="1990000"/>
          <a:ext cx="4343680" cy="14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00000"/>
                <a:gridCol w="1321840"/>
                <a:gridCol w="1321840"/>
              </a:tblGrid>
              <a:tr h="240000">
                <a:tc gridSpan="3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Pool Comparison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Forum Pool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Carved Pool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Underlying Deals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B-Piece Balance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$889M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$606M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Tail Exposure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13 + 31 loans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Base Case Return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9.9% loss adj. yield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10.0% gross IRR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40580" y="3920000"/>
          <a:ext cx="4343680" cy="12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00000"/>
                <a:gridCol w="1321840"/>
                <a:gridCol w="1321840"/>
              </a:tblGrid>
              <a:tr h="240000">
                <a:tc gridSpan="3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Returns Sensitivity (Carved Pool)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Gross IRR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i="0" dirty="0">
                          <a:solidFill>
                            <a:srgbClr val="FEFEFE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No Losses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Base Case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36576" marR="36576" marT="9144" marB="9144" anchor="ctr">
                    <a:lnL w="12700">
                      <a:solidFill>
                        <a:srgbClr val="0E2E51"/>
                      </a:solidFill>
                      <a:prstDash val="dash"/>
                    </a:lnL>
                    <a:lnR w="12700">
                      <a:solidFill>
                        <a:srgbClr val="0E2E51"/>
                      </a:solidFill>
                      <a:prstDash val="dash"/>
                    </a:lnR>
                    <a:lnT w="12700">
                      <a:solidFill>
                        <a:srgbClr val="0E2E51"/>
                      </a:solidFill>
                      <a:prstDash val="dash"/>
                    </a:lnT>
                    <a:lnB w="12700">
                      <a:solidFill>
                        <a:srgbClr val="0E2E51"/>
                      </a:solidFill>
                      <a:prstDash val="dash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Asset Values Down 20%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 i="0" dirty="0">
                          <a:solidFill>
                            <a:srgbClr val="08080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60020" y="5950000"/>
            <a:ext cx="88239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9AA0A8"/>
                </a:solidFill>
                <a:latin typeface="Calibri"/>
              </a:rPr>
              <a:t>Note: Returns shown for the carved pool are gross. The [100] bps Forum first loss structure is under discussion and the base case pricing is subject to change. Tail statistics reflect SSP underwriting of the Forum pool.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jBn36IlmakLOydlmrMU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Pe389JG4wDjX42A4sX5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q5JShXR3_QAH6U7holg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jBn36IlmakLOydlmrMU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Pe389JG4wDjX42A4sX5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q5JShXR3_QAH6U7holg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r8Z.cDvxW6VE9mfwnA.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r8Z.cDvxW6VE9mfwnA.Q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xth Street_print">
  <a:themeElements>
    <a:clrScheme name="Sixth Street and TSLX_PRINT">
      <a:dk1>
        <a:srgbClr val="080808"/>
      </a:dk1>
      <a:lt1>
        <a:srgbClr val="FEFEFE"/>
      </a:lt1>
      <a:dk2>
        <a:srgbClr val="D9DDE1"/>
      </a:dk2>
      <a:lt2>
        <a:srgbClr val="ECEEF0"/>
      </a:lt2>
      <a:accent1>
        <a:srgbClr val="005587"/>
      </a:accent1>
      <a:accent2>
        <a:srgbClr val="9AA0A8"/>
      </a:accent2>
      <a:accent3>
        <a:srgbClr val="004E59"/>
      </a:accent3>
      <a:accent4>
        <a:srgbClr val="44797B"/>
      </a:accent4>
      <a:accent5>
        <a:srgbClr val="4CA585"/>
      </a:accent5>
      <a:accent6>
        <a:srgbClr val="6595AD"/>
      </a:accent6>
      <a:hlink>
        <a:srgbClr val="15C2FF"/>
      </a:hlink>
      <a:folHlink>
        <a:srgbClr val="CC6601"/>
      </a:folHlink>
    </a:clrScheme>
    <a:fontScheme name="Sixth Street and TSL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10000"/>
                <a:hueMod val="100000"/>
                <a:satMod val="100000"/>
                <a:lumMod val="125000"/>
              </a:schemeClr>
            </a:gs>
            <a:gs pos="50000">
              <a:schemeClr val="phClr">
                <a:tint val="100000"/>
                <a:shade val="100000"/>
                <a:hueMod val="99000"/>
                <a:satMod val="120000"/>
                <a:lumMod val="100000"/>
              </a:schemeClr>
            </a:gs>
            <a:gs pos="100000">
              <a:schemeClr val="phClr">
                <a:tint val="100000"/>
                <a:shade val="10000"/>
                <a:hueMod val="100000"/>
                <a:satMod val="100000"/>
                <a:lumMod val="125000"/>
              </a:schemeClr>
            </a:gs>
          </a:gsLst>
          <a:lin ang="18900000" scaled="0"/>
        </a:gradFill>
      </a:fillStyleLst>
      <a:lnStyleLst>
        <a:ln w="12700" cap="sq" cmpd="sng" algn="ctr">
          <a:solidFill>
            <a:schemeClr val="phClr">
              <a:tint val="95000"/>
              <a:satMod val="150000"/>
              <a:lumMod val="150000"/>
            </a:schemeClr>
          </a:solidFill>
          <a:prstDash val="solid"/>
        </a:ln>
        <a:ln w="12700" cap="sq" cmpd="sng" algn="ctr">
          <a:solidFill>
            <a:schemeClr val="phClr">
              <a:tint val="92000"/>
              <a:satMod val="250000"/>
              <a:lumMod val="165000"/>
            </a:schemeClr>
          </a:solidFill>
          <a:prstDash val="solid"/>
        </a:ln>
        <a:ln w="28575" cap="sq" cmpd="sng" algn="ctr">
          <a:solidFill>
            <a:schemeClr val="phClr">
              <a:satMod val="115000"/>
              <a:lum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100000"/>
                <a:hueMod val="100000"/>
                <a:satMod val="100000"/>
                <a:lumMod val="100000"/>
              </a:schemeClr>
            </a:gs>
            <a:gs pos="25000">
              <a:schemeClr val="phClr">
                <a:tint val="100000"/>
                <a:shade val="75000"/>
                <a:satMod val="100000"/>
              </a:schemeClr>
            </a:gs>
            <a:gs pos="100000">
              <a:schemeClr val="phClr">
                <a:shade val="50000"/>
                <a:satMod val="175000"/>
              </a:schemeClr>
            </a:gs>
            <a:gs pos="100000">
              <a:schemeClr val="phClr">
                <a:shade val="25000"/>
                <a:satMod val="175000"/>
              </a:schemeClr>
            </a:gs>
          </a:gsLst>
          <a:lin ang="600000" scaled="0"/>
        </a:gra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solidFill>
          <a:schemeClr val="bg2"/>
        </a:solidFill>
        <a:ln w="9525">
          <a:solidFill>
            <a:srgbClr val="C33154"/>
          </a:solidFill>
        </a:ln>
      </a:spPr>
      <a:bodyPr lIns="45720" rIns="45720" rtlCol="0" anchor="ctr"/>
      <a:lstStyle>
        <a:defPPr algn="ctr">
          <a:defRPr kern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sq">
          <a:solidFill>
            <a:srgbClr val="969695"/>
          </a:solidFill>
          <a:prstDash val="solid"/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ct val="90000"/>
          </a:lnSpc>
          <a:spcAft>
            <a:spcPts val="200"/>
          </a:spcAft>
          <a:defRPr sz="1600" spc="0" dirty="0" smtClean="0"/>
        </a:defPPr>
      </a:lstStyle>
    </a:txDef>
  </a:objectDefaults>
  <a:extraClrSchemeLst/>
  <a:custClrLst>
    <a:custClr name="Absolute White">
      <a:srgbClr val="FEFFFF"/>
    </a:custClr>
    <a:custClr name="Active Tab PRINT">
      <a:srgbClr val="0E2E51"/>
    </a:custClr>
    <a:custClr name="Table Main Border">
      <a:srgbClr val="A0ABB4"/>
    </a:custClr>
    <a:custClr name="Text Over Color">
      <a:srgbClr val="F8F8F8"/>
    </a:custClr>
    <a:custClr name="Line 1">
      <a:srgbClr val="006AA9"/>
    </a:custClr>
    <a:custClr name="Line 2">
      <a:srgbClr val="858D97"/>
    </a:custClr>
    <a:custClr name="Line 3">
      <a:srgbClr val="006573"/>
    </a:custClr>
    <a:custClr name="Line 4">
      <a:srgbClr val="9CB9BB"/>
    </a:custClr>
    <a:custClr name="Line 5">
      <a:srgbClr val="77C3A8"/>
    </a:custClr>
    <a:custClr name="Line 6">
      <a:srgbClr val="96BDCF"/>
    </a:custClr>
    <a:custClr name="Absolute Black">
      <a:srgbClr val="050000"/>
    </a:custClr>
    <a:custClr name="Active Tab SCREEN">
      <a:srgbClr val="005688"/>
    </a:custClr>
    <a:custClr name="Conclusion Box">
      <a:srgbClr val="0F2F51"/>
    </a:custClr>
    <a:custClr name="Red 1">
      <a:srgbClr val="A82800"/>
    </a:custClr>
    <a:custClr name="Accent Blue">
      <a:srgbClr val="003E64"/>
    </a:custClr>
    <a:custClr name="Accent Gray">
      <a:srgbClr val="4C5158"/>
    </a:custClr>
    <a:custClr name="Accent Cyprus">
      <a:srgbClr val="00353C"/>
    </a:custClr>
    <a:custClr name="Accent Casal">
      <a:srgbClr val="296366"/>
    </a:custClr>
    <a:custClr name="Accent Sea Green">
      <a:srgbClr val="2F8E6D"/>
    </a:custClr>
    <a:custClr name="Accent Ocean Deep">
      <a:srgbClr val="417791"/>
    </a:custClr>
    <a:custClr name="Highlight PRINT">
      <a:srgbClr val="4179BD"/>
    </a:custClr>
    <a:custClr name="Highlight SCREEN">
      <a:srgbClr val="C58C3E"/>
    </a:custClr>
    <a:custClr name="Highlight Purple">
      <a:srgbClr val="595378"/>
    </a:custClr>
    <a:custClr name="Red 2">
      <a:srgbClr val="771D00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</a:custClrLst>
  <a:extLst>
    <a:ext uri="{05A4C25C-085E-4340-85A3-A5531E510DB2}">
      <thm15:themeFamily xmlns:thm15="http://schemas.microsoft.com/office/thememl/2012/main" name="Sixth Street_print" id="{906DC2E1-DAE9-48CD-8B9F-4B620AF364F7}" vid="{9321F453-4069-4862-9B73-6E12E6F02D79}"/>
    </a:ext>
  </a:extLst>
</a:theme>
</file>

<file path=ppt/theme/theme2.xml><?xml version="1.0" encoding="utf-8"?>
<a:theme xmlns:a="http://schemas.openxmlformats.org/drawingml/2006/main" name="__210501_Sixth Street PRINT">
  <a:themeElements>
    <a:clrScheme name="Sixth Street and TSLX_PRINT">
      <a:dk1>
        <a:srgbClr val="080808"/>
      </a:dk1>
      <a:lt1>
        <a:srgbClr val="FEFEFE"/>
      </a:lt1>
      <a:dk2>
        <a:srgbClr val="D9DDE1"/>
      </a:dk2>
      <a:lt2>
        <a:srgbClr val="ECEEF0"/>
      </a:lt2>
      <a:accent1>
        <a:srgbClr val="005587"/>
      </a:accent1>
      <a:accent2>
        <a:srgbClr val="9AA0A8"/>
      </a:accent2>
      <a:accent3>
        <a:srgbClr val="004E59"/>
      </a:accent3>
      <a:accent4>
        <a:srgbClr val="44797B"/>
      </a:accent4>
      <a:accent5>
        <a:srgbClr val="4CA585"/>
      </a:accent5>
      <a:accent6>
        <a:srgbClr val="6595AD"/>
      </a:accent6>
      <a:hlink>
        <a:srgbClr val="15C2FF"/>
      </a:hlink>
      <a:folHlink>
        <a:srgbClr val="CC6601"/>
      </a:folHlink>
    </a:clrScheme>
    <a:fontScheme name="Sixth Street and TSL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10000"/>
                <a:hueMod val="100000"/>
                <a:satMod val="100000"/>
                <a:lumMod val="125000"/>
              </a:schemeClr>
            </a:gs>
            <a:gs pos="50000">
              <a:schemeClr val="phClr">
                <a:tint val="100000"/>
                <a:shade val="100000"/>
                <a:hueMod val="99000"/>
                <a:satMod val="120000"/>
                <a:lumMod val="100000"/>
              </a:schemeClr>
            </a:gs>
            <a:gs pos="100000">
              <a:schemeClr val="phClr">
                <a:tint val="100000"/>
                <a:shade val="10000"/>
                <a:hueMod val="100000"/>
                <a:satMod val="100000"/>
                <a:lumMod val="125000"/>
              </a:schemeClr>
            </a:gs>
          </a:gsLst>
          <a:lin ang="18900000" scaled="0"/>
        </a:gradFill>
      </a:fillStyleLst>
      <a:lnStyleLst>
        <a:ln w="12700" cap="sq" cmpd="sng" algn="ctr">
          <a:solidFill>
            <a:schemeClr val="phClr">
              <a:tint val="95000"/>
              <a:satMod val="150000"/>
              <a:lumMod val="150000"/>
            </a:schemeClr>
          </a:solidFill>
          <a:prstDash val="solid"/>
        </a:ln>
        <a:ln w="12700" cap="sq" cmpd="sng" algn="ctr">
          <a:solidFill>
            <a:schemeClr val="phClr">
              <a:tint val="92000"/>
              <a:satMod val="250000"/>
              <a:lumMod val="165000"/>
            </a:schemeClr>
          </a:solidFill>
          <a:prstDash val="solid"/>
        </a:ln>
        <a:ln w="28575" cap="sq" cmpd="sng" algn="ctr">
          <a:solidFill>
            <a:schemeClr val="phClr">
              <a:satMod val="115000"/>
              <a:lum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100000"/>
                <a:hueMod val="100000"/>
                <a:satMod val="100000"/>
                <a:lumMod val="100000"/>
              </a:schemeClr>
            </a:gs>
            <a:gs pos="25000">
              <a:schemeClr val="phClr">
                <a:tint val="100000"/>
                <a:shade val="75000"/>
                <a:satMod val="100000"/>
              </a:schemeClr>
            </a:gs>
            <a:gs pos="100000">
              <a:schemeClr val="phClr">
                <a:shade val="50000"/>
                <a:satMod val="175000"/>
              </a:schemeClr>
            </a:gs>
            <a:gs pos="100000">
              <a:schemeClr val="phClr">
                <a:shade val="25000"/>
                <a:satMod val="175000"/>
              </a:schemeClr>
            </a:gs>
          </a:gsLst>
          <a:lin ang="600000" scaled="0"/>
        </a:gra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solidFill>
          <a:schemeClr val="bg2"/>
        </a:solidFill>
        <a:ln w="9525">
          <a:solidFill>
            <a:srgbClr val="C33154"/>
          </a:solidFill>
        </a:ln>
      </a:spPr>
      <a:bodyPr lIns="45720" rIns="45720" rtlCol="0" anchor="ctr"/>
      <a:lstStyle>
        <a:defPPr algn="ctr">
          <a:defRPr kern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sq">
          <a:solidFill>
            <a:srgbClr val="969695"/>
          </a:solidFill>
          <a:prstDash val="solid"/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ct val="90000"/>
          </a:lnSpc>
          <a:spcAft>
            <a:spcPts val="200"/>
          </a:spcAft>
          <a:defRPr sz="1600" spc="0" dirty="0" smtClean="0"/>
        </a:defPPr>
      </a:lstStyle>
    </a:txDef>
  </a:objectDefaults>
  <a:extraClrSchemeLst/>
  <a:custClrLst>
    <a:custClr name="Absolute White">
      <a:srgbClr val="FEFFFF"/>
    </a:custClr>
    <a:custClr name="Active Tab PRINT">
      <a:srgbClr val="0E2E51"/>
    </a:custClr>
    <a:custClr name="Table Main Border">
      <a:srgbClr val="A0ABB4"/>
    </a:custClr>
    <a:custClr name="Text Over Color">
      <a:srgbClr val="F8F8F8"/>
    </a:custClr>
    <a:custClr name="Line 1">
      <a:srgbClr val="006AA9"/>
    </a:custClr>
    <a:custClr name="Line 2">
      <a:srgbClr val="858D97"/>
    </a:custClr>
    <a:custClr name="Line 3">
      <a:srgbClr val="006573"/>
    </a:custClr>
    <a:custClr name="Line 4">
      <a:srgbClr val="9CB9BB"/>
    </a:custClr>
    <a:custClr name="Line 5">
      <a:srgbClr val="77C3A8"/>
    </a:custClr>
    <a:custClr name="Line 6">
      <a:srgbClr val="96BDCF"/>
    </a:custClr>
    <a:custClr name="Absolute Black">
      <a:srgbClr val="050000"/>
    </a:custClr>
    <a:custClr name="Active Tab SCREEN">
      <a:srgbClr val="005688"/>
    </a:custClr>
    <a:custClr name="Conclusion Box">
      <a:srgbClr val="0F2F51"/>
    </a:custClr>
    <a:custClr name="Red 1">
      <a:srgbClr val="A82800"/>
    </a:custClr>
    <a:custClr name="Accent Blue">
      <a:srgbClr val="003E64"/>
    </a:custClr>
    <a:custClr name="Accent Gray">
      <a:srgbClr val="4C5158"/>
    </a:custClr>
    <a:custClr name="Accent Cyprus">
      <a:srgbClr val="00353C"/>
    </a:custClr>
    <a:custClr name="Accent Casal">
      <a:srgbClr val="296366"/>
    </a:custClr>
    <a:custClr name="Accent Sea Green">
      <a:srgbClr val="2F8E6D"/>
    </a:custClr>
    <a:custClr name="Accent Ocean Deep">
      <a:srgbClr val="417791"/>
    </a:custClr>
    <a:custClr name="Highlight PRINT">
      <a:srgbClr val="4179BD"/>
    </a:custClr>
    <a:custClr name="Highlight SCREEN">
      <a:srgbClr val="C58C3E"/>
    </a:custClr>
    <a:custClr name="Highlight Purple">
      <a:srgbClr val="595378"/>
    </a:custClr>
    <a:custClr name="Red 2">
      <a:srgbClr val="771D00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</a:custClrLst>
  <a:extLst>
    <a:ext uri="{05A4C25C-085E-4340-85A3-A5531E510DB2}">
      <thm15:themeFamily xmlns:thm15="http://schemas.microsoft.com/office/thememl/2012/main" name="__210501_Sixth Street PRINT.pptx" id="{ACCED80A-6B0F-4ECD-AFFE-BA07DB2E7523}" vid="{4CCF40AC-4B0B-4BEC-B7BE-ED989FC6ED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2D98BC-755D-4BCD-ACBE-18398B60BAE8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efd2f20-7528-4d99-a32f-0987911874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Sixth Street_print</Template>
  <TotalTime>2265</TotalTime>
  <Words>37244</Words>
  <Application>Microsoft Office PowerPoint</Application>
  <PresentationFormat>On-screen Show (4:3)</PresentationFormat>
  <Paragraphs>7448</Paragraphs>
  <Slides>74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Calibri</vt:lpstr>
      <vt:lpstr>Wingdings</vt:lpstr>
      <vt:lpstr>Wingdings 3</vt:lpstr>
      <vt:lpstr>Sixth Street_print</vt:lpstr>
      <vt:lpstr>__210501_Sixth Street PRINT</vt:lpstr>
      <vt:lpstr>think-cell Slide</vt:lpstr>
      <vt:lpstr>Kkr recop fund recapitalization</vt:lpstr>
      <vt:lpstr>Executive Summary</vt:lpstr>
      <vt:lpstr>Investment Highlights &amp; Concerns</vt:lpstr>
      <vt:lpstr>Portfolio Overview</vt:lpstr>
      <vt:lpstr>Large loan exposure by securitization</vt:lpstr>
      <vt:lpstr>Key limited partnership agreement terms</vt:lpstr>
      <vt:lpstr>Fund Structure Chart</vt:lpstr>
      <vt:lpstr>Partnership Terms</vt:lpstr>
      <vt:lpstr>Underwriting summary (1 of 3)</vt:lpstr>
      <vt:lpstr>Underwriting summary (2 of 3)</vt:lpstr>
      <vt:lpstr>Underwriting summary (3 of 3)</vt:lpstr>
      <vt:lpstr>Returns Summary (1 of 2)</vt:lpstr>
      <vt:lpstr>Returns Summary (2 of 2)</vt:lpstr>
      <vt:lpstr>B-Piece Control Rights</vt:lpstr>
      <vt:lpstr>Fund Control summary by securitization</vt:lpstr>
      <vt:lpstr>Historical Conduit CMBS Performance</vt:lpstr>
      <vt:lpstr>Case Study: CD 2017-CD3</vt:lpstr>
      <vt:lpstr>Fund Financial Wherewithal</vt:lpstr>
      <vt:lpstr>Portfolio stratifications</vt:lpstr>
      <vt:lpstr>Portfolio stratifications cont.</vt:lpstr>
      <vt:lpstr>Portfolio stratifications cont.</vt:lpstr>
      <vt:lpstr>Portfolio stratifications cont.</vt:lpstr>
      <vt:lpstr>Portfolio stratifications cont.</vt:lpstr>
      <vt:lpstr>CMBS b-Piece Overview</vt:lpstr>
      <vt:lpstr>Introduction to CMBS conduit b-pieces</vt:lpstr>
      <vt:lpstr>Illustrative Conduit Capital Structure</vt:lpstr>
      <vt:lpstr>Illustrative Loss Scenario: Single Loan Note Sale</vt:lpstr>
      <vt:lpstr>Appraisal Reduction Event overview</vt:lpstr>
      <vt:lpstr>Illustrative Appraisal Reduction Event</vt:lpstr>
      <vt:lpstr>Asset summary reports</vt:lpstr>
      <vt:lpstr>The Colonnade Office Complex (1 of 2)</vt:lpstr>
      <vt:lpstr>The Colonnade Office Complex (2 of 2)</vt:lpstr>
      <vt:lpstr>GSK R&amp;D Centre (1 of 2)</vt:lpstr>
      <vt:lpstr>GSK R&amp;D Centre (2 of 2)</vt:lpstr>
      <vt:lpstr>Pace Gallery HQ (1 of 2)</vt:lpstr>
      <vt:lpstr>Pace Gallery HQ (2 of 2)</vt:lpstr>
      <vt:lpstr>211 Main Street (1 of 2)</vt:lpstr>
      <vt:lpstr>211 Main Street (2 of 2)</vt:lpstr>
      <vt:lpstr>90 Hudson (1 of 2)</vt:lpstr>
      <vt:lpstr>90 Hudson (2 of 2)</vt:lpstr>
      <vt:lpstr>Loma Linda (1 of 2)</vt:lpstr>
      <vt:lpstr>Loma Linda (2 of 2)</vt:lpstr>
      <vt:lpstr>Ericsson North American HQ (1 of 2)</vt:lpstr>
      <vt:lpstr>Ericsson North American HQ (2 of 2)</vt:lpstr>
      <vt:lpstr>Merge Office (1 of 2)</vt:lpstr>
      <vt:lpstr>Merge Office (2 of 2)</vt:lpstr>
      <vt:lpstr>Younique HQ Building (1 of 2)</vt:lpstr>
      <vt:lpstr>Younique HQ Building (2 of 2)</vt:lpstr>
      <vt:lpstr>InterContinental San Francisco (1 of 2)</vt:lpstr>
      <vt:lpstr>InterContinental San Francisco (2 of 2)</vt:lpstr>
      <vt:lpstr>16 Court Street (1 of 2)</vt:lpstr>
      <vt:lpstr>16 Court Street (2 of 2)</vt:lpstr>
      <vt:lpstr>9201 West Sunset Boulevard (1 of 2)</vt:lpstr>
      <vt:lpstr>9201 West Sunset Boulevard (2 of 2)</vt:lpstr>
      <vt:lpstr>Saint Louis Galleria (1 of 2)</vt:lpstr>
      <vt:lpstr>Saint Louis Galleria (2 of 2)</vt:lpstr>
      <vt:lpstr>141 Fifth Avenue (1 of 2)</vt:lpstr>
      <vt:lpstr>141 Fifth Avenue (2 of 2)</vt:lpstr>
      <vt:lpstr>Chelsea Multifamily Portfolio (1 of 2)</vt:lpstr>
      <vt:lpstr>Chelsea Multifamily Portfolio (2 of 2)</vt:lpstr>
      <vt:lpstr>South Station (1 of 2)</vt:lpstr>
      <vt:lpstr>South Station (2 of 2)</vt:lpstr>
      <vt:lpstr>Pearlridge Uptown II (1 of 2)</vt:lpstr>
      <vt:lpstr>Pearlridge Uptown II (2 of 2)</vt:lpstr>
      <vt:lpstr>6420 Wilshire (1 of 2)</vt:lpstr>
      <vt:lpstr>6420 Wilshire (2 of 2)</vt:lpstr>
      <vt:lpstr>Regions Center and Bank Tower (1 of 2)</vt:lpstr>
      <vt:lpstr>Regions Center and Bank Tower (2 of 2)</vt:lpstr>
      <vt:lpstr>Southpoint Office Center (1 of 2)</vt:lpstr>
      <vt:lpstr>Southpoint Office Center (2 of 2)</vt:lpstr>
      <vt:lpstr>Tryad Industrial &amp; Business Center (1 of 2)</vt:lpstr>
      <vt:lpstr>Tryad Industrial &amp; Business Center (2 of 2)</vt:lpstr>
      <vt:lpstr>575 Maryville (1 of 2)</vt:lpstr>
      <vt:lpstr>575 Maryville (2 of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KKR RECOP</dc:title>
  <dc:creator>Jon Steele</dc:creator>
  <cp:lastModifiedBy>Russell, Charlie</cp:lastModifiedBy>
  <cp:revision>164</cp:revision>
  <dcterms:created xsi:type="dcterms:W3CDTF">2021-07-07T14:22:17Z</dcterms:created>
  <dcterms:modified xsi:type="dcterms:W3CDTF">2026-10-07T22:09:16Z</dcterms:modified>
</cp:coreProperties>
</file>