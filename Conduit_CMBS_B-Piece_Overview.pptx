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3.svg" ContentType="image/svg+xml"/>
  <Override PartName="/ppt/media/image5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6"/>
  </p:notesMasterIdLst>
  <p:sldIdLst>
    <p:sldId id="1179" r:id="rId2"/>
    <p:sldId id="2147471015" r:id="rId73"/>
    <p:sldId id="2147471016" r:id="rId74"/>
    <p:sldId id="2147471017" r:id="rId75"/>
    <p:sldId id="2147471018" r:id="rId76"/>
    <p:sldId id="2147471019" r:id="rId77"/>
    <p:sldId id="2147471020" r:id="rId78"/>
    <p:sldId id="2147471021" r:id="rId79"/>
    <p:sldId id="2147471022" r:id="rId80"/>
    <p:sldId id="2147471023" r:id="rId81"/>
  </p:sldIdLst>
  <p:sldSz cx="9144000" cy="6858000" type="screen4x3"/>
  <p:notesSz cx="6950075" cy="9236075"/>
  <p:custDataLst>
    <p:tags r:id="rId6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9903102-605B-68EF-7B9A-7AE2C6BA7540}" name="Goldstein, Ace" initials="AG" userId="S::ace.goldstein@sixthstreet.com::eba7a8dc-62dc-47ad-a929-5bf4ded49a3f" providerId="AD"/>
  <p188:author id="{02D17110-0F20-E47B-BFB5-0A556483A25F}" name="Dustin Braham" initials="DB" userId="S::db@dwightmortgagetrust.com::69117461-9d3a-41f0-8bc9-ae81deb5b480" providerId="AD"/>
  <p188:author id="{D40C3420-B116-B179-DDCD-D21AFFB9F684}" name="Russell, Charlie" initials="CR" userId="S::crussell@sixthstreet.com::33e8a0f7-e167-4dc0-afa6-e3fb827ab654" providerId="AD"/>
  <p188:author id="{FBDFAE2C-C2B0-28D8-DBD6-AB0A56C5F440}" name="Grant Heilman" initials="GH" userId="S::gh@dwightmortgagetrust.com::b1bd96de-2e6c-49c1-9782-dd8f7e0e133d" providerId="AD"/>
  <p188:author id="{7E938D49-9057-6DE2-1093-14AF8E57C3A2}" name="JD Comeau" initials="JC" userId="S::jco@dwightmortgagetrust.com::9c23bc0d-0924-4e03-9722-f2bc5b5f9e79" providerId="AD"/>
  <p188:author id="{F955DB63-E972-F6C0-339F-278EE5DC0F76}" name="Cole Saenz" initials="CS" userId="S::cs@dwightmortgagetrust.com::30713fba-8b3d-448b-95ba-9dee6bb052e1" providerId="AD"/>
  <p188:author id="{C6235F71-A186-B23E-1A63-48E7C65AABD9}" name="Steele, Jon" initials="JS" userId="S::jsteele@sixthstreet.com::70cf78ff-47dc-4de3-ae54-7be2851cb611" providerId="AD"/>
  <p188:author id="{CF00A173-3AAD-548F-2949-C8DB5F70D4F5}" name="Liam Higgins" initials="LH" userId="S::lh@dwightmortgagetrust.com::d80d6c4f-5341-4e82-9800-befd9ddd0186" providerId="AD"/>
  <p188:author id="{F1D93C83-3748-5608-94B4-153EEBC93506}" name="Noah Breskin" initials="NB" userId="S::nb@dwightmortgagetrust.com::f87674ca-bf83-46cc-9fe7-1ea9fb645d6b" providerId="AD"/>
  <p188:author id="{C928A498-CE5A-E258-F912-5DE590065195}" name="Jack Baron" initials="JB" userId="S::jb@dwightmortgagetrust.com::6eca1c2f-e688-4004-890b-d1456642ce2a" providerId="AD"/>
  <p188:author id="{C10243BA-C78C-0021-A887-C97438ADA3CD}" name="Rachel Jones" initials="RJ" userId="S::rj@dwightmortgagetrust.com::f528490c-e884-4e2b-8a95-d947e7635e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F51"/>
    <a:srgbClr val="E2EFDA"/>
    <a:srgbClr val="D9E1F2"/>
    <a:srgbClr val="9AA0A8"/>
    <a:srgbClr val="112950"/>
    <a:srgbClr val="D9DEF2"/>
    <a:srgbClr val="FFFF00"/>
    <a:srgbClr val="FFAB00"/>
    <a:srgbClr val="02FCFC"/>
    <a:srgbClr val="8585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7419" autoAdjust="0"/>
  </p:normalViewPr>
  <p:slideViewPr>
    <p:cSldViewPr snapToGrid="0" showGuides="1">
      <p:cViewPr varScale="1">
        <p:scale>
          <a:sx n="158" d="100"/>
          <a:sy n="158" d="100"/>
        </p:scale>
        <p:origin x="1708" y="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6" Type="http://schemas.openxmlformats.org/officeDocument/2006/relationships/notesMaster" Target="notesMasters/notesMaster1.xml"/><Relationship Id="rId67" Type="http://schemas.openxmlformats.org/officeDocument/2006/relationships/tags" Target="tags/tag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72" Type="http://schemas.microsoft.com/office/2018/10/relationships/authors" Target="authors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080808"/>
                </a:solidFill>
                <a:latin typeface="Calibri"/>
              </a:rPr>
              <a:t>HRR Class Balances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Initial Balance</c:v>
                </c:pt>
              </c:strCache>
            </c:strRef>
          </c:tx>
          <c:spPr>
            <a:solidFill>
              <a:srgbClr val="0F2F51"/>
            </a:solidFill>
          </c:spPr>
          <c:cat>
            <c:strRef>
              <c:f>Sheet1!$A$2:$A$5</c:f>
              <c:strCache>
                <c:ptCount val="4"/>
                <c:pt idx="0">
                  <c:v>H-RR</c:v>
                </c:pt>
                <c:pt idx="1">
                  <c:v>G-RR</c:v>
                </c:pt>
                <c:pt idx="2">
                  <c:v>F-RR</c:v>
                </c:pt>
                <c:pt idx="3">
                  <c:v>E-RR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35.0</c:v>
                </c:pt>
                <c:pt idx="1">
                  <c:v>10.0</c:v>
                </c:pt>
                <c:pt idx="2">
                  <c:v>17.5</c:v>
                </c:pt>
                <c:pt idx="3">
                  <c:v>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of Appraisal Reduction</c:v>
                </c:pt>
              </c:strCache>
            </c:strRef>
          </c:tx>
          <c:spPr>
            <a:solidFill>
              <a:srgbClr val="858D97"/>
            </a:solidFill>
          </c:spPr>
          <c:cat>
            <c:strRef>
              <c:f>Sheet1!$A$2:$A$5</c:f>
              <c:strCache>
                <c:ptCount val="4"/>
                <c:pt idx="0">
                  <c:v>H-RR</c:v>
                </c:pt>
                <c:pt idx="1">
                  <c:v>G-RR</c:v>
                </c:pt>
                <c:pt idx="2">
                  <c:v>F-RR</c:v>
                </c:pt>
                <c:pt idx="3">
                  <c:v>E-RR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3.5</c:v>
                </c:pt>
                <c:pt idx="1">
                  <c:v>10.0</c:v>
                </c:pt>
                <c:pt idx="2">
                  <c:v>17.5</c:v>
                </c:pt>
                <c:pt idx="3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After Realized Loss</c:v>
                </c:pt>
              </c:strCache>
            </c:strRef>
          </c:tx>
          <c:spPr>
            <a:solidFill>
              <a:srgbClr val="005587"/>
            </a:solidFill>
          </c:spPr>
          <c:cat>
            <c:strRef>
              <c:f>Sheet1!$A$2:$A$5</c:f>
              <c:strCache>
                <c:ptCount val="4"/>
                <c:pt idx="0">
                  <c:v>H-RR</c:v>
                </c:pt>
                <c:pt idx="1">
                  <c:v>G-RR</c:v>
                </c:pt>
                <c:pt idx="2">
                  <c:v>F-RR</c:v>
                </c:pt>
                <c:pt idx="3">
                  <c:v>E-RR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5.640000000000001</c:v>
                </c:pt>
                <c:pt idx="1">
                  <c:v>10.0</c:v>
                </c:pt>
                <c:pt idx="2">
                  <c:v>17.5</c:v>
                </c:pt>
                <c:pt idx="3">
                  <c:v>30.0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sz="7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0A8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080808"/>
                </a:solidFill>
                <a:latin typeface="Calibri"/>
              </a:rPr>
              <a:t>B-Piece Unlevered IRR by Cumulative Pool Loss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B-Piece IRR</c:v>
                </c:pt>
              </c:strCache>
            </c:strRef>
          </c:tx>
          <c:spPr>
            <a:solidFill>
              <a:srgbClr val="0F2F51"/>
            </a:solidFill>
          </c:spPr>
          <c:invertIfNegative val="0"/>
          <c:dPt>
            <c:idx val="0"/>
            <c:spPr>
              <a:solidFill>
                <a:srgbClr val="0F2F51"/>
              </a:solidFill>
            </c:spPr>
          </c:dPt>
          <c:dPt>
            <c:idx val="1"/>
            <c:spPr>
              <a:solidFill>
                <a:srgbClr val="0F2F51"/>
              </a:solidFill>
            </c:spPr>
          </c:dPt>
          <c:dPt>
            <c:idx val="2"/>
            <c:spPr>
              <a:solidFill>
                <a:srgbClr val="005587"/>
              </a:solidFill>
            </c:spPr>
          </c:dPt>
          <c:dPt>
            <c:idx val="3"/>
            <c:spPr>
              <a:solidFill>
                <a:srgbClr val="0F2F51"/>
              </a:solidFill>
            </c:spPr>
          </c:dPt>
          <c:dPt>
            <c:idx val="4"/>
            <c:spPr>
              <a:solidFill>
                <a:srgbClr val="0F2F51"/>
              </a:solidFill>
            </c:spPr>
          </c:dPt>
          <c:dPt>
            <c:idx val="5"/>
            <c:spPr>
              <a:solidFill>
                <a:srgbClr val="0F2F51"/>
              </a:solidFill>
            </c:spPr>
          </c:dPt>
          <c:dPt>
            <c:idx val="6"/>
            <c:spPr>
              <a:solidFill>
                <a:srgbClr val="0F2F51"/>
              </a:solidFill>
            </c:spPr>
          </c:dPt>
          <c:dPt>
            <c:idx val="7"/>
            <c:spPr>
              <a:solidFill>
                <a:srgbClr val="858D97"/>
              </a:solidFill>
            </c:spPr>
          </c:dPt>
          <c:dPt>
            <c:idx val="8"/>
            <c:spPr>
              <a:solidFill>
                <a:srgbClr val="858D97"/>
              </a:solidFill>
            </c:spPr>
          </c:dPt>
          <c:cat>
            <c:strRef>
              <c:f>Sheet1!$A$2:$A$10</c:f>
              <c:strCache>
                <c:ptCount val="9"/>
                <c:pt idx="0">
                  <c:v>0%</c:v>
                </c:pt>
                <c:pt idx="1">
                  <c:v>1%</c:v>
                </c:pt>
                <c:pt idx="2">
                  <c:v>2%</c:v>
                </c:pt>
                <c:pt idx="3">
                  <c:v>3%</c:v>
                </c:pt>
                <c:pt idx="4">
                  <c:v>4%</c:v>
                </c:pt>
                <c:pt idx="5">
                  <c:v>5%</c:v>
                </c:pt>
                <c:pt idx="6">
                  <c:v>6%</c:v>
                </c:pt>
                <c:pt idx="7">
                  <c:v>8%</c:v>
                </c:pt>
                <c:pt idx="8">
                  <c:v>10%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0.13812394240379533</c:v>
                </c:pt>
                <c:pt idx="1">
                  <c:v>0.12658750511901162</c:v>
                </c:pt>
                <c:pt idx="2">
                  <c:v>0.11386731054214716</c:v>
                </c:pt>
                <c:pt idx="3">
                  <c:v>0.09966173151353075</c:v>
                </c:pt>
                <c:pt idx="4">
                  <c:v>0.08353126277570444</c:v>
                </c:pt>
                <c:pt idx="5">
                  <c:v>0.06479653948968778</c:v>
                </c:pt>
                <c:pt idx="6">
                  <c:v>0.042317795806741665</c:v>
                </c:pt>
                <c:pt idx="7">
                  <c:v>-0.025386691941736206</c:v>
                </c:pt>
                <c:pt idx="8">
                  <c:v>-0.1853653597332457</c:v>
                </c:pt>
              </c:numCache>
            </c:numRef>
          </c:val>
        </c:ser>
        <c:dLbls>
          <c:numFmt formatCode="0.0%;(0.0%);-" sourceLinked="0"/>
          <c:txPr>
            <a:bodyPr/>
            <a:lstStyle/>
            <a:p>
              <a:pPr>
                <a:defRPr sz="8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9AA0A8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2001" cy="462721"/>
          </a:xfrm>
          <a:prstGeom prst="rect">
            <a:avLst/>
          </a:prstGeom>
        </p:spPr>
        <p:txBody>
          <a:bodyPr vert="horz" lIns="87490" tIns="43745" rIns="87490" bIns="43745" rtlCol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566" y="0"/>
            <a:ext cx="3012001" cy="462721"/>
          </a:xfrm>
          <a:prstGeom prst="rect">
            <a:avLst/>
          </a:prstGeom>
        </p:spPr>
        <p:txBody>
          <a:bodyPr vert="horz" lIns="87490" tIns="43745" rIns="87490" bIns="43745" rtlCol="0"/>
          <a:lstStyle>
            <a:lvl1pPr algn="r">
              <a:defRPr sz="1100"/>
            </a:lvl1pPr>
          </a:lstStyle>
          <a:p>
            <a:fld id="{7963D64D-97CE-4A53-85A0-97FB91FF649B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0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490" tIns="43745" rIns="87490" bIns="4374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10" y="4445473"/>
            <a:ext cx="5559457" cy="3636093"/>
          </a:xfrm>
          <a:prstGeom prst="rect">
            <a:avLst/>
          </a:prstGeom>
        </p:spPr>
        <p:txBody>
          <a:bodyPr vert="horz" lIns="87490" tIns="43745" rIns="87490" bIns="4374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3355"/>
            <a:ext cx="3012001" cy="462720"/>
          </a:xfrm>
          <a:prstGeom prst="rect">
            <a:avLst/>
          </a:prstGeom>
        </p:spPr>
        <p:txBody>
          <a:bodyPr vert="horz" lIns="87490" tIns="43745" rIns="87490" bIns="43745" rtlCol="0" anchor="b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566" y="8773355"/>
            <a:ext cx="3012001" cy="462720"/>
          </a:xfrm>
          <a:prstGeom prst="rect">
            <a:avLst/>
          </a:prstGeom>
        </p:spPr>
        <p:txBody>
          <a:bodyPr vert="horz" lIns="87490" tIns="43745" rIns="87490" bIns="43745" rtlCol="0" anchor="b"/>
          <a:lstStyle>
            <a:lvl1pPr algn="r">
              <a:defRPr sz="1100"/>
            </a:lvl1pPr>
          </a:lstStyle>
          <a:p>
            <a:fld id="{6A5E40A3-7AF7-4917-A8BC-5C21A2738C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28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svg"/><Relationship Id="rId7" Type="http://schemas.openxmlformats.org/officeDocument/2006/relationships/image" Target="../media/image6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6" Type="http://schemas.openxmlformats.org/officeDocument/2006/relationships/image" Target="../media/image7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7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7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7.emf"/><Relationship Id="rId7" Type="http://schemas.openxmlformats.org/officeDocument/2006/relationships/image" Target="../media/image8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7.emf"/><Relationship Id="rId6" Type="http://schemas.openxmlformats.org/officeDocument/2006/relationships/image" Target="../media/image8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7.emf"/><Relationship Id="rId6" Type="http://schemas.openxmlformats.org/officeDocument/2006/relationships/image" Target="../media/image8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7.emf"/><Relationship Id="rId6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4.emf"/><Relationship Id="rId6" Type="http://schemas.openxmlformats.org/officeDocument/2006/relationships/image" Target="../media/image10.emf"/><Relationship Id="rId7" Type="http://schemas.openxmlformats.org/officeDocument/2006/relationships/image" Target="../media/image9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0F2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C724A0-4908-49D1-A19E-86572E2D7C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34968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C724A0-4908-49D1-A19E-86572E2D7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A5FFD20-A9CB-47DB-8AC3-87A6D7FDDE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995CACF-F3C9-49A7-85C2-734539286C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1978" y="5637778"/>
            <a:ext cx="5073603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dirty="0">
                <a:solidFill>
                  <a:srgbClr val="FFFFFE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397F5CA-CC20-4C50-A642-DA59D7226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630210" y="4883684"/>
            <a:ext cx="5075372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noProof="0" dirty="0">
                <a:solidFill>
                  <a:srgbClr val="FFFFFE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noProof="0" dirty="0"/>
              <a:t>Presentation 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D6D6C0-4B45-4820-B84E-B506C3F6623B}"/>
              </a:ext>
            </a:extLst>
          </p:cNvPr>
          <p:cNvCxnSpPr>
            <a:cxnSpLocks/>
          </p:cNvCxnSpPr>
          <p:nvPr/>
        </p:nvCxnSpPr>
        <p:spPr>
          <a:xfrm flipH="1">
            <a:off x="3634353" y="5592363"/>
            <a:ext cx="5075374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B29CDCCC-343F-4136-9772-1137E00EDF1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4B7190ED-1C73-42D3-B22E-9AD6B740DD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86165" y="581233"/>
            <a:ext cx="2719417" cy="7596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C262728-5A3E-4027-AA1F-EC54D61F9E97}"/>
              </a:ext>
            </a:extLst>
          </p:cNvPr>
          <p:cNvSpPr/>
          <p:nvPr/>
        </p:nvSpPr>
        <p:spPr>
          <a:xfrm rot="16200000">
            <a:off x="7038172" y="3250349"/>
            <a:ext cx="3793715" cy="357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334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 not remove" hidden="1">
            <a:extLst>
              <a:ext uri="{FF2B5EF4-FFF2-40B4-BE49-F238E27FC236}">
                <a16:creationId xmlns:a16="http://schemas.microsoft.com/office/drawing/2014/main" id="{ED1199D4-FD95-751E-A091-340AF2BAFEB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9525" cap="sq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 cap="sq" cmpd="sng" algn="ctr">
                <a:solidFill>
                  <a:srgbClr val="C33154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92197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4C29427-2723-4731-BABB-F965AC985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4DFE88D-6504-4C33-99D8-07DBF523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8E61697F-7CC1-4F8C-879A-B738D1CB4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283517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Title (2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13981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75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4C29427-2723-4731-BABB-F965AC985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4DFE88D-6504-4C33-99D8-07DBF523E0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020" y="58134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ctr" anchorCtr="0">
            <a:noAutofit/>
          </a:bodyPr>
          <a:lstStyle>
            <a:lvl1pPr>
              <a:lnSpc>
                <a:spcPct val="90000"/>
              </a:lnSpc>
              <a:defRPr sz="1750"/>
            </a:lvl1pPr>
          </a:lstStyle>
          <a:p>
            <a:pPr marL="0" lvl="0"/>
            <a:r>
              <a:rPr lang="en-US" noProof="0" dirty="0"/>
              <a:t>SLIDE TITLE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F71F00A5-3E59-4A3A-9881-5898E75B0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367075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27D79AA3-3B0C-4A07-9648-1AB9DB56D0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47923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27D79AA3-3B0C-4A07-9648-1AB9DB56D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4F5919A-F141-44F8-A255-B20CFCCB05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3D18900-A64B-4092-AD63-6E442E6AB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0BA4139-C552-4581-BC79-BE8ECF9A6F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020" y="1048286"/>
            <a:ext cx="8823960" cy="1574790"/>
          </a:xfrm>
          <a:prstGeom prst="rect">
            <a:avLst/>
          </a:prstGeom>
        </p:spPr>
        <p:txBody>
          <a:bodyPr>
            <a:spAutoFit/>
          </a:bodyPr>
          <a:lstStyle>
            <a:lvl1pPr marL="152400" indent="-15240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SzPct val="90000"/>
              <a:buFont typeface="Calibri" panose="020F0502020204030204" pitchFamily="34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1pPr>
            <a:lvl2pPr marL="381000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sz="1400">
                <a:solidFill>
                  <a:schemeClr val="tx1"/>
                </a:solidFill>
                <a:latin typeface="+mn-lt"/>
              </a:defRPr>
            </a:lvl2pPr>
            <a:lvl3pPr marL="571500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◦"/>
              <a:defRPr sz="1400">
                <a:solidFill>
                  <a:schemeClr val="tx1"/>
                </a:solidFill>
                <a:latin typeface="+mn-lt"/>
              </a:defRPr>
            </a:lvl3pPr>
            <a:lvl4pPr marL="808038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sz="1400">
                <a:solidFill>
                  <a:schemeClr val="tx1"/>
                </a:solidFill>
                <a:latin typeface="+mn-lt"/>
              </a:defRPr>
            </a:lvl4pPr>
            <a:lvl5pPr marL="1012825" indent="-171450">
              <a:lnSpc>
                <a:spcPct val="90000"/>
              </a:lnSpc>
              <a:spcAft>
                <a:spcPts val="1000"/>
              </a:spcAft>
              <a:buClr>
                <a:schemeClr val="accent2"/>
              </a:buClr>
              <a:buFont typeface="Calibri" panose="020F0502020204030204" pitchFamily="34" charset="0"/>
              <a:buChar char="◦"/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Primary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33B111F-F2B3-4B09-A620-646ADA82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495BA40B-7C37-42F1-B7C1-7B99D09A7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272612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10FCADA2-9A2F-DEC7-02A8-24E45BDD918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9525" cap="sq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 cap="sq" cmpd="sng" algn="ctr">
                <a:solidFill>
                  <a:srgbClr val="C33154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90928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SIXTH STREET HIGHLY CONFIDENTIAL  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A387558-41B9-446B-AFBC-648C8F817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n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A7C9D-063D-4D7A-91F8-241098ED80B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BB657700-0CB6-440E-9C04-9D8877EB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131DA-BEA8-4FF1-9A89-3690721197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012375"/>
            <a:ext cx="9144000" cy="387798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(1 Line)</a:t>
            </a:r>
          </a:p>
        </p:txBody>
      </p:sp>
      <p:sp>
        <p:nvSpPr>
          <p:cNvPr id="17" name="Footer Placeholder 9">
            <a:extLst>
              <a:ext uri="{FF2B5EF4-FFF2-40B4-BE49-F238E27FC236}">
                <a16:creationId xmlns:a16="http://schemas.microsoft.com/office/drawing/2014/main" id="{93F0BEE6-6287-497F-8F23-56B983264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7594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7498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SIXTH STREET HIGHLY CONFIDENTIAL  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A387558-41B9-446B-AFBC-648C8F817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A7C9D-063D-4D7A-91F8-241098ED80B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BB657700-0CB6-440E-9C04-9D8877EB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131DA-BEA8-4FF1-9A89-3690721197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63076"/>
            <a:ext cx="9144000" cy="637097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(2 Lines)</a:t>
            </a:r>
          </a:p>
        </p:txBody>
      </p:sp>
      <p:sp>
        <p:nvSpPr>
          <p:cNvPr id="16" name="Footer Placeholder 9">
            <a:extLst>
              <a:ext uri="{FF2B5EF4-FFF2-40B4-BE49-F238E27FC236}">
                <a16:creationId xmlns:a16="http://schemas.microsoft.com/office/drawing/2014/main" id="{951A21E2-CBFB-478C-97E6-1DF85619A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217444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clusion 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6A947-3C39-45D5-9FAC-5B637E3C73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7496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6A947-3C39-45D5-9FAC-5B637E3C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459AFFF-1A7B-4F22-AA21-9E24D47C0B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AD864-0D52-46E9-AEC8-9B60B940974A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2F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7F88E-F3CA-4AEC-B310-6F480D4CBCFC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6E1C3-C36D-46C0-B446-426B4BC6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2B61BF-428D-4935-80AF-D4AF69F54312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F59A2AFC-BF60-4FC5-892A-34473E7FD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/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E991F92D-64B8-402A-AAF3-8FC50FF99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E6127545-1C92-4332-96DD-DA86E8F500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63076"/>
            <a:ext cx="9144000" cy="637097"/>
          </a:xfrm>
          <a:prstGeom prst="rect">
            <a:avLst/>
          </a:prstGeom>
          <a:solidFill>
            <a:srgbClr val="0F2F51"/>
          </a:solidFill>
        </p:spPr>
        <p:txBody>
          <a:bodyPr tIns="9144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baseline="0">
                <a:solidFill>
                  <a:srgbClr val="F8F8F8"/>
                </a:solidFill>
                <a:latin typeface="+mj-lt"/>
              </a:defRPr>
            </a:lvl1pPr>
            <a:lvl2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2pPr>
            <a:lvl3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3pPr>
            <a:lvl4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4pPr>
            <a:lvl5pPr marL="0" indent="0">
              <a:buNone/>
              <a:defRPr b="1" cap="all" baseline="0">
                <a:solidFill>
                  <a:srgbClr val="F8F8F8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Conclusion text (3 lines)</a:t>
            </a:r>
          </a:p>
        </p:txBody>
      </p:sp>
      <p:sp>
        <p:nvSpPr>
          <p:cNvPr id="17" name="Footer Placeholder 9">
            <a:extLst>
              <a:ext uri="{FF2B5EF4-FFF2-40B4-BE49-F238E27FC236}">
                <a16:creationId xmlns:a16="http://schemas.microsoft.com/office/drawing/2014/main" id="{2E88C089-8DAD-48CA-8000-879AB7290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544791"/>
            <a:ext cx="2514600" cy="129266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0E2E51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399006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6C1E106-B173-4C77-84E9-0384A2B8C8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63714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6C1E106-B173-4C77-84E9-0384A2B8C8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BAE97C9-37B0-466E-97BF-1B5E905EFC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873379" y="3602915"/>
            <a:ext cx="5106259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 bwMode="black">
          <a:xfrm>
            <a:off x="3873381" y="2848821"/>
            <a:ext cx="5106258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dirty="0">
                <a:solidFill>
                  <a:schemeClr val="tx1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Section Header</a:t>
            </a:r>
          </a:p>
        </p:txBody>
      </p:sp>
      <p:cxnSp>
        <p:nvCxnSpPr>
          <p:cNvPr id="10" name="Separator Line"/>
          <p:cNvCxnSpPr/>
          <p:nvPr/>
        </p:nvCxnSpPr>
        <p:spPr>
          <a:xfrm>
            <a:off x="-627882" y="4920282"/>
            <a:ext cx="7315200" cy="0"/>
          </a:xfrm>
          <a:prstGeom prst="line">
            <a:avLst/>
          </a:prstGeom>
          <a:solidFill>
            <a:srgbClr val="093A5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9A2843-21AE-42D6-8784-C5A9BFF48788}"/>
              </a:ext>
            </a:extLst>
          </p:cNvPr>
          <p:cNvCxnSpPr>
            <a:cxnSpLocks/>
          </p:cNvCxnSpPr>
          <p:nvPr/>
        </p:nvCxnSpPr>
        <p:spPr>
          <a:xfrm flipH="1">
            <a:off x="3873381" y="3557500"/>
            <a:ext cx="5106258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00B59AB-BD73-4A7B-91F0-A59C1AE5F65B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4B358AB-17AD-4FA9-8A44-BD44ACC08C2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8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B23FA3-3B9F-4453-9487-4B573E32590A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B07B5FF-747D-4FD2-9258-7FAF13AFF8BD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735A86-BA87-4032-932A-92D1E3056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0890C6F-06EA-454E-98CD-D3A69BFC0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DA768706-9A6D-4AF2-8D4C-5C1C376B5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highlight>
                  <a:srgbClr val="FEFFFF"/>
                </a:highlight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</p:spTree>
    <p:extLst>
      <p:ext uri="{BB962C8B-B14F-4D97-AF65-F5344CB8AC3E}">
        <p14:creationId xmlns:p14="http://schemas.microsoft.com/office/powerpoint/2010/main" val="297945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59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xth Street IRC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DC724A0-4908-49D1-A19E-86572E2D7C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0597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DC724A0-4908-49D1-A19E-86572E2D7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A5FFD20-A9CB-47DB-8AC3-87A6D7FDDE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8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995CACF-F3C9-49A7-85C2-734539286C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1978" y="5637778"/>
            <a:ext cx="5073603" cy="406265"/>
          </a:xfrm>
          <a:prstGeom prst="rect">
            <a:avLst/>
          </a:prstGeom>
          <a:noFill/>
        </p:spPr>
        <p:txBody>
          <a:bodyPr wrap="square" lIns="0" tIns="91440" rIns="0" bIns="91440" rtlCol="0" anchor="t" anchorCtr="0">
            <a:spAutoFit/>
          </a:bodyPr>
          <a:lstStyle>
            <a:lvl1pPr marL="0" indent="0" algn="r">
              <a:buNone/>
              <a:defRPr lang="en-US" sz="1600" kern="1200" spc="1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dirty="0"/>
              <a:t>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397F5CA-CC20-4C50-A642-DA59D7226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630210" y="4883684"/>
            <a:ext cx="5075372" cy="710964"/>
          </a:xfrm>
          <a:prstGeom prst="rect">
            <a:avLst/>
          </a:prstGeom>
          <a:noFill/>
        </p:spPr>
        <p:txBody>
          <a:bodyPr vert="horz" wrap="square" lIns="0" tIns="91440" rIns="0" bIns="91440" rtlCol="0" anchor="b" anchorCtr="0">
            <a:spAutoFit/>
          </a:bodyPr>
          <a:lstStyle>
            <a:lvl1pPr algn="r">
              <a:defRPr lang="en-US" sz="3800" kern="1200" noProof="0" dirty="0">
                <a:solidFill>
                  <a:schemeClr val="tx1"/>
                </a:solidFill>
                <a:ea typeface="+mn-ea"/>
              </a:defRPr>
            </a:lvl1pPr>
          </a:lstStyle>
          <a:p>
            <a:pPr marL="0" lvl="0" algn="r" defTabSz="914400">
              <a:lnSpc>
                <a:spcPct val="90000"/>
              </a:lnSpc>
              <a:spcAft>
                <a:spcPts val="200"/>
              </a:spcAft>
            </a:pPr>
            <a:r>
              <a:rPr lang="en-US" noProof="0" dirty="0"/>
              <a:t>Presentation 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D6D6C0-4B45-4820-B84E-B506C3F6623B}"/>
              </a:ext>
            </a:extLst>
          </p:cNvPr>
          <p:cNvCxnSpPr>
            <a:cxnSpLocks/>
          </p:cNvCxnSpPr>
          <p:nvPr/>
        </p:nvCxnSpPr>
        <p:spPr>
          <a:xfrm flipH="1">
            <a:off x="3634353" y="5592363"/>
            <a:ext cx="5075374" cy="0"/>
          </a:xfrm>
          <a:prstGeom prst="line">
            <a:avLst/>
          </a:prstGeom>
          <a:ln w="9525" cap="sq">
            <a:solidFill>
              <a:schemeClr val="accent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5290138-6D0A-45FE-9B62-D5B9205EE5EE}"/>
              </a:ext>
            </a:extLst>
          </p:cNvPr>
          <p:cNvSpPr/>
          <p:nvPr/>
        </p:nvSpPr>
        <p:spPr bwMode="gray">
          <a:xfrm rot="16200000">
            <a:off x="7038172" y="3250349"/>
            <a:ext cx="3793715" cy="357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30DCAC-21AF-42C4-9A28-514556CFD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5990083" y="581233"/>
            <a:ext cx="2715499" cy="7589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BE781A6-05F4-4478-97BF-E0CF236080E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33" r="77670"/>
          <a:stretch/>
        </p:blipFill>
        <p:spPr>
          <a:xfrm>
            <a:off x="-1" y="566065"/>
            <a:ext cx="3538097" cy="57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48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92B1BF-28F6-4844-8E5E-01EB638FE72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3881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2.xml"/><Relationship Id="rId15" Type="http://schemas.openxmlformats.org/officeDocument/2006/relationships/tags" Target="../tags/tag3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2.emf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7B823948-C8BC-4DDC-BFA1-F25EE97AD3B3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83187985"/>
              </p:ext>
            </p:extLst>
          </p:nvPr>
        </p:nvGraphicFramePr>
        <p:xfrm>
          <a:off x="1589" y="164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7B823948-C8BC-4DDC-BFA1-F25EE97AD3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9" y="164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17F23A7-24A7-497E-BB1F-85A26570FD8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rgbClr val="C331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00" b="0" i="0" kern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C370E3-CF6A-4D97-8AD5-089BA3E27527}"/>
              </a:ext>
            </a:extLst>
          </p:cNvPr>
          <p:cNvCxnSpPr/>
          <p:nvPr/>
        </p:nvCxnSpPr>
        <p:spPr>
          <a:xfrm>
            <a:off x="160020" y="562214"/>
            <a:ext cx="882396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9A985053-DDB2-42CC-9576-256F9E1F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81949"/>
            <a:ext cx="8823960" cy="476402"/>
          </a:xfrm>
          <a:prstGeom prst="rect">
            <a:avLst/>
          </a:prstGeom>
        </p:spPr>
        <p:txBody>
          <a:bodyPr vert="horz" lIns="0" tIns="45720" rIns="0" bIns="18288" rtlCol="0" anchor="t" anchorCtr="0">
            <a:noAutofit/>
          </a:bodyPr>
          <a:lstStyle/>
          <a:p>
            <a:pPr marL="0" lvl="0"/>
            <a:r>
              <a:rPr lang="en-US" noProof="0" dirty="0"/>
              <a:t>SLIDE 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527956-E83A-47E0-A8F0-987241010AAF}"/>
              </a:ext>
            </a:extLst>
          </p:cNvPr>
          <p:cNvCxnSpPr>
            <a:cxnSpLocks/>
          </p:cNvCxnSpPr>
          <p:nvPr/>
        </p:nvCxnSpPr>
        <p:spPr>
          <a:xfrm>
            <a:off x="454491" y="6598136"/>
            <a:ext cx="8275320" cy="0"/>
          </a:xfrm>
          <a:prstGeom prst="line">
            <a:avLst/>
          </a:prstGeom>
          <a:ln w="952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9">
            <a:extLst>
              <a:ext uri="{FF2B5EF4-FFF2-40B4-BE49-F238E27FC236}">
                <a16:creationId xmlns:a16="http://schemas.microsoft.com/office/drawing/2014/main" id="{220D5230-216B-47C2-AEBB-D8CFF7840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68" y="6498625"/>
            <a:ext cx="2514600" cy="221599"/>
          </a:xfrm>
          <a:prstGeom prst="rect">
            <a:avLst/>
          </a:prstGeom>
          <a:noFill/>
        </p:spPr>
        <p:txBody>
          <a:bodyPr vert="horz" wrap="square" lIns="0" tIns="18288" rIns="0" bIns="18288" rtlCol="0" anchor="ctr">
            <a:spAutoFit/>
          </a:bodyPr>
          <a:lstStyle>
            <a:lvl1pPr marL="0" indent="0" algn="l">
              <a:buClr>
                <a:schemeClr val="accent1"/>
              </a:buClr>
              <a:buFont typeface="Wingdings 3" pitchFamily="18" charset="2"/>
              <a:buNone/>
              <a:defRPr lang="en-US" sz="600" u="none" strike="noStrike" kern="0" cap="all" spc="100" baseline="0" dirty="0">
                <a:solidFill>
                  <a:schemeClr val="accent2"/>
                </a:solidFill>
                <a:uFill>
                  <a:solidFill>
                    <a:schemeClr val="tx2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FOOTER ALL CAP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BEEB6E2A-1563-43CE-9948-D57D6580B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374" y="6529556"/>
            <a:ext cx="227606" cy="137160"/>
          </a:xfrm>
          <a:prstGeom prst="rect">
            <a:avLst/>
          </a:prstGeom>
        </p:spPr>
        <p:txBody>
          <a:bodyPr vert="horz" lIns="0" tIns="18288" rIns="0" bIns="18288" rtlCol="0" anchor="ctr"/>
          <a:lstStyle>
            <a:lvl1pPr algn="r">
              <a:defRPr lang="en-US" sz="650" smtClean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C094185C-1F9E-4EDB-A688-258533A032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483F20-0475-4D46-92FD-A1A83EB07A63}"/>
              </a:ext>
            </a:extLst>
          </p:cNvPr>
          <p:cNvSpPr/>
          <p:nvPr/>
        </p:nvSpPr>
        <p:spPr>
          <a:xfrm>
            <a:off x="3207581" y="6630196"/>
            <a:ext cx="2728838" cy="109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spc="200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SIXTH STREET HIGHLY CONFIDENTIAL  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E453D8-EF2C-4F34-B85D-62E9446D1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0020" y="6483744"/>
            <a:ext cx="17200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7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290" rtl="0" eaLnBrk="1" latinLnBrk="0" hangingPunct="1">
        <a:spcBef>
          <a:spcPct val="0"/>
        </a:spcBef>
        <a:buNone/>
        <a:tabLst>
          <a:tab pos="457200" algn="l"/>
        </a:tabLst>
        <a:defRPr lang="en-US" sz="2200" kern="0" cap="all" spc="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SzPct val="100000"/>
        <a:buFont typeface="Wingdings" panose="05000000000000000000" pitchFamily="2" charset="2"/>
        <a:buChar char="§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1pPr>
      <a:lvl2pPr marL="4000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–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2pPr>
      <a:lvl3pPr marL="57150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•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3pPr>
      <a:lvl4pPr marL="74295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–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4pPr>
      <a:lvl5pPr marL="914400" indent="-171450" algn="l" defTabSz="91429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808080"/>
        </a:buClr>
        <a:buFont typeface="Arial" pitchFamily="34" charset="0"/>
        <a:buChar char="•"/>
        <a:defRPr sz="1800" kern="0" spc="0" baseline="0">
          <a:solidFill>
            <a:srgbClr val="C0C0C0"/>
          </a:solidFill>
          <a:latin typeface="Calibri" panose="020F0502020204030204" pitchFamily="34" charset="0"/>
          <a:ea typeface="+mn-ea"/>
          <a:cs typeface="+mn-cs"/>
        </a:defRPr>
      </a:lvl5pPr>
      <a:lvl6pPr marL="2514298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E7EFDC-4E40-94F6-AB49-93934906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9446" y="4979095"/>
            <a:ext cx="4016136" cy="615553"/>
          </a:xfrm>
        </p:spPr>
        <p:txBody>
          <a:bodyPr/>
          <a:lstStyle/>
          <a:p>
            <a:r>
              <a:rPr lang="en-US" sz="2800" dirty="0"/>
              <a:t>Conduit CMBS B-Piece Overview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00A3B977-BC21-8C9F-E827-9395C32A7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1979" y="5531845"/>
            <a:ext cx="5073603" cy="1328569"/>
          </a:xfrm>
        </p:spPr>
        <p:txBody>
          <a:bodyPr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October 2026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Topic: Conduit CMBS First Loss Investing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Scope: Structure, Control Rights, Loss Mechanics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Format: Educational Primer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Illustrative Example: $1.0B Conduit Pool</a:t>
            </a:r>
          </a:p>
        </p:txBody>
      </p:sp>
    </p:spTree>
    <p:extLst>
      <p:ext uri="{BB962C8B-B14F-4D97-AF65-F5344CB8AC3E}">
        <p14:creationId xmlns:p14="http://schemas.microsoft.com/office/powerpoint/2010/main" val="2295084550"/>
      </p:ext>
    </p:extLst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Conduit CMBS B-Piece?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" y="603504"/>
            <a:ext cx="8823960" cy="121615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The B-piece is the most subordinate, below investment grade and unrated portion of a conduit CMBS trust. It absorbs the first dollar of pool losses and typically represents 5% to 9% of trust face value, purchased at a deep discount to par.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The B-piece buyer is a specialized third party investor that underwrites every loan in the pool before pricing and, in exchange for first loss exposure, receives control rights over the special servicing of distressed loans.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Since December 2016, the B-piece has generally doubled as the horizontal risk retention interest required under Regulation RR, which ties the buyer to the deal for at least 5 years.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" y="1929384"/>
          <a:ext cx="8823959" cy="3794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70635"/>
                <a:gridCol w="7853324"/>
              </a:tblGrid>
              <a:tr h="9601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Position in the stack: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Classes rated BB+ and below plus the unrated first loss class (and frequently BBB- classes needed to satisfy risk retention), sitting beneath $0.90 to $0.95 of investment grade bonds per $1.00 of pool balance.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Collateral: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A diversified pool of 30 to 80 fixed rate, 10 year commercial mortgage loans across property types and geographies, contributed by multiple originators.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Economics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Pricing: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Purchased at a significant discount (illustratively 35% to 85% of par by class), generating mid teens unlevered yields when realized losses stay at or below underwritten levels.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Return drivers: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Coupon on a full face balance bought at a discount, pull to par at loan maturity, and the timing and severity of realized losses.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Investors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Who buys: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A concentrated group of dedicated real estate credit managers, several of which own or are affiliated with a rated special servicer.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Holding profile: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A buy and hold, illiquid position with limited secondary trading, given the 5 year Regulation RR transfer restriction and the hedging prohibition.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Market discipline: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The B-piece buyer acts as the final credit underwriter of the pool and can remove loans before pricing ("kick outs"), which influences pool quality for every bondholder.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Control: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The B-piece buyer typically appoints the Directing Certificateholder and the special servicer, steering workout outcomes on defaulted loans.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0020" y="6272784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Ranges are indicative of post 2016 conduit transactions and vary by deal; refer to each transaction's Pooling and Servicing Agreement (PSA) for governing terms.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Conduit Capital Structure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" y="603504"/>
            <a:ext cx="8823960" cy="109728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A $1.0B illustrative conduit is tranched into nine principal classes. Classes A-1 through A-5 carry 30.0% credit enhancement, while the H-RR first loss class carries 0.0%.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The horizontal risk retention (HRR) interest comprises Classes E-RR through H-RR, totaling $95.0M of face (9.5% of the pool), purchased for $57.2M (60.3% of par), approximately 5.0% of the fair value of all classes.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Interest and principal are paid top down, while realized losses are written off bottom up. The B-piece is therefore the first and only class impaired until losses exceed 9.5% of the pool.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" y="1819655"/>
            <a:ext cx="2148840" cy="18288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80808"/>
                </a:solidFill>
                <a:latin typeface="Calibri"/>
              </a:rPr>
              <a:t>Capital Stack (Not to Scale)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" y="2039112"/>
            <a:ext cx="2148840" cy="1115568"/>
          </a:xfrm>
          <a:prstGeom prst="rect">
            <a:avLst/>
          </a:prstGeom>
          <a:solidFill>
            <a:srgbClr val="0F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A-1 to A-5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(AAA)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$700.0M  |  30.0% 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" y="3182112"/>
            <a:ext cx="2148840" cy="338328"/>
          </a:xfrm>
          <a:prstGeom prst="rect">
            <a:avLst/>
          </a:prstGeom>
          <a:solidFill>
            <a:srgbClr val="0F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A-S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(AAA)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$85.0M  |  21.5% 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" y="3547872"/>
            <a:ext cx="2148840" cy="301751"/>
          </a:xfrm>
          <a:prstGeom prst="rect">
            <a:avLst/>
          </a:prstGeom>
          <a:solidFill>
            <a:srgbClr val="3E5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B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(AA-)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$45.0M  |  17.0% 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" y="3877056"/>
            <a:ext cx="2148840" cy="301751"/>
          </a:xfrm>
          <a:prstGeom prst="rect">
            <a:avLst/>
          </a:prstGeom>
          <a:solidFill>
            <a:srgbClr val="3E5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(A-)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$40.0M  |  13.0% 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" y="4206240"/>
            <a:ext cx="2148840" cy="301751"/>
          </a:xfrm>
          <a:prstGeom prst="rect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D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(BBB)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$35.0M  |  9.5% 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" y="4535424"/>
            <a:ext cx="2148840" cy="3200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E-RR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(BBB-)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$30.0M  |  6.5% 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" y="4882896"/>
            <a:ext cx="2148840" cy="301751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F-RR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(BB-)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$20.0M  |  4.5% 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" y="5212080"/>
            <a:ext cx="2148840" cy="283464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G-RR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(B-)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$10.0M  |  3.5% 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" y="5522976"/>
            <a:ext cx="2148840" cy="338328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H-RR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(NR)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EFEFE"/>
                </a:solidFill>
                <a:latin typeface="Calibri"/>
              </a:rPr>
              <a:t>$35.0M  |  0.0% CE</a:t>
            </a:r>
          </a:p>
        </p:txBody>
      </p:sp>
      <p:sp>
        <p:nvSpPr>
          <p:cNvPr id="14" name="Right Brace 13"/>
          <p:cNvSpPr/>
          <p:nvPr/>
        </p:nvSpPr>
        <p:spPr>
          <a:xfrm>
            <a:off x="2345436" y="4535423"/>
            <a:ext cx="109728" cy="1325880"/>
          </a:xfrm>
          <a:prstGeom prst="rightBrace">
            <a:avLst/>
          </a:prstGeom>
          <a:noFill/>
          <a:ln w="15875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4308" y="4969764"/>
            <a:ext cx="566928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5587"/>
                </a:solidFill>
                <a:latin typeface="Calibri"/>
              </a:rPr>
              <a:t>B-PIECE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5587"/>
                </a:solidFill>
                <a:latin typeface="Calibri"/>
              </a:rPr>
              <a:t>(HRR)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086100" y="1837943"/>
          <a:ext cx="5897880" cy="3566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7240"/>
                <a:gridCol w="713232"/>
                <a:gridCol w="603504"/>
                <a:gridCol w="603504"/>
                <a:gridCol w="658368"/>
                <a:gridCol w="640080"/>
                <a:gridCol w="1901952"/>
              </a:tblGrid>
              <a:tr h="274320">
                <a:tc gridSpan="7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Illustrative $1.0B Conduit Tranching</a:t>
                      </a:r>
                    </a:p>
                  </a:txBody>
                  <a:tcPr>
                    <a:solidFill>
                      <a:srgbClr val="0E2E5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Face ($M)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% of Pool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Credit Enh.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Illus. Price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Holder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A-1 to A-5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AAA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$700.0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70.0%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30.0%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~Par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Asset managers, insurers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A-S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AAA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$85.0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21.5%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~Par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Insurers, banks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AA-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$45.0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17.0%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~Par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Insurers, CLO/funds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$40.0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13.0%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~Par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Credit funds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$35.0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~Par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Credit funds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E-RR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BBB-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$30.0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85.0%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B-piece buyer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F-RR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BB-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$20.0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70.0%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B-piece buyer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G-RR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$10.0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55.0%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B-piece buyer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H-RR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NR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$35.0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35.0%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B-piece buyer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E1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Total HRR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BBB- to NR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$95.0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60.3%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$57.2M cost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Total Trust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$1,000.0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086100" y="5477256"/>
            <a:ext cx="5897880" cy="6858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900" b="1" i="0">
                <a:solidFill>
                  <a:srgbClr val="080808"/>
                </a:solidFill>
                <a:latin typeface="Calibri"/>
              </a:rPr>
              <a:t>IO strips: </a:t>
            </a:r>
            <a:r>
              <a:rPr sz="900" b="0" i="0">
                <a:solidFill>
                  <a:srgbClr val="080808"/>
                </a:solidFill>
                <a:latin typeface="Calibri"/>
              </a:rPr>
              <a:t>Interest only classes (X-A, X-B, X-D) are carved from excess spread and sit outside the principal waterfall shown here.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900" b="1" i="0">
                <a:solidFill>
                  <a:srgbClr val="080808"/>
                </a:solidFill>
                <a:latin typeface="Calibri"/>
              </a:rPr>
              <a:t>Shaded rows: </a:t>
            </a:r>
            <a:r>
              <a:rPr sz="900" b="0" i="0">
                <a:solidFill>
                  <a:srgbClr val="080808"/>
                </a:solidFill>
                <a:latin typeface="Calibri"/>
              </a:rPr>
              <a:t>Classes acquired by the B-piece buyer as the eligible horizontal residual interest.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" y="6272784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Illustrative only. Sizing, ratings and pricing are representative of recent conduit transactions and are not drawn from a specific deal. CE = credit enhancement (subordination beneath each class as a % of pool).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the B-Piece Buyer Across the Deal Lifecycle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" y="603504"/>
            <a:ext cx="8823960" cy="73152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The B-piece buyer is involved from pool assembly through final liquidation. Its influence is greatest before pricing, when it can remove loans, and after a default, when it directs the special servicer.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Each transaction party has a defined role under the PSA. The operating advisor and asset representations reviewer act as the primary checks on B-piece buyer and special servicer discretion.</a:t>
            </a:r>
          </a:p>
        </p:txBody>
      </p:sp>
      <p:sp>
        <p:nvSpPr>
          <p:cNvPr id="4" name="Pentagon 3"/>
          <p:cNvSpPr/>
          <p:nvPr/>
        </p:nvSpPr>
        <p:spPr>
          <a:xfrm>
            <a:off x="160020" y="1472184"/>
            <a:ext cx="1837944" cy="384048"/>
          </a:xfrm>
          <a:prstGeom prst="homePlate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1. Pool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" y="1901952"/>
            <a:ext cx="1600200" cy="56692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80808"/>
                </a:solidFill>
                <a:latin typeface="Calibri"/>
              </a:rPr>
              <a:t>Loan sellers aggregate 30 to 80 loans; preliminary pool is shared with B-piece bidders</a:t>
            </a:r>
          </a:p>
        </p:txBody>
      </p:sp>
      <p:sp>
        <p:nvSpPr>
          <p:cNvPr id="6" name="Chevron 5"/>
          <p:cNvSpPr/>
          <p:nvPr/>
        </p:nvSpPr>
        <p:spPr>
          <a:xfrm>
            <a:off x="1924812" y="1472184"/>
            <a:ext cx="1837944" cy="384048"/>
          </a:xfrm>
          <a:prstGeom prst="chevron">
            <a:avLst/>
          </a:prstGeom>
          <a:solidFill>
            <a:srgbClr val="0F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2. Diligence &amp; Kick 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9676" y="1901952"/>
            <a:ext cx="1600200" cy="56692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80808"/>
                </a:solidFill>
                <a:latin typeface="Calibri"/>
              </a:rPr>
              <a:t>Buyer independently underwrites each loan, visits assets, and removes or resizes loans it will not accept</a:t>
            </a:r>
          </a:p>
        </p:txBody>
      </p:sp>
      <p:sp>
        <p:nvSpPr>
          <p:cNvPr id="8" name="Chevron 7"/>
          <p:cNvSpPr/>
          <p:nvPr/>
        </p:nvSpPr>
        <p:spPr>
          <a:xfrm>
            <a:off x="3689604" y="1472184"/>
            <a:ext cx="1837944" cy="384048"/>
          </a:xfrm>
          <a:prstGeom prst="chevron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3. Pricing &amp; Closing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4468" y="1901952"/>
            <a:ext cx="1600200" cy="56692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80808"/>
                </a:solidFill>
                <a:latin typeface="Calibri"/>
              </a:rPr>
              <a:t>Buyer purchases the HRR at a negotiated discount; rating agencies size subordination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5454396" y="1472184"/>
            <a:ext cx="1837944" cy="384048"/>
          </a:xfrm>
          <a:prstGeom prst="chevron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4. Surveillance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9260" y="1901952"/>
            <a:ext cx="1600200" cy="56692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80808"/>
                </a:solidFill>
                <a:latin typeface="Calibri"/>
              </a:rPr>
              <a:t>Master servicer collects payments and advances; buyer monitors watchlist loans</a:t>
            </a:r>
          </a:p>
        </p:txBody>
      </p:sp>
      <p:sp>
        <p:nvSpPr>
          <p:cNvPr id="12" name="Chevron 11"/>
          <p:cNvSpPr/>
          <p:nvPr/>
        </p:nvSpPr>
        <p:spPr>
          <a:xfrm>
            <a:off x="7219188" y="1472184"/>
            <a:ext cx="1837944" cy="384048"/>
          </a:xfrm>
          <a:prstGeom prst="chevron">
            <a:avLst/>
          </a:prstGeom>
          <a:solidFill>
            <a:srgbClr val="0F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5. Workout &amp;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4052" y="1901952"/>
            <a:ext cx="1600200" cy="56692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80808"/>
                </a:solidFill>
                <a:latin typeface="Calibri"/>
              </a:rPr>
              <a:t>Special servicer, appointed by the buyer, modifies, forecloses or sells defaulted loans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60020" y="2551176"/>
          <a:ext cx="8823960" cy="30906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3840480"/>
                <a:gridCol w="3154680"/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Party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Primary Role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Relationship to B-Piece Buyer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Directing Certificateholder (DCH)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Majority holder of the controlling class; exercises consent and consultation rights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Typically the B-piece buyer or its designee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Special Servicer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Manages loans after a servicing transfer event: modifications, foreclosure, REO sales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Appointed by, and removable without cause by, the DCH during the control period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Master Servicer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Collects payments, makes P&amp;I and servicing advances, handles routine borrower requests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Independent; refers major decisions on performing loans to the special servicer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Operating Advisor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Reviews special servicer actions; consults on major decisions once control shifts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Independent check required by Regulation 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Asset Representations Reviewer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Reviews loans for breaches of seller representations once delinquency triggers are met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Independent; can lead to loan repurchase demands on sellers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Trustee / Certificate Administrator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Holds loans for the trust; calculates and distributes cash flows to classes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Independent; reports appraisal reductions and losses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Rating Agencies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Size credit enhancement for rated classes; monitor post closing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B-piece kick outs can change pool composition before final sizing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60020" y="6272784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Illustrative roles based on standard post 2016 conduit PSA conventions. P&amp;I = principal and interest; REO = real estate owned.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&amp; Decision Making Rights (1 of 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" y="603504"/>
            <a:ext cx="8823960" cy="11521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Control in a conduit trust belongs to the controlling class: the most subordinate control eligible class whose balance, net of appraisal reductions and realized losses, is at least 25% of its initial balance.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Rights step down across three periods as appraisal reductions and losses erode the B-piece. The Directing Certificateholder moves from binding consent, to nonbinding consultation, to no role at all.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In the illustrative structure, control terminates once appraisal reductions exceed $60.0M (6.0% of the pool), which would reduce F-RR below 25% of its $20.0M initial balance after fully eroding G-RR and H-RR.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" y="1892807"/>
          <a:ext cx="8823960" cy="33467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34440"/>
                <a:gridCol w="2377440"/>
                <a:gridCol w="2606040"/>
                <a:gridCol w="2606040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Control Period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Subordinate Control (Consultation) Period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Senior Consultation Period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Controlling class ≥ 25% of initial balance, net of appraisal reductions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Control Termination Event: no control eligible class ≥ 25% net of appraisal reductions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Consultation Termination Event: no control eligible class ≥ 25% without regard to appraisal reductions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DCH Rights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Binding consent over major decisions and asset status reports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Nonbinding consultation on major decisions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None; DCH loses consultation rights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Special Servicer Replacement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DCH may replace with or without cause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Certificateholder vote (majority of a quorum); DCH cannot act alone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Certificateholder vote, or operating advisor recommendation followed by vote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Operating Advisor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Reviews special servicer activity; no consultation rights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Consults on major decisions; may recommend special servicer replacement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Consults on major decisions; may recommend special servicer replacement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Practical Effect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B-piece buyer drives workout strategy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B-piece buyer is heard but does not decide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Senior bondholders and independent parties drive outcomes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>
            <a:off x="1394460" y="5376672"/>
            <a:ext cx="7589520" cy="292608"/>
          </a:xfrm>
          <a:prstGeom prst="rightArrow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80808"/>
                </a:solidFill>
                <a:latin typeface="Calibri"/>
              </a:rPr>
              <a:t>Increasing appraisal reductions and realized losses shift influence from the B-piece buyer to senior classes and independent parties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" y="6272784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Illustrative; thresholds and definitions follow common post 2016 PSA conventions and vary by transaction. Control eligible classes assumed to be F-RR, G-RR and H-RR.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&amp; Decision Making Rights (2 of 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0020" y="603504"/>
          <a:ext cx="8823959" cy="5486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70635"/>
                <a:gridCol w="7853324"/>
              </a:tblGrid>
              <a:tr h="15544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Major Decisions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Consent scope: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During the control period, the special servicer generally needs DCH consent before taking major decisions on specially serviced loans.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Monetary modifications (rate, maturity extensions, principal forgiveness), forbearance, and discounted payoffs.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Foreclosure, deed in lieu, REO sale terms, and acceptance of substitute collateral or releases.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Assumptions, transfers of interest, material lease approvals, and replacement of property managers.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Appraisal Reductions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Calculation: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Following an appraisal reduction event (for example 60 days delinquent or a modification), the appraisal reduction amount generally equals loan balance plus advances and accrued interest, less 90% of appraised value.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Control impact: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Appraisal reductions notionally reduce the controlling class balance, which can shift control before any loss is realized. The affected class may request a second appraisal at its own expense to challenge the reduction.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Cash impact: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Appraisal reductions also cut P&amp;I advances (an ASER), creating interest shortfalls that hit the lowest classes first.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Servicer Economics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Special servicer fees: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Typically 25 bps per annum on specially serviced balances, a 1.0% workout fee on collections from corrected loans, and a 1.0% liquidation fee on liquidation proceeds, subject to caps.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Alignment: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Because these fees reduce cash available to the trust, they are effectively borne by the B-piece first; the servicing standard requires action in the best interest of all certificateholders as a collective whole.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Limitations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Excluded loans: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The DCH loses control and consultation rights on any loan where it, or an affiliate, is the borrower or a borrower affiliate.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Nonserviced loans: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For pari passu loans split across multiple trusts, control sits with the controlling holder of the lead securitization; other trusts receive only consultation rights.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Loan level control: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On loans with subordinate notes held outside the trust (A/B structures), the B note holder typically controls that loan until it is appraised out.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0020" y="6217920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Fee levels and thresholds are representative market conventions, not terms of any specific transaction. ASER = appraisal subordinate entitlement reduction.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 Waterfall &amp; Loss Allocation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" y="603504"/>
            <a:ext cx="8823960" cy="749808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Available funds pay interest to each class sequentially, then principal sequentially to the most senior outstanding class. Cash flow therefore reaches the B-piece last.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Realized losses run in reverse order: each loss is written off against the most junior outstanding class, starting with H-RR, until that class balance reaches zero.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Before a loss is realized, appraisal reductions and the resulting interest shortfalls already reduce B-piece cash flow and can shift control to the next class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" y="1536192"/>
            <a:ext cx="32918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80808"/>
                </a:solidFill>
                <a:latin typeface="Calibri"/>
              </a:rPr>
              <a:t>Payments of Interest &amp;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2140" y="1536192"/>
            <a:ext cx="32918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80808"/>
                </a:solidFill>
                <a:latin typeface="Calibri"/>
              </a:rPr>
              <a:t>Allocation of Realized Losses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" y="1828800"/>
            <a:ext cx="2743200" cy="347472"/>
          </a:xfrm>
          <a:prstGeom prst="rect">
            <a:avLst/>
          </a:prstGeom>
          <a:solidFill>
            <a:srgbClr val="0F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A-1 to A-5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(AAA)  $700.0M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66460" y="1828800"/>
            <a:ext cx="2743200" cy="347472"/>
          </a:xfrm>
          <a:prstGeom prst="rect">
            <a:avLst/>
          </a:prstGeom>
          <a:solidFill>
            <a:srgbClr val="0F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A-1 to A-5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(AAA)  $700.0M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" y="2231136"/>
            <a:ext cx="2743200" cy="347472"/>
          </a:xfrm>
          <a:prstGeom prst="rect">
            <a:avLst/>
          </a:prstGeom>
          <a:solidFill>
            <a:srgbClr val="0F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A-S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(AAA)  $85.0M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6460" y="2231136"/>
            <a:ext cx="2743200" cy="347472"/>
          </a:xfrm>
          <a:prstGeom prst="rect">
            <a:avLst/>
          </a:prstGeom>
          <a:solidFill>
            <a:srgbClr val="0F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A-S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(AAA)  $85.0M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" y="2633472"/>
            <a:ext cx="2743200" cy="347472"/>
          </a:xfrm>
          <a:prstGeom prst="rect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B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(AA-)  $45.0M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6460" y="2633472"/>
            <a:ext cx="2743200" cy="347472"/>
          </a:xfrm>
          <a:prstGeom prst="rect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B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(AA-)  $45.0M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" y="3035808"/>
            <a:ext cx="2743200" cy="347472"/>
          </a:xfrm>
          <a:prstGeom prst="rect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C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(A-)  $40.0M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6460" y="3035808"/>
            <a:ext cx="2743200" cy="347472"/>
          </a:xfrm>
          <a:prstGeom prst="rect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C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(A-)  $40.0M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" y="3438144"/>
            <a:ext cx="2743200" cy="347472"/>
          </a:xfrm>
          <a:prstGeom prst="rect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D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(BBB)  $35.0M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6460" y="3438144"/>
            <a:ext cx="2743200" cy="347472"/>
          </a:xfrm>
          <a:prstGeom prst="rect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D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(BBB)  $35.0M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" y="3840480"/>
            <a:ext cx="2743200" cy="3474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E-RR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(BBB-)  $30.0M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66460" y="3840480"/>
            <a:ext cx="2743200" cy="3474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E-RR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(BBB-)  $30.0M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" y="4242816"/>
            <a:ext cx="2743200" cy="3474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F-RR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(BB-)  $20.0M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66460" y="4242816"/>
            <a:ext cx="2743200" cy="3474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F-RR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(BB-)  $20.0M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" y="4645152"/>
            <a:ext cx="2743200" cy="3474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G-RR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(B-)  $10.0M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6460" y="4645152"/>
            <a:ext cx="2743200" cy="3474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G-RR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(B-)  $10.0M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" y="5047488"/>
            <a:ext cx="2743200" cy="3474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H-RR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(NR)  $35.0M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6460" y="5047488"/>
            <a:ext cx="2743200" cy="3474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EFEFE"/>
                </a:solidFill>
                <a:latin typeface="Calibri"/>
              </a:rPr>
              <a:t>Class H-RR  </a:t>
            </a:r>
            <a:r>
              <a:rPr sz="900" b="0" i="0">
                <a:solidFill>
                  <a:srgbClr val="FEFEFE"/>
                </a:solidFill>
                <a:latin typeface="Calibri"/>
              </a:rPr>
              <a:t>(NR)  $35.0M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87451" y="1828800"/>
            <a:ext cx="182880" cy="3566160"/>
          </a:xfrm>
          <a:prstGeom prst="downArrow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8773668" y="1828800"/>
            <a:ext cx="182880" cy="3566160"/>
          </a:xfrm>
          <a:prstGeom prst="upArrow">
            <a:avLst/>
          </a:prstGeom>
          <a:solidFill>
            <a:srgbClr val="858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4700" y="1828800"/>
            <a:ext cx="2514600" cy="356616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152400" indent="-152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900" b="1" i="0">
                <a:solidFill>
                  <a:srgbClr val="080808"/>
                </a:solidFill>
                <a:latin typeface="Calibri"/>
              </a:rPr>
              <a:t>Sequential pay: </a:t>
            </a:r>
            <a:r>
              <a:rPr sz="900" b="0" i="0">
                <a:solidFill>
                  <a:srgbClr val="080808"/>
                </a:solidFill>
                <a:latin typeface="Calibri"/>
              </a:rPr>
              <a:t>Scheduled and unscheduled principal retires Class A first; the B-piece receives principal only after all senior classes are repaid, typically at loan maturity.</a:t>
            </a:r>
          </a:p>
          <a:p>
            <a:pPr marL="152400" indent="-1524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900" b="1" i="0">
                <a:solidFill>
                  <a:srgbClr val="080808"/>
                </a:solidFill>
                <a:latin typeface="Calibri"/>
              </a:rPr>
              <a:t>Interest shortfalls: </a:t>
            </a:r>
            <a:r>
              <a:rPr sz="900" b="0" i="0">
                <a:solidFill>
                  <a:srgbClr val="080808"/>
                </a:solidFill>
                <a:latin typeface="Calibri"/>
              </a:rPr>
              <a:t>ASERs, special servicing fees and nonrecoverable advance determinations reduce interest to the most junior classes first.</a:t>
            </a:r>
          </a:p>
          <a:p>
            <a:pPr marL="152400" indent="-1524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900" b="1" i="0">
                <a:solidFill>
                  <a:srgbClr val="080808"/>
                </a:solidFill>
                <a:latin typeface="Calibri"/>
              </a:rPr>
              <a:t>Advance reimbursement: </a:t>
            </a:r>
            <a:r>
              <a:rPr sz="900" b="0" i="0">
                <a:solidFill>
                  <a:srgbClr val="080808"/>
                </a:solidFill>
                <a:latin typeface="Calibri"/>
              </a:rPr>
              <a:t>Servicer advances and advance interest are repaid from liquidation proceeds before any principal is distributed, increasing loss severity.</a:t>
            </a:r>
          </a:p>
          <a:p>
            <a:pPr marL="152400" indent="-1524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900" b="1" i="0">
                <a:solidFill>
                  <a:srgbClr val="080808"/>
                </a:solidFill>
                <a:latin typeface="Calibri"/>
              </a:rPr>
              <a:t>Write down order: </a:t>
            </a:r>
            <a:r>
              <a:rPr sz="900" b="0" i="0">
                <a:solidFill>
                  <a:srgbClr val="080808"/>
                </a:solidFill>
                <a:latin typeface="Calibri"/>
              </a:rPr>
              <a:t>H-RR, then G-RR, F-RR, E-RR, and only then investment grade classes.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" y="6272784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Illustrative waterfall; actual priority of payments, including treatment of IO classes, yield maintenance and excess interest, is governed by each transaction's PSA.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Loss Scenario: Single Loan Default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" y="603504"/>
            <a:ext cx="8823960" cy="107899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A $60.0M office loan (6.0% of the pool) transfers to special servicing after a major tenant vacates. A new appraisal values the property at $35.0M, down from $100.0M at origination (60.0% LTV).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The resulting $31.5M appraisal reduction cuts H-RR's notional balance to $3.5M (10.0% of initial), below the 25% threshold. G-RR becomes the controlling class; because the B-piece buyer holds both, it retains control.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The REO is sold 18 months later for $36.0M. After costs, fees and advance reimbursement, the trust realizes a $29.36M loss (48.9% severity), all absorbed by H-RR.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" y="1819655"/>
          <a:ext cx="4389120" cy="39822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1480"/>
                <a:gridCol w="3063240"/>
                <a:gridCol w="914400"/>
              </a:tblGrid>
              <a:tr h="306324">
                <a:tc gridSpan="3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Loan Resolution Math</a:t>
                      </a:r>
                    </a:p>
                  </a:txBody>
                  <a:tcPr>
                    <a:solidFill>
                      <a:srgbClr val="0E2E5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Mechanic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Amount ($M)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Loan balance at transfer to special servicing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$60.00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Plus: outstanding advances and accrued interest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$3.00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Less: 90% of new appraised value ($35.0M)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($31.50)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Appraisal reduction amount (control test)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$31.50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Gross REO sale proceeds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$36.00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Less: liquidation expenses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($1.00)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Less: special servicer liquidation fee (1.0%)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($0.36)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Less: reimbursement of advances and interest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($4.00)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Net proceeds applied to principal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$30.64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Realized loss (step 1 less step 9)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$29.36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Loss severity (% of loan balance)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48.9%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6300" y="1819655"/>
          <a:ext cx="42976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86300" y="4745736"/>
            <a:ext cx="4297680" cy="9144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900" b="1" i="0">
                <a:solidFill>
                  <a:srgbClr val="080808"/>
                </a:solidFill>
                <a:latin typeface="Calibri"/>
              </a:rPr>
              <a:t>Control test: </a:t>
            </a:r>
            <a:r>
              <a:rPr sz="900" b="0" i="0">
                <a:solidFill>
                  <a:srgbClr val="080808"/>
                </a:solidFill>
                <a:latin typeface="Calibri"/>
              </a:rPr>
              <a:t>H-RR's 25% threshold is $8.75M; its $3.50M balance net of the appraisal reduction fails the test, so control moves to G-RR.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900" b="1" i="0">
                <a:solidFill>
                  <a:srgbClr val="080808"/>
                </a:solidFill>
                <a:latin typeface="Calibri"/>
              </a:rPr>
              <a:t>Post loss: </a:t>
            </a:r>
            <a:r>
              <a:rPr sz="900" b="0" i="0">
                <a:solidFill>
                  <a:srgbClr val="080808"/>
                </a:solidFill>
                <a:latin typeface="Calibri"/>
              </a:rPr>
              <a:t>H-RR's $5.64M remaining balance is 16.1% of initial; G-RR, F-RR and E-RR are untouched and senior classes see no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" y="6272784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Illustrative only. Assumes appraisal reduction calculated at transfer, 18 month resolution timeline, and advances of $4.0M at liquidation. Loan sized at $60.0M on a $100.0M origination value.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Loss Scenario: Pool Level Sensitivity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" y="603504"/>
            <a:ext cx="8823960" cy="89611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tIns="27432" bIns="27432" anchor="t"/>
          <a:lstStyle/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At a 2.0% cumulative pool loss, the base case for this illustration, H-RR absorbs the full $20.0M loss and the B-piece earns an 11.4% unlevered IRR on its $57.2M investment, compared with 13.8% with no losses.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The B-piece remains IRR positive through a 6.0% cumulative loss (4.2% IRR), at which point H-RR and G-RR are fully written off and F-RR has lost 75.0% of its balance.</a:t>
            </a:r>
          </a:p>
          <a:p>
            <a:pPr marL="152400" indent="-1524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9AA0A8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080808"/>
                </a:solidFill>
                <a:latin typeface="Calibri"/>
              </a:rPr>
              <a:t>Investment grade classes are not impaired until cumulative losses exceed 9.5% of the pool, which illustrates the leverage of the B-piece to pool credit performance.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" y="1636776"/>
          <a:ext cx="8823959" cy="27980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4519"/>
                <a:gridCol w="772160"/>
                <a:gridCol w="772160"/>
                <a:gridCol w="772160"/>
                <a:gridCol w="772160"/>
                <a:gridCol w="772160"/>
                <a:gridCol w="772160"/>
                <a:gridCol w="772160"/>
                <a:gridCol w="772160"/>
                <a:gridCol w="772160"/>
              </a:tblGrid>
              <a:tr h="233172">
                <a:tc gridSpan="10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Loss Allocation &amp; B-Piece Returns by Cumulative Pool Loss</a:t>
                      </a:r>
                    </a:p>
                  </a:txBody>
                  <a:tcPr>
                    <a:solidFill>
                      <a:srgbClr val="0E2E5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Cumulative Pool Loss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FEFEFE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858D9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Pool Loss ($M)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$10.0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$20.0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$30.0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$40.0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$50.0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$60.0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$80.0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$100.0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D Write Down (% of class)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E-RR Write Down (% of class)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F-RR Write Down (% of class)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G-RR Write Down (% of class)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H-RR Write Down (% of class)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28.6%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85.7%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HRR Principal Loss ($M)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$10.0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$20.0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$30.0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$40.0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$50.0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$60.0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$80.0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$95.0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HRR Principal Loss (% of face)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21.1%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31.6%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42.1%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52.6%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63.2%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84.2%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080808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B-Piece Unlevered IRR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13.8%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12.7%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11.4%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(2.5%)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(18.5%)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80808"/>
                      </a:solidFill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B-Piece MOIC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2.70x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2.47x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2.24x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2.01x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1.78x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1.55x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1.32x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0.86x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080808"/>
                          </a:solidFill>
                          <a:latin typeface="Calibri"/>
                        </a:rPr>
                        <a:t>0.52x</a:t>
                      </a:r>
                    </a:p>
                  </a:txBody>
                  <a:tcPr marL="36576" marR="36576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DCD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597148" y="3986783"/>
            <a:ext cx="735584" cy="196596"/>
          </a:xfrm>
          <a:prstGeom prst="rect">
            <a:avLst/>
          </a:prstGeom>
          <a:noFill/>
          <a:ln w="12700">
            <a:solidFill>
              <a:srgbClr val="0808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60020" y="4526279"/>
          <a:ext cx="8823960" cy="17099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0020" y="6272784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Illustrative. Assumes $57.2M purchase price, 6.25% pass through rate on all HRR classes, losses realized in year 5, remaining principal repaid at year 10, and no interest shortfalls from ASERs. Dashed box marks the 2.0% base case.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Considerations for B-Piece Investors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B8BD4-FDE2-F1CD-E614-2B87BA194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94185C-1F9E-4EDB-A688-258533A03247}" type="slidenum">
              <a:rPr kumimoji="0" lang="en-US" sz="650" b="0" i="0" u="none" strike="noStrike" kern="1200" cap="none" spc="0" normalizeH="0" baseline="0" noProof="0" smtClean="0">
                <a:ln>
                  <a:noFill/>
                </a:ln>
                <a:solidFill>
                  <a:srgbClr val="9AA0A8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srgbClr val="9AA0A8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0020" y="603504"/>
          <a:ext cx="8823959" cy="5669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70635"/>
                <a:gridCol w="7853324"/>
              </a:tblGrid>
              <a:tr h="56692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 cap="all">
                          <a:solidFill>
                            <a:srgbClr val="080808"/>
                          </a:solidFill>
                          <a:latin typeface="Calibri"/>
                        </a:rPr>
                        <a:t>Key Concerns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Concentrated first loss exposure: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The B-piece absorbs 100% of pool losses up to 9.5% of the pool in this illustration, so a single large loan default can impair returns materially.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Mitigant: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We believe diligence before pricing and kick out rights let the buyer exclude its least favored credits, and the deep discount purchase price provides a cushion, as returns remain positive through a 6.0% cumulative loss.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Illiquidity and hold period: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Regulation RR prohibits transfer of the HRR for 5 years (other than to a qualified successor third party purchaser) and prohibits hedging, leaving the position exposed to a full credit cycle.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Mitigant: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We view this as consistent with a hold to maturity strategy; after year 5 the position can be sold to another qualified buyer, and loan level surveillance allows early engagement on troubled credits.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Appraisal driven loss of control: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Appraisal reductions can shift control before any loss is realized, removing the buyer's ability to steer workouts at the moment control matters most.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Mitigant: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We think holding the full HRR stack (E-RR through H-RR) preserves control longer, and the controlling class can commission a second appraisal to challenge a reduction it views as overstated.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Interest shortfalls and fee leakage: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ASERs, special servicing fees, workout fees and advance interest reduce B-piece cash flow before any principal loss occurs.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Mitigant: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We believe underwriting these frictions into a base case loss and timing assumption, and pricing the bonds accordingly, addresses most of this drag.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Conflicts of interest: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B-piece buyers affiliated with the special servicer may face pressure to favor outcomes that benefit the junior classes.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Mitigant: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The servicing standard, operating advisor oversight, excluded loan provisions and certificateholder replacement rights constrain this discretion, which we view as a meaningful protection for senior investors.</a:t>
                      </a:r>
                    </a:p>
                    <a:p>
                      <a:pPr marL="1524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Pool composition and property type risk: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Office exposure and large loan concentration in recent vintages increase loss dispersion across deals.</a:t>
                      </a:r>
                    </a:p>
                    <a:p>
                      <a:pPr marL="342900" indent="-152400"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9AA0A8"/>
                        </a:buClr>
                        <a:buSzPct val="100000"/>
                        <a:buFont typeface="Arial"/>
                        <a:buChar char="–"/>
                      </a:pPr>
                      <a:r>
                        <a:rPr sz="1000" b="1" i="0">
                          <a:solidFill>
                            <a:srgbClr val="080808"/>
                          </a:solidFill>
                          <a:latin typeface="Calibri"/>
                        </a:rPr>
                        <a:t>Mitigant: </a:t>
                      </a:r>
                      <a:r>
                        <a:rPr sz="1000" b="0" i="0">
                          <a:solidFill>
                            <a:srgbClr val="080808"/>
                          </a:solidFill>
                          <a:latin typeface="Calibri"/>
                        </a:rPr>
                        <a:t>We think diversification across 30 to 80 loans, investment grade shadow rated loans and lower leverage on recent vintages reduce the probability of tail losses.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0020" y="6272784"/>
            <a:ext cx="8823960" cy="182880"/>
          </a:xfrm>
          <a:prstGeom prst="rect">
            <a:avLst/>
          </a:prstGeom>
          <a:noFill/>
        </p:spPr>
        <p:txBody>
          <a:bodyPr wrap="square" lIns="0" rIns="0" tIns="27432" bIns="27432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9AA0A8"/>
                </a:solidFill>
                <a:latin typeface="Calibri"/>
              </a:rPr>
              <a:t>Note: Considerations are general and educational; they do not reflect the terms of any specific transaction or a recommendation to invest.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jBn36IlmakLOydlmrMU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xco_DJePb7QM8CaiXX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Pe389JG4wDjX42A4sX5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lJIGyxVQBr5u4qx6oSD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q5JShXR3_QAH6U7holg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xco_DJePb7QM8CaiXXw"/>
</p:tagLst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__210501_Sixth Street PRINT">
  <a:themeElements>
    <a:clrScheme name="Sixth Street and TSLX_PRINT">
      <a:dk1>
        <a:srgbClr val="080808"/>
      </a:dk1>
      <a:lt1>
        <a:srgbClr val="FEFEFE"/>
      </a:lt1>
      <a:dk2>
        <a:srgbClr val="D9DDE1"/>
      </a:dk2>
      <a:lt2>
        <a:srgbClr val="ECEEF0"/>
      </a:lt2>
      <a:accent1>
        <a:srgbClr val="005587"/>
      </a:accent1>
      <a:accent2>
        <a:srgbClr val="9AA0A8"/>
      </a:accent2>
      <a:accent3>
        <a:srgbClr val="004E59"/>
      </a:accent3>
      <a:accent4>
        <a:srgbClr val="44797B"/>
      </a:accent4>
      <a:accent5>
        <a:srgbClr val="4CA585"/>
      </a:accent5>
      <a:accent6>
        <a:srgbClr val="6595AD"/>
      </a:accent6>
      <a:hlink>
        <a:srgbClr val="15C2FF"/>
      </a:hlink>
      <a:folHlink>
        <a:srgbClr val="CC6601"/>
      </a:folHlink>
    </a:clrScheme>
    <a:fontScheme name="Sixth Street and TSL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cree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10000"/>
                <a:hueMod val="100000"/>
                <a:satMod val="100000"/>
                <a:lumMod val="125000"/>
              </a:schemeClr>
            </a:gs>
            <a:gs pos="50000">
              <a:schemeClr val="phClr">
                <a:tint val="100000"/>
                <a:shade val="100000"/>
                <a:hueMod val="99000"/>
                <a:satMod val="120000"/>
                <a:lumMod val="100000"/>
              </a:schemeClr>
            </a:gs>
            <a:gs pos="100000">
              <a:schemeClr val="phClr">
                <a:tint val="100000"/>
                <a:shade val="10000"/>
                <a:hueMod val="100000"/>
                <a:satMod val="100000"/>
                <a:lumMod val="125000"/>
              </a:schemeClr>
            </a:gs>
          </a:gsLst>
          <a:lin ang="18900000" scaled="0"/>
        </a:gradFill>
      </a:fillStyleLst>
      <a:lnStyleLst>
        <a:ln w="12700" cap="sq" cmpd="sng" algn="ctr">
          <a:solidFill>
            <a:schemeClr val="phClr">
              <a:tint val="95000"/>
              <a:satMod val="150000"/>
              <a:lumMod val="150000"/>
            </a:schemeClr>
          </a:solidFill>
          <a:prstDash val="solid"/>
        </a:ln>
        <a:ln w="12700" cap="sq" cmpd="sng" algn="ctr">
          <a:solidFill>
            <a:schemeClr val="phClr">
              <a:tint val="92000"/>
              <a:satMod val="250000"/>
              <a:lumMod val="165000"/>
            </a:schemeClr>
          </a:solidFill>
          <a:prstDash val="solid"/>
        </a:ln>
        <a:ln w="28575" cap="sq" cmpd="sng" algn="ctr">
          <a:solidFill>
            <a:schemeClr val="phClr">
              <a:satMod val="115000"/>
              <a:lum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hade val="100000"/>
                <a:hueMod val="100000"/>
                <a:satMod val="100000"/>
                <a:lumMod val="100000"/>
              </a:schemeClr>
            </a:gs>
            <a:gs pos="25000">
              <a:schemeClr val="phClr">
                <a:tint val="100000"/>
                <a:shade val="75000"/>
                <a:satMod val="100000"/>
              </a:schemeClr>
            </a:gs>
            <a:gs pos="100000">
              <a:schemeClr val="phClr">
                <a:shade val="50000"/>
                <a:satMod val="175000"/>
              </a:schemeClr>
            </a:gs>
            <a:gs pos="100000">
              <a:schemeClr val="phClr">
                <a:shade val="25000"/>
                <a:satMod val="175000"/>
              </a:schemeClr>
            </a:gs>
          </a:gsLst>
          <a:lin ang="600000" scaled="0"/>
        </a:gra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solidFill>
          <a:schemeClr val="bg2"/>
        </a:solidFill>
        <a:ln w="9525">
          <a:solidFill>
            <a:srgbClr val="C33154"/>
          </a:solidFill>
        </a:ln>
      </a:spPr>
      <a:bodyPr lIns="45720" rIns="45720" rtlCol="0" anchor="ctr"/>
      <a:lstStyle>
        <a:defPPr algn="ctr">
          <a:defRPr kern="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sq">
          <a:solidFill>
            <a:srgbClr val="969695"/>
          </a:solidFill>
          <a:prstDash val="solid"/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ct val="90000"/>
          </a:lnSpc>
          <a:spcAft>
            <a:spcPts val="200"/>
          </a:spcAft>
          <a:defRPr sz="1600" spc="0" dirty="0" smtClean="0"/>
        </a:defPPr>
      </a:lstStyle>
    </a:txDef>
  </a:objectDefaults>
  <a:extraClrSchemeLst/>
  <a:custClrLst>
    <a:custClr name="Absolute White">
      <a:srgbClr val="FEFFFF"/>
    </a:custClr>
    <a:custClr name="Active Tab PRINT">
      <a:srgbClr val="0E2E51"/>
    </a:custClr>
    <a:custClr name="Table Main Border">
      <a:srgbClr val="A0ABB4"/>
    </a:custClr>
    <a:custClr name="Text Over Color">
      <a:srgbClr val="F8F8F8"/>
    </a:custClr>
    <a:custClr name="Line 1">
      <a:srgbClr val="006AA9"/>
    </a:custClr>
    <a:custClr name="Line 2">
      <a:srgbClr val="858D97"/>
    </a:custClr>
    <a:custClr name="Line 3">
      <a:srgbClr val="006573"/>
    </a:custClr>
    <a:custClr name="Line 4">
      <a:srgbClr val="9CB9BB"/>
    </a:custClr>
    <a:custClr name="Line 5">
      <a:srgbClr val="77C3A8"/>
    </a:custClr>
    <a:custClr name="Line 6">
      <a:srgbClr val="96BDCF"/>
    </a:custClr>
    <a:custClr name="Absolute Black">
      <a:srgbClr val="050000"/>
    </a:custClr>
    <a:custClr name="Active Tab SCREEN">
      <a:srgbClr val="005688"/>
    </a:custClr>
    <a:custClr name="Conclusion Box">
      <a:srgbClr val="0F2F51"/>
    </a:custClr>
    <a:custClr name="Red 1">
      <a:srgbClr val="A82800"/>
    </a:custClr>
    <a:custClr name="Accent Blue">
      <a:srgbClr val="003E64"/>
    </a:custClr>
    <a:custClr name="Accent Gray">
      <a:srgbClr val="4C5158"/>
    </a:custClr>
    <a:custClr name="Accent Cyprus">
      <a:srgbClr val="00353C"/>
    </a:custClr>
    <a:custClr name="Accent Casal">
      <a:srgbClr val="296366"/>
    </a:custClr>
    <a:custClr name="Accent Sea Green">
      <a:srgbClr val="2F8E6D"/>
    </a:custClr>
    <a:custClr name="Accent Ocean Deep">
      <a:srgbClr val="417791"/>
    </a:custClr>
    <a:custClr name="Highlight PRINT">
      <a:srgbClr val="4179BD"/>
    </a:custClr>
    <a:custClr name="Highlight SCREEN">
      <a:srgbClr val="C58C3E"/>
    </a:custClr>
    <a:custClr name="Highlight Purple">
      <a:srgbClr val="595378"/>
    </a:custClr>
    <a:custClr name="Red 2">
      <a:srgbClr val="771D00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  <a:custClr name="Placeholder">
      <a:srgbClr val="F7F8F9"/>
    </a:custClr>
  </a:custClrLst>
  <a:extLst>
    <a:ext uri="{05A4C25C-085E-4340-85A3-A5531E510DB2}">
      <thm15:themeFamily xmlns:thm15="http://schemas.microsoft.com/office/thememl/2012/main" name="__210501_Sixth Street PRINT" id="{A50BB74A-157F-457E-B35D-FD9C6365CD38}" vid="{6A10F1F2-40AF-4DC0-8CCC-0A8078FC6F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39085</TotalTime>
  <Words>16380</Words>
  <Application>Microsoft Office PowerPoint</Application>
  <PresentationFormat>On-screen Show (4:3)</PresentationFormat>
  <Paragraphs>1519</Paragraphs>
  <Slides>64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Arial</vt:lpstr>
      <vt:lpstr>Calibri</vt:lpstr>
      <vt:lpstr>Cambria Math</vt:lpstr>
      <vt:lpstr>Georgia</vt:lpstr>
      <vt:lpstr>Wingdings</vt:lpstr>
      <vt:lpstr>Wingdings 3</vt:lpstr>
      <vt:lpstr>__210501_Sixth Street PRINT</vt:lpstr>
      <vt:lpstr>think-cell Slide</vt:lpstr>
      <vt:lpstr>Crystal springs resort</vt:lpstr>
      <vt:lpstr>Executive summary (1 of 2)</vt:lpstr>
      <vt:lpstr>Executive summary (2 of 2)</vt:lpstr>
      <vt:lpstr>Investment Highlights &amp; Concerns (1 of 3)</vt:lpstr>
      <vt:lpstr>Investment Highlights &amp; Concerns (2 of 3)</vt:lpstr>
      <vt:lpstr>Investment Highlights &amp; Concerns (3 of 3)</vt:lpstr>
      <vt:lpstr>Key loan terms</vt:lpstr>
      <vt:lpstr>Key intercreditor agreement terms</vt:lpstr>
      <vt:lpstr>Sources &amp; uses</vt:lpstr>
      <vt:lpstr>Sponsorship summary</vt:lpstr>
      <vt:lpstr>Asset overview</vt:lpstr>
      <vt:lpstr>Asset location</vt:lpstr>
      <vt:lpstr>site map</vt:lpstr>
      <vt:lpstr>Grand cascade lodge photos</vt:lpstr>
      <vt:lpstr>Minerals hotel lodge photos</vt:lpstr>
      <vt:lpstr>Property Amenity photos</vt:lpstr>
      <vt:lpstr>Condo hotel overview</vt:lpstr>
      <vt:lpstr>Condo owner unit economics</vt:lpstr>
      <vt:lpstr>Condo structure quick Hits (1 of 2)</vt:lpstr>
      <vt:lpstr>Condo structure Quick hits (2 of 2)</vt:lpstr>
      <vt:lpstr>Hotel operator Ability to Influence</vt:lpstr>
      <vt:lpstr>Rental management agreement key terms</vt:lpstr>
      <vt:lpstr>Hoa governing documents key terms</vt:lpstr>
      <vt:lpstr>Management agreement rollover schedule</vt:lpstr>
      <vt:lpstr>Food &amp; beverage outlet overview</vt:lpstr>
      <vt:lpstr>Golf course overview</vt:lpstr>
      <vt:lpstr>Northern new jersey Market overview</vt:lpstr>
      <vt:lpstr>Hotel market overview</vt:lpstr>
      <vt:lpstr>Drive to leisure demand trends</vt:lpstr>
      <vt:lpstr>Competitive set analysis – Grand Cascades Lodge</vt:lpstr>
      <vt:lpstr>Competitive set analysis – Minerals Hotel</vt:lpstr>
      <vt:lpstr>New jersey golf course market overview</vt:lpstr>
      <vt:lpstr>Sixth street underwritten noi multiple build-up</vt:lpstr>
      <vt:lpstr>Historical cash flows</vt:lpstr>
      <vt:lpstr>Historical cash flows &amp; sixth street proforma</vt:lpstr>
      <vt:lpstr>Aggregate Hotel historical financials &amp; proforma</vt:lpstr>
      <vt:lpstr>F&amp;B historical financials &amp; proforma </vt:lpstr>
      <vt:lpstr>Golf course historical financials &amp; proforma </vt:lpstr>
      <vt:lpstr>Hotel Sensitivity analyses</vt:lpstr>
      <vt:lpstr>F&amp;B sensitivity analysis</vt:lpstr>
      <vt:lpstr>Golf sensitivity analysis</vt:lpstr>
      <vt:lpstr>property sensitivity analyses</vt:lpstr>
      <vt:lpstr>On the books revenue comparison</vt:lpstr>
      <vt:lpstr>Hotel demand segment distribution</vt:lpstr>
      <vt:lpstr>golf course demand segment distribution</vt:lpstr>
      <vt:lpstr>Golf resort sale comparables</vt:lpstr>
      <vt:lpstr>Condo hotel sale comparables</vt:lpstr>
      <vt:lpstr>Golf course sale comparables</vt:lpstr>
      <vt:lpstr>Instrument CM rating</vt:lpstr>
      <vt:lpstr>Hospitality Pricing comparables</vt:lpstr>
      <vt:lpstr>Non-hospitality Pricing comparables</vt:lpstr>
      <vt:lpstr>Whole business securitization Pricing comparables</vt:lpstr>
      <vt:lpstr>Appendix a: Condo owner participation cash flow sweep analysis</vt:lpstr>
      <vt:lpstr>Appendix b: condo owner usage schedule</vt:lpstr>
      <vt:lpstr>Appendix c: annual cash flow - Base case</vt:lpstr>
      <vt:lpstr>Appendix c: annual cash flow - rental at 80%</vt:lpstr>
      <vt:lpstr>Appendix c: annual cash flow - rental participation at 75%</vt:lpstr>
      <vt:lpstr>Appendix d: Grand cascades historical financials &amp; proforma</vt:lpstr>
      <vt:lpstr>Appendix d: Minerals Hotel historical financials &amp; proforma</vt:lpstr>
      <vt:lpstr>appendix e: top group accounts</vt:lpstr>
      <vt:lpstr>appendix f: condo unit sales</vt:lpstr>
      <vt:lpstr>appendix g: condo unit concentration</vt:lpstr>
      <vt:lpstr>Appendix h: Planned Capital expenditure overview</vt:lpstr>
      <vt:lpstr>Appendix i: Ri Diligence – MaSH-3776991 / deal Code: 344498 </vt:lpstr>
    </vt:vector>
  </TitlesOfParts>
  <Company>Sixth Street Partners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Crystal Springs Resort_IC Memo</dc:title>
  <dc:creator>Steele, Jon</dc:creator>
  <cp:lastModifiedBy>Russell, Charlie</cp:lastModifiedBy>
  <cp:revision>915</cp:revision>
  <cp:lastPrinted>2026-04-10T00:11:56Z</cp:lastPrinted>
  <dcterms:created xsi:type="dcterms:W3CDTF">2023-08-21T21:38:38Z</dcterms:created>
  <dcterms:modified xsi:type="dcterms:W3CDTF">2026-05-12T00:29:43Z</dcterms:modified>
</cp:coreProperties>
</file>