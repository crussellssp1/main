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embeddings/oleObject1.bin" ContentType="application/vnd.openxmlformats-officedocument.oleObject"/>
  <Override PartName="/ppt/embeddings/oleObject10.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3.svg" ContentType="image/svg+xml"/>
  <Override PartName="/ppt/media/image5.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65.xml" ContentType="application/vnd.openxmlformats-officedocument.presentationml.slide+xml"/>
  <Override PartName="/ppt/slides/slide6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6"/>
  </p:notesMasterIdLst>
  <p:sldIdLst>
    <p:sldId id="2147471015" r:id="rId73"/>
    <p:sldId id="2147471016" r:id="rId74"/>
  </p:sldIdLst>
  <p:sldSz cx="9144000" cy="6858000" type="screen4x3"/>
  <p:notesSz cx="6950075" cy="9236075"/>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903102-605B-68EF-7B9A-7AE2C6BA7540}" name="Goldstein, Ace" initials="AG" userId="S::ace.goldstein@sixthstreet.com::eba7a8dc-62dc-47ad-a929-5bf4ded49a3f" providerId="AD"/>
  <p188:author id="{02D17110-0F20-E47B-BFB5-0A556483A25F}" name="Dustin Braham" initials="DB" userId="S::db@dwightmortgagetrust.com::69117461-9d3a-41f0-8bc9-ae81deb5b480" providerId="AD"/>
  <p188:author id="{D40C3420-B116-B179-DDCD-D21AFFB9F684}" name="Russell, Charlie" initials="CR" userId="S::crussell@sixthstreet.com::33e8a0f7-e167-4dc0-afa6-e3fb827ab654" providerId="AD"/>
  <p188:author id="{FBDFAE2C-C2B0-28D8-DBD6-AB0A56C5F440}" name="Grant Heilman" initials="GH" userId="S::gh@dwightmortgagetrust.com::b1bd96de-2e6c-49c1-9782-dd8f7e0e133d" providerId="AD"/>
  <p188:author id="{7E938D49-9057-6DE2-1093-14AF8E57C3A2}" name="JD Comeau" initials="JC" userId="S::jco@dwightmortgagetrust.com::9c23bc0d-0924-4e03-9722-f2bc5b5f9e79" providerId="AD"/>
  <p188:author id="{F955DB63-E972-F6C0-339F-278EE5DC0F76}" name="Cole Saenz" initials="CS" userId="S::cs@dwightmortgagetrust.com::30713fba-8b3d-448b-95ba-9dee6bb052e1" providerId="AD"/>
  <p188:author id="{C6235F71-A186-B23E-1A63-48E7C65AABD9}" name="Steele, Jon" initials="JS" userId="S::jsteele@sixthstreet.com::70cf78ff-47dc-4de3-ae54-7be2851cb611" providerId="AD"/>
  <p188:author id="{CF00A173-3AAD-548F-2949-C8DB5F70D4F5}" name="Liam Higgins" initials="LH" userId="S::lh@dwightmortgagetrust.com::d80d6c4f-5341-4e82-9800-befd9ddd0186" providerId="AD"/>
  <p188:author id="{F1D93C83-3748-5608-94B4-153EEBC93506}" name="Noah Breskin" initials="NB" userId="S::nb@dwightmortgagetrust.com::f87674ca-bf83-46cc-9fe7-1ea9fb645d6b" providerId="AD"/>
  <p188:author id="{C928A498-CE5A-E258-F912-5DE590065195}" name="Jack Baron" initials="JB" userId="S::jb@dwightmortgagetrust.com::6eca1c2f-e688-4004-890b-d1456642ce2a" providerId="AD"/>
  <p188:author id="{C10243BA-C78C-0021-A887-C97438ADA3CD}" name="Rachel Jones" initials="RJ" userId="S::rj@dwightmortgagetrust.com::f528490c-e884-4e2b-8a95-d947e7635e7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F51"/>
    <a:srgbClr val="E2EFDA"/>
    <a:srgbClr val="D9E1F2"/>
    <a:srgbClr val="9AA0A8"/>
    <a:srgbClr val="112950"/>
    <a:srgbClr val="D9DEF2"/>
    <a:srgbClr val="FFFF00"/>
    <a:srgbClr val="FFAB00"/>
    <a:srgbClr val="02FCFC"/>
    <a:srgbClr val="858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7419" autoAdjust="0"/>
  </p:normalViewPr>
  <p:slideViewPr>
    <p:cSldViewPr snapToGrid="0" showGuides="1">
      <p:cViewPr varScale="1">
        <p:scale>
          <a:sx n="158" d="100"/>
          <a:sy n="158" d="100"/>
        </p:scale>
        <p:origin x="1708"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6" Type="http://schemas.openxmlformats.org/officeDocument/2006/relationships/notesMaster" Target="notesMasters/notesMaster1.xml"/><Relationship Id="rId67" Type="http://schemas.openxmlformats.org/officeDocument/2006/relationships/tags" Target="tags/tag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8/10/relationships/authors" Target="authors.xml"/><Relationship Id="rId73" Type="http://schemas.openxmlformats.org/officeDocument/2006/relationships/slide" Target="slides/slide65.xml"/><Relationship Id="rId74" Type="http://schemas.openxmlformats.org/officeDocument/2006/relationships/slide" Target="slides/slide66.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080808"/>
                </a:solidFill>
                <a:latin typeface="Calibri"/>
              </a:rPr>
              <a:t>Conduit Liquidation Loss Severity</a:t>
            </a:r>
          </a:p>
        </c:rich>
      </c:tx>
      <c:layout/>
      <c:overlay val="0"/>
    </c:title>
    <c:autoTitleDeleted val="0"/>
    <c:plotArea>
      <c:barChart>
        <c:barDir val="col"/>
        <c:grouping val="clustered"/>
        <c:ser>
          <c:idx val="0"/>
          <c:order val="0"/>
          <c:tx>
            <c:strRef>
              <c:f>Sheet1!$B$1</c:f>
              <c:strCache>
                <c:ptCount val="1"/>
                <c:pt idx="0">
                  <c:v>Liquidation Severity</c:v>
                </c:pt>
              </c:strCache>
            </c:strRef>
          </c:tx>
          <c:dPt>
            <c:idx val="0"/>
            <c:spPr>
              <a:solidFill>
                <a:srgbClr val="858D97"/>
              </a:solidFill>
            </c:spPr>
          </c:dPt>
          <c:dPt>
            <c:idx val="1"/>
            <c:spPr>
              <a:solidFill>
                <a:srgbClr val="005587"/>
              </a:solidFill>
            </c:spPr>
          </c:dPt>
          <c:dPt>
            <c:idx val="2"/>
            <c:spPr>
              <a:solidFill>
                <a:srgbClr val="0F2F51"/>
              </a:solidFill>
            </c:spPr>
          </c:dPt>
          <c:cat>
            <c:strRef>
              <c:f>Sheet1!$A$2:$A$4</c:f>
              <c:strCache>
                <c:ptCount val="3"/>
                <c:pt idx="0">
                  <c:v>2021 to 2022 (Approx.)</c:v>
                </c:pt>
                <c:pt idx="1">
                  <c:v>2025</c:v>
                </c:pt>
                <c:pt idx="2">
                  <c:v>2026 YTD</c:v>
                </c:pt>
              </c:strCache>
            </c:strRef>
          </c:cat>
          <c:val>
            <c:numRef>
              <c:f>Sheet1!$B$2:$B$4</c:f>
              <c:numCache>
                <c:formatCode>General</c:formatCode>
                <c:ptCount val="3"/>
                <c:pt idx="0">
                  <c:v>0.4</c:v>
                </c:pt>
                <c:pt idx="1">
                  <c:v>0.55</c:v>
                </c:pt>
                <c:pt idx="2">
                  <c:v>0.66</c:v>
                </c:pt>
              </c:numCache>
            </c:numRef>
          </c:val>
        </c:ser>
        <c:dLbls>
          <c:numFmt formatCode="0%;(0%);-" sourceLinked="0"/>
          <c:txPr>
            <a:bodyPr/>
            <a:lstStyle/>
            <a:p>
              <a:pPr>
                <a:defRPr sz="900" b="1">
                  <a:latin typeface="Calibri"/>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9AA0A8"/>
            </a:solidFill>
          </a:ln>
        </c:spPr>
        <c:txPr>
          <a:bodyPr/>
          <a:lstStyle/>
          <a:p>
            <a:pPr>
              <a:defRPr sz="900">
                <a:latin typeface="Calibri"/>
              </a:defRPr>
            </a:pPr>
          </a:p>
        </c:txPr>
        <c:crossAx val="-2113994440"/>
        <c:crosses val="autoZero"/>
        <c:auto val="1"/>
        <c:lblAlgn val="ctr"/>
        <c:lblOffset val="100"/>
        <c:noMultiLvlLbl val="0"/>
      </c:catAx>
      <c:valAx>
        <c:axId val="-2113994440"/>
        <c:scaling>
          <c:max val="0.8"/>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080808"/>
                </a:solidFill>
                <a:latin typeface="Calibri"/>
              </a:rPr>
              <a:t>CMBS Delinquency Rate by Property Type (May 2026)</a:t>
            </a:r>
          </a:p>
        </c:rich>
      </c:tx>
      <c:layout/>
      <c:overlay val="0"/>
    </c:title>
    <c:autoTitleDeleted val="0"/>
    <c:plotArea>
      <c:barChart>
        <c:barDir val="bar"/>
        <c:grouping val="clustered"/>
        <c:ser>
          <c:idx val="0"/>
          <c:order val="0"/>
          <c:tx>
            <c:strRef>
              <c:f>Sheet1!$B$1</c:f>
              <c:strCache>
                <c:ptCount val="1"/>
                <c:pt idx="0">
                  <c:v>Delinquency</c:v>
                </c:pt>
              </c:strCache>
            </c:strRef>
          </c:tx>
          <c:dPt>
            <c:idx val="0"/>
            <c:spPr>
              <a:solidFill>
                <a:srgbClr val="0F2F51"/>
              </a:solidFill>
            </c:spPr>
          </c:dPt>
          <c:dPt>
            <c:idx val="1"/>
            <c:spPr>
              <a:solidFill>
                <a:srgbClr val="858D97"/>
              </a:solidFill>
            </c:spPr>
          </c:dPt>
          <c:dPt>
            <c:idx val="2"/>
            <c:spPr>
              <a:solidFill>
                <a:srgbClr val="858D97"/>
              </a:solidFill>
            </c:spPr>
          </c:dPt>
          <c:dPt>
            <c:idx val="3"/>
            <c:spPr>
              <a:solidFill>
                <a:srgbClr val="858D97"/>
              </a:solidFill>
            </c:spPr>
          </c:dPt>
          <c:dPt>
            <c:idx val="4"/>
            <c:spPr>
              <a:solidFill>
                <a:srgbClr val="858D97"/>
              </a:solidFill>
            </c:spPr>
          </c:dPt>
          <c:dPt>
            <c:idx val="5"/>
            <c:spPr>
              <a:solidFill>
                <a:srgbClr val="005587"/>
              </a:solidFill>
            </c:spPr>
          </c:dPt>
          <c:cat>
            <c:strRef>
              <c:f>Sheet1!$A$2:$A$7</c:f>
              <c:strCache>
                <c:ptCount val="6"/>
                <c:pt idx="0">
                  <c:v>Office</c:v>
                </c:pt>
                <c:pt idx="1">
                  <c:v>Multifamily</c:v>
                </c:pt>
                <c:pt idx="2">
                  <c:v>Retail</c:v>
                </c:pt>
                <c:pt idx="3">
                  <c:v>Lodging</c:v>
                </c:pt>
                <c:pt idx="4">
                  <c:v>Industrial</c:v>
                </c:pt>
                <c:pt idx="5">
                  <c:v>All CMBS</c:v>
                </c:pt>
              </c:strCache>
            </c:strRef>
          </c:cat>
          <c:val>
            <c:numRef>
              <c:f>Sheet1!$B$2:$B$7</c:f>
              <c:numCache>
                <c:formatCode>General</c:formatCode>
                <c:ptCount val="6"/>
                <c:pt idx="0">
                  <c:v>0.1153</c:v>
                </c:pt>
                <c:pt idx="1">
                  <c:v>0.0695</c:v>
                </c:pt>
                <c:pt idx="2">
                  <c:v>0.0661</c:v>
                </c:pt>
                <c:pt idx="3">
                  <c:v>0.0601</c:v>
                </c:pt>
                <c:pt idx="4">
                  <c:v>0.0131</c:v>
                </c:pt>
                <c:pt idx="5">
                  <c:v>0.0755</c:v>
                </c:pt>
              </c:numCache>
            </c:numRef>
          </c:val>
        </c:ser>
        <c:dLbls>
          <c:numFmt formatCode="0.0%;(0.0%);-" sourceLinked="0"/>
          <c:txPr>
            <a:bodyPr/>
            <a:lstStyle/>
            <a:p>
              <a:pPr>
                <a:defRPr sz="800">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9AA0A8"/>
            </a:solidFill>
          </a:ln>
        </c:spPr>
        <c:txPr>
          <a:bodyPr/>
          <a:lstStyle/>
          <a:p>
            <a:pPr>
              <a:defRPr sz="900">
                <a:latin typeface="Calibri"/>
              </a:defRPr>
            </a:pPr>
          </a:p>
        </c:txPr>
        <c:crossAx val="-2113994440"/>
        <c:crosses val="autoZero"/>
        <c:auto val="1"/>
        <c:lblAlgn val="ctr"/>
        <c:lblOffset val="100"/>
        <c:noMultiLvlLbl val="0"/>
      </c:catAx>
      <c:valAx>
        <c:axId val="-2113994440"/>
        <c:scaling>
          <c:max val="0.1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080808"/>
                </a:solidFill>
                <a:latin typeface="Calibri"/>
              </a:rPr>
              <a:t>Cumulative B-Piece Writedown (% of Original Balance)</a:t>
            </a:r>
          </a:p>
        </c:rich>
      </c:tx>
      <c:layout/>
      <c:overlay val="0"/>
    </c:title>
    <c:autoTitleDeleted val="0"/>
    <c:plotArea>
      <c:barChart>
        <c:barDir val="bar"/>
        <c:grouping val="clustered"/>
        <c:ser>
          <c:idx val="0"/>
          <c:order val="0"/>
          <c:tx>
            <c:strRef>
              <c:f>Sheet1!$B$1</c:f>
              <c:strCache>
                <c:ptCount val="1"/>
                <c:pt idx="0">
                  <c:v>Writedown (% of Original B-Piece)</c:v>
                </c:pt>
              </c:strCache>
            </c:strRef>
          </c:tx>
          <c:dPt>
            <c:idx val="0"/>
            <c:spPr>
              <a:solidFill>
                <a:srgbClr val="0F2F51"/>
              </a:solidFill>
            </c:spPr>
          </c:dPt>
          <c:dPt>
            <c:idx val="1"/>
            <c:spPr>
              <a:solidFill>
                <a:srgbClr val="0F2F51"/>
              </a:solidFill>
            </c:spPr>
          </c:dPt>
          <c:dPt>
            <c:idx val="2"/>
            <c:spPr>
              <a:solidFill>
                <a:srgbClr val="0F2F51"/>
              </a:solidFill>
            </c:spPr>
          </c:dPt>
          <c:dPt>
            <c:idx val="3"/>
            <c:spPr>
              <a:solidFill>
                <a:srgbClr val="0F2F51"/>
              </a:solidFill>
            </c:spPr>
          </c:dPt>
          <c:dPt>
            <c:idx val="4"/>
            <c:spPr>
              <a:solidFill>
                <a:srgbClr val="0F2F51"/>
              </a:solidFill>
            </c:spPr>
          </c:dPt>
          <c:dPt>
            <c:idx val="5"/>
            <c:spPr>
              <a:solidFill>
                <a:srgbClr val="0F2F51"/>
              </a:solidFill>
            </c:spPr>
          </c:dPt>
          <c:dPt>
            <c:idx val="6"/>
            <c:spPr>
              <a:solidFill>
                <a:srgbClr val="0F2F51"/>
              </a:solidFill>
            </c:spPr>
          </c:dPt>
          <c:dPt>
            <c:idx val="7"/>
            <c:spPr>
              <a:solidFill>
                <a:srgbClr val="005587"/>
              </a:solidFill>
            </c:spPr>
          </c:dPt>
          <c:dPt>
            <c:idx val="8"/>
            <c:spPr>
              <a:solidFill>
                <a:srgbClr val="005587"/>
              </a:solidFill>
            </c:spPr>
          </c:dPt>
          <c:dPt>
            <c:idx val="9"/>
            <c:spPr>
              <a:solidFill>
                <a:srgbClr val="005587"/>
              </a:solidFill>
            </c:spPr>
          </c:dPt>
          <c:dPt>
            <c:idx val="10"/>
            <c:spPr>
              <a:solidFill>
                <a:srgbClr val="005587"/>
              </a:solidFill>
            </c:spPr>
          </c:dPt>
          <c:dPt>
            <c:idx val="11"/>
            <c:spPr>
              <a:solidFill>
                <a:srgbClr val="005587"/>
              </a:solidFill>
            </c:spPr>
          </c:dPt>
          <c:dPt>
            <c:idx val="12"/>
            <c:spPr>
              <a:solidFill>
                <a:srgbClr val="005587"/>
              </a:solidFill>
            </c:spPr>
          </c:dPt>
          <c:dPt>
            <c:idx val="13"/>
            <c:spPr>
              <a:solidFill>
                <a:srgbClr val="005587"/>
              </a:solidFill>
            </c:spPr>
          </c:dPt>
          <c:dPt>
            <c:idx val="14"/>
            <c:spPr>
              <a:solidFill>
                <a:srgbClr val="005587"/>
              </a:solidFill>
            </c:spPr>
          </c:dPt>
          <c:dPt>
            <c:idx val="15"/>
            <c:spPr>
              <a:solidFill>
                <a:srgbClr val="005587"/>
              </a:solidFill>
            </c:spPr>
          </c:dPt>
          <c:dPt>
            <c:idx val="16"/>
            <c:spPr>
              <a:solidFill>
                <a:srgbClr val="005587"/>
              </a:solidFill>
            </c:spPr>
          </c:dPt>
          <c:dPt>
            <c:idx val="17"/>
            <c:spPr>
              <a:solidFill>
                <a:srgbClr val="005587"/>
              </a:solidFill>
            </c:spPr>
          </c:dPt>
          <c:dPt>
            <c:idx val="18"/>
            <c:spPr>
              <a:solidFill>
                <a:srgbClr val="858D97"/>
              </a:solidFill>
            </c:spPr>
          </c:dPt>
          <c:dPt>
            <c:idx val="19"/>
            <c:spPr>
              <a:solidFill>
                <a:srgbClr val="858D97"/>
              </a:solidFill>
            </c:spPr>
          </c:dPt>
          <c:dPt>
            <c:idx val="20"/>
            <c:spPr>
              <a:solidFill>
                <a:srgbClr val="858D97"/>
              </a:solidFill>
            </c:spPr>
          </c:dPt>
          <c:dPt>
            <c:idx val="21"/>
            <c:spPr>
              <a:solidFill>
                <a:srgbClr val="858D97"/>
              </a:solidFill>
            </c:spPr>
          </c:dPt>
          <c:dPt>
            <c:idx val="22"/>
            <c:spPr>
              <a:solidFill>
                <a:srgbClr val="858D97"/>
              </a:solidFill>
            </c:spPr>
          </c:dPt>
          <c:dPt>
            <c:idx val="23"/>
            <c:spPr>
              <a:solidFill>
                <a:srgbClr val="858D97"/>
              </a:solidFill>
            </c:spPr>
          </c:dPt>
          <c:dPt>
            <c:idx val="24"/>
            <c:spPr>
              <a:solidFill>
                <a:srgbClr val="858D97"/>
              </a:solidFill>
            </c:spPr>
          </c:dPt>
          <c:cat>
            <c:strRef>
              <c:f>Sheet1!$A$2:$A$26</c:f>
              <c:strCache>
                <c:ptCount val="25"/>
                <c:pt idx="0">
                  <c:v>UBSCM 2018-C12</c:v>
                </c:pt>
                <c:pt idx="1">
                  <c:v>JPMDB 2017-C7</c:v>
                </c:pt>
                <c:pt idx="2">
                  <c:v>UBSCM 2017-C5</c:v>
                </c:pt>
                <c:pt idx="3">
                  <c:v>DBJPM 2017-C6</c:v>
                </c:pt>
                <c:pt idx="4">
                  <c:v>UBSCM 2017-C3</c:v>
                </c:pt>
                <c:pt idx="5">
                  <c:v>MSC 2019-H6</c:v>
                </c:pt>
                <c:pt idx="6">
                  <c:v>WFCM 2019-C49</c:v>
                </c:pt>
                <c:pt idx="7">
                  <c:v>UBSCM 2017-C2</c:v>
                </c:pt>
                <c:pt idx="8">
                  <c:v>CGCMT 2018-C6</c:v>
                </c:pt>
                <c:pt idx="9">
                  <c:v>BMARK 2018-B3</c:v>
                </c:pt>
                <c:pt idx="10">
                  <c:v>UBSCM 2019-C16</c:v>
                </c:pt>
                <c:pt idx="11">
                  <c:v>UBSCM 2018-C15</c:v>
                </c:pt>
                <c:pt idx="12">
                  <c:v>WFCM 2018-C47</c:v>
                </c:pt>
                <c:pt idx="13">
                  <c:v>BBCMS 2019-C3</c:v>
                </c:pt>
                <c:pt idx="14">
                  <c:v>UBSCM 2018-C8</c:v>
                </c:pt>
                <c:pt idx="15">
                  <c:v>CCUBS 2017-C1</c:v>
                </c:pt>
                <c:pt idx="16">
                  <c:v>MSBAM 2017-C33</c:v>
                </c:pt>
                <c:pt idx="17">
                  <c:v>UBSCM 2018-C13</c:v>
                </c:pt>
                <c:pt idx="18">
                  <c:v>CGCMT 2017-C4</c:v>
                </c:pt>
                <c:pt idx="19">
                  <c:v>GSMS 2017-GS8</c:v>
                </c:pt>
                <c:pt idx="20">
                  <c:v>BMARK 2018-B6</c:v>
                </c:pt>
                <c:pt idx="21">
                  <c:v>WFCM 2018-C43</c:v>
                </c:pt>
                <c:pt idx="22">
                  <c:v>GSMS 2019-GC38</c:v>
                </c:pt>
                <c:pt idx="23">
                  <c:v>GSMS 2017-GS6</c:v>
                </c:pt>
                <c:pt idx="24">
                  <c:v>MSC 2018-L1</c:v>
                </c:pt>
              </c:strCache>
            </c:strRef>
          </c:cat>
          <c:val>
            <c:numRef>
              <c:f>Sheet1!$B$2:$B$26</c:f>
              <c:numCache>
                <c:formatCode>General</c:formatCode>
                <c:ptCount val="25"/>
                <c:pt idx="0">
                  <c:v>0.4401689228967183</c:v>
                </c:pt>
                <c:pt idx="1">
                  <c:v>0.2273606462087093</c:v>
                </c:pt>
                <c:pt idx="2">
                  <c:v>0.19353300744989474</c:v>
                </c:pt>
                <c:pt idx="3">
                  <c:v>0.16534524323242997</c:v>
                </c:pt>
                <c:pt idx="4">
                  <c:v>0.12547495818204787</c:v>
                </c:pt>
                <c:pt idx="5">
                  <c:v>0.11533489248842416</c:v>
                </c:pt>
                <c:pt idx="6">
                  <c:v>0.10302661033527102</c:v>
                </c:pt>
                <c:pt idx="7">
                  <c:v>0.0923454739882984</c:v>
                </c:pt>
                <c:pt idx="8">
                  <c:v>0.07037364867130505</c:v>
                </c:pt>
                <c:pt idx="9">
                  <c:v>0.04235948226847509</c:v>
                </c:pt>
                <c:pt idx="10">
                  <c:v>0.04007460621872789</c:v>
                </c:pt>
                <c:pt idx="11">
                  <c:v>0.021162764340129255</c:v>
                </c:pt>
                <c:pt idx="12">
                  <c:v>0.018098623139586094</c:v>
                </c:pt>
                <c:pt idx="13">
                  <c:v>0.00713544394653838</c:v>
                </c:pt>
                <c:pt idx="14">
                  <c:v>0.0071169053382410105</c:v>
                </c:pt>
                <c:pt idx="15">
                  <c:v>0.0063862054822237955</c:v>
                </c:pt>
                <c:pt idx="16">
                  <c:v>1.850511711921599e-05</c:v>
                </c:pt>
                <c:pt idx="17">
                  <c:v>1.0360755041694225e-05</c:v>
                </c:pt>
                <c:pt idx="18">
                  <c:v>0.0</c:v>
                </c:pt>
                <c:pt idx="19">
                  <c:v>0.0</c:v>
                </c:pt>
                <c:pt idx="20">
                  <c:v>0.0</c:v>
                </c:pt>
                <c:pt idx="21">
                  <c:v>0.0</c:v>
                </c:pt>
                <c:pt idx="22">
                  <c:v>0.0</c:v>
                </c:pt>
                <c:pt idx="23">
                  <c:v>0.0</c:v>
                </c:pt>
                <c:pt idx="24">
                  <c:v>0.0</c:v>
                </c:pt>
              </c:numCache>
            </c:numRef>
          </c:val>
        </c:ser>
        <c:dLbls>
          <c:numFmt formatCode="0.0%;(0.0%);0.0%" sourceLinked="0"/>
          <c:txPr>
            <a:bodyPr/>
            <a:lstStyle/>
            <a:p>
              <a:pPr>
                <a:defRPr sz="700">
                  <a:latin typeface="Calibri"/>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9AA0A8"/>
            </a:solidFill>
          </a:ln>
        </c:spPr>
        <c:txPr>
          <a:bodyPr/>
          <a:lstStyle/>
          <a:p>
            <a:pPr>
              <a:defRPr sz="700">
                <a:latin typeface="Calibri"/>
              </a:defRPr>
            </a:pPr>
          </a:p>
        </c:txPr>
        <c:crossAx val="-2113994440"/>
        <c:crosses val="autoZero"/>
        <c:auto val="1"/>
        <c:lblAlgn val="ctr"/>
        <c:lblOffset val="100"/>
        <c:noMultiLvlLbl val="0"/>
      </c:catAx>
      <c:valAx>
        <c:axId val="-2113994440"/>
        <c:scaling>
          <c:max val="0.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2001" cy="462721"/>
          </a:xfrm>
          <a:prstGeom prst="rect">
            <a:avLst/>
          </a:prstGeom>
        </p:spPr>
        <p:txBody>
          <a:bodyPr vert="horz" lIns="87490" tIns="43745" rIns="87490" bIns="43745" rtlCol="0"/>
          <a:lstStyle>
            <a:lvl1pPr algn="l">
              <a:defRPr sz="1100"/>
            </a:lvl1pPr>
          </a:lstStyle>
          <a:p>
            <a:endParaRPr lang="en-US" dirty="0"/>
          </a:p>
        </p:txBody>
      </p:sp>
      <p:sp>
        <p:nvSpPr>
          <p:cNvPr id="3" name="Date Placeholder 2"/>
          <p:cNvSpPr>
            <a:spLocks noGrp="1"/>
          </p:cNvSpPr>
          <p:nvPr>
            <p:ph type="dt" idx="1"/>
          </p:nvPr>
        </p:nvSpPr>
        <p:spPr>
          <a:xfrm>
            <a:off x="3936566" y="0"/>
            <a:ext cx="3012001" cy="462721"/>
          </a:xfrm>
          <a:prstGeom prst="rect">
            <a:avLst/>
          </a:prstGeom>
        </p:spPr>
        <p:txBody>
          <a:bodyPr vert="horz" lIns="87490" tIns="43745" rIns="87490" bIns="43745" rtlCol="0"/>
          <a:lstStyle>
            <a:lvl1pPr algn="r">
              <a:defRPr sz="1100"/>
            </a:lvl1pPr>
          </a:lstStyle>
          <a:p>
            <a:fld id="{7963D64D-97CE-4A53-85A0-97FB91FF649B}" type="datetimeFigureOut">
              <a:rPr lang="en-US" smtClean="0"/>
              <a:t>5/11/2026</a:t>
            </a:fld>
            <a:endParaRPr lang="en-US" dirty="0"/>
          </a:p>
        </p:txBody>
      </p:sp>
      <p:sp>
        <p:nvSpPr>
          <p:cNvPr id="4" name="Slide Image Placeholder 3"/>
          <p:cNvSpPr>
            <a:spLocks noGrp="1" noRot="1" noChangeAspect="1"/>
          </p:cNvSpPr>
          <p:nvPr>
            <p:ph type="sldImg" idx="2"/>
          </p:nvPr>
        </p:nvSpPr>
        <p:spPr>
          <a:xfrm>
            <a:off x="1397000" y="1154113"/>
            <a:ext cx="4156075" cy="3117850"/>
          </a:xfrm>
          <a:prstGeom prst="rect">
            <a:avLst/>
          </a:prstGeom>
          <a:noFill/>
          <a:ln w="12700">
            <a:solidFill>
              <a:prstClr val="black"/>
            </a:solidFill>
          </a:ln>
        </p:spPr>
        <p:txBody>
          <a:bodyPr vert="horz" lIns="87490" tIns="43745" rIns="87490" bIns="43745" rtlCol="0" anchor="ctr"/>
          <a:lstStyle/>
          <a:p>
            <a:endParaRPr lang="en-US" dirty="0"/>
          </a:p>
        </p:txBody>
      </p:sp>
      <p:sp>
        <p:nvSpPr>
          <p:cNvPr id="5" name="Notes Placeholder 4"/>
          <p:cNvSpPr>
            <a:spLocks noGrp="1"/>
          </p:cNvSpPr>
          <p:nvPr>
            <p:ph type="body" sz="quarter" idx="3"/>
          </p:nvPr>
        </p:nvSpPr>
        <p:spPr>
          <a:xfrm>
            <a:off x="695310" y="4445473"/>
            <a:ext cx="5559457" cy="3636093"/>
          </a:xfrm>
          <a:prstGeom prst="rect">
            <a:avLst/>
          </a:prstGeom>
        </p:spPr>
        <p:txBody>
          <a:bodyPr vert="horz" lIns="87490" tIns="43745" rIns="87490" bIns="4374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3355"/>
            <a:ext cx="3012001" cy="462720"/>
          </a:xfrm>
          <a:prstGeom prst="rect">
            <a:avLst/>
          </a:prstGeom>
        </p:spPr>
        <p:txBody>
          <a:bodyPr vert="horz" lIns="87490" tIns="43745" rIns="87490" bIns="43745" rtlCol="0" anchor="b"/>
          <a:lstStyle>
            <a:lvl1pPr algn="l">
              <a:defRPr sz="1100"/>
            </a:lvl1pPr>
          </a:lstStyle>
          <a:p>
            <a:endParaRPr lang="en-US" dirty="0"/>
          </a:p>
        </p:txBody>
      </p:sp>
      <p:sp>
        <p:nvSpPr>
          <p:cNvPr id="7" name="Slide Number Placeholder 6"/>
          <p:cNvSpPr>
            <a:spLocks noGrp="1"/>
          </p:cNvSpPr>
          <p:nvPr>
            <p:ph type="sldNum" sz="quarter" idx="5"/>
          </p:nvPr>
        </p:nvSpPr>
        <p:spPr>
          <a:xfrm>
            <a:off x="3936566" y="8773355"/>
            <a:ext cx="3012001" cy="462720"/>
          </a:xfrm>
          <a:prstGeom prst="rect">
            <a:avLst/>
          </a:prstGeom>
        </p:spPr>
        <p:txBody>
          <a:bodyPr vert="horz" lIns="87490" tIns="43745" rIns="87490" bIns="43745" rtlCol="0" anchor="b"/>
          <a:lstStyle>
            <a:lvl1pPr algn="r">
              <a:defRPr sz="1100"/>
            </a:lvl1pPr>
          </a:lstStyle>
          <a:p>
            <a:fld id="{6A5E40A3-7AF7-4917-A8BC-5C21A2738C93}" type="slidenum">
              <a:rPr lang="en-US" smtClean="0"/>
              <a:t>‹#›</a:t>
            </a:fld>
            <a:endParaRPr lang="en-US" dirty="0"/>
          </a:p>
        </p:txBody>
      </p:sp>
    </p:spTree>
    <p:extLst>
      <p:ext uri="{BB962C8B-B14F-4D97-AF65-F5344CB8AC3E}">
        <p14:creationId xmlns:p14="http://schemas.microsoft.com/office/powerpoint/2010/main" val="214592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5.svg"/><Relationship Id="rId7"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4.bin"/><Relationship Id="rId5"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7.emf"/><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8.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1.xml"/><Relationship Id="rId4" Type="http://schemas.openxmlformats.org/officeDocument/2006/relationships/oleObject" Target="../embeddings/oleObject9.bin"/><Relationship Id="rId5" Type="http://schemas.openxmlformats.org/officeDocument/2006/relationships/image" Target="../media/image7.emf"/><Relationship Id="rId6"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1.xml"/><Relationship Id="rId4" Type="http://schemas.openxmlformats.org/officeDocument/2006/relationships/oleObject" Target="../embeddings/oleObject10.bin"/><Relationship Id="rId5" Type="http://schemas.openxmlformats.org/officeDocument/2006/relationships/image" Target="../media/image4.emf"/><Relationship Id="rId6" Type="http://schemas.openxmlformats.org/officeDocument/2006/relationships/image" Target="../media/image10.emf"/><Relationship Id="rId7"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0F2F5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3413496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rgbClr val="FFFFFE"/>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rgbClr val="FFFFFE"/>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29CDCCC-343F-4136-9772-1137E00EDF18}"/>
              </a:ext>
            </a:extLst>
          </p:cNvPr>
          <p:cNvPicPr>
            <a:picLocks noChangeAspect="1"/>
          </p:cNvPicPr>
          <p:nvPr/>
        </p:nvPicPr>
        <p:blipFill rotWithShape="1">
          <a:blip>
            <a:extLst>
              <a:ext uri="{96DAC541-7B7A-43D3-8B79-37D633B846F1}">
                <asvg:svgBlip xmlns:asvg="http://schemas.microsoft.com/office/drawing/2016/SVG/main" r:embed="rId6"/>
              </a:ext>
            </a:extLst>
          </a:blip>
          <a:srcRect l="4433" r="77670"/>
          <a:stretch/>
        </p:blipFill>
        <p:spPr>
          <a:xfrm>
            <a:off x="-1" y="566065"/>
            <a:ext cx="3538097" cy="5725870"/>
          </a:xfrm>
          <a:prstGeom prst="rect">
            <a:avLst/>
          </a:prstGeom>
        </p:spPr>
      </p:pic>
      <p:pic>
        <p:nvPicPr>
          <p:cNvPr id="11" name="Graphic 2">
            <a:extLst>
              <a:ext uri="{FF2B5EF4-FFF2-40B4-BE49-F238E27FC236}">
                <a16:creationId xmlns:a16="http://schemas.microsoft.com/office/drawing/2014/main" id="{4B7190ED-1C73-42D3-B22E-9AD6B740DD6D}"/>
              </a:ext>
            </a:extLst>
          </p:cNvPr>
          <p:cNvPicPr>
            <a:picLocks noChangeAspect="1"/>
          </p:cNvPicPr>
          <p:nvPr/>
        </p:nvPicPr>
        <p:blipFill>
          <a:blip r:embed="rId7"/>
          <a:srcRect/>
          <a:stretch/>
        </p:blipFill>
        <p:spPr>
          <a:xfrm>
            <a:off x="5986165" y="581233"/>
            <a:ext cx="2719417" cy="759652"/>
          </a:xfrm>
          <a:prstGeom prst="rect">
            <a:avLst/>
          </a:prstGeom>
        </p:spPr>
      </p:pic>
      <p:sp>
        <p:nvSpPr>
          <p:cNvPr id="12" name="Rectangle 11">
            <a:extLst>
              <a:ext uri="{FF2B5EF4-FFF2-40B4-BE49-F238E27FC236}">
                <a16:creationId xmlns:a16="http://schemas.microsoft.com/office/drawing/2014/main" id="{4C262728-5A3E-4027-AA1F-EC54D61F9E97}"/>
              </a:ext>
            </a:extLst>
          </p:cNvPr>
          <p:cNvSpPr/>
          <p:nvPr/>
        </p:nvSpPr>
        <p:spPr>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a:solidFill>
                  <a:schemeClr val="accent2"/>
                </a:solidFill>
                <a:latin typeface="+mj-lt"/>
                <a:cs typeface="Times New Roman" panose="02020603050405020304" pitchFamily="18" charset="0"/>
              </a:rPr>
              <a:t>SIXTH STREET HIGHLY CONFIDENTIAL</a:t>
            </a:r>
          </a:p>
        </p:txBody>
      </p:sp>
    </p:spTree>
    <p:extLst>
      <p:ext uri="{BB962C8B-B14F-4D97-AF65-F5344CB8AC3E}">
        <p14:creationId xmlns:p14="http://schemas.microsoft.com/office/powerpoint/2010/main" val="2123342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ED1199D4-FD95-751E-A091-340AF2BAFEB1}"/>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2592197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5" name="Footer Placeholder 9">
            <a:extLst>
              <a:ext uri="{FF2B5EF4-FFF2-40B4-BE49-F238E27FC236}">
                <a16:creationId xmlns:a16="http://schemas.microsoft.com/office/drawing/2014/main" id="{8E61697F-7CC1-4F8C-879A-B738D1CB43E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83517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Title (2 Lines)">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971398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75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hasCustomPrompt="1"/>
          </p:nvPr>
        </p:nvSpPr>
        <p:spPr>
          <a:xfrm>
            <a:off x="160020" y="58134"/>
            <a:ext cx="8823960" cy="476402"/>
          </a:xfrm>
          <a:prstGeom prst="rect">
            <a:avLst/>
          </a:prstGeom>
        </p:spPr>
        <p:txBody>
          <a:bodyPr vert="horz" lIns="0" tIns="45720" rIns="0" bIns="18288" rtlCol="0" anchor="ctr" anchorCtr="0">
            <a:noAutofit/>
          </a:bodyPr>
          <a:lstStyle>
            <a:lvl1pPr>
              <a:lnSpc>
                <a:spcPct val="90000"/>
              </a:lnSpc>
              <a:defRPr sz="1750"/>
            </a:lvl1pPr>
          </a:lstStyle>
          <a:p>
            <a:pPr marL="0" lvl="0"/>
            <a:r>
              <a:rPr lang="en-US" noProof="0" dirty="0"/>
              <a:t>SLIDE TITLE</a:t>
            </a:r>
            <a:br>
              <a:rPr lang="en-US" noProof="0" dirty="0"/>
            </a:br>
            <a:r>
              <a:rPr lang="en-US" noProof="0" dirty="0"/>
              <a:t>2 lines</a:t>
            </a:r>
          </a:p>
        </p:txBody>
      </p:sp>
      <p:sp>
        <p:nvSpPr>
          <p:cNvPr id="11" name="Footer Placeholder 9">
            <a:extLst>
              <a:ext uri="{FF2B5EF4-FFF2-40B4-BE49-F238E27FC236}">
                <a16:creationId xmlns:a16="http://schemas.microsoft.com/office/drawing/2014/main" id="{F71F00A5-3E59-4A3A-9881-5898E75B0B8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67075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27D79AA3-3B0C-4A07-9648-1AB9DB56D051}"/>
              </a:ext>
            </a:extLst>
          </p:cNvPr>
          <p:cNvGraphicFramePr>
            <a:graphicFrameLocks noChangeAspect="1"/>
          </p:cNvGraphicFramePr>
          <p:nvPr>
            <p:custDataLst>
              <p:tags r:id="rId1"/>
            </p:custDataLst>
            <p:extLst>
              <p:ext uri="{D42A27DB-BD31-4B8C-83A1-F6EECF244321}">
                <p14:modId xmlns:p14="http://schemas.microsoft.com/office/powerpoint/2010/main" val="330479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3" name="Object 12" hidden="1">
                        <a:extLst>
                          <a:ext uri="{FF2B5EF4-FFF2-40B4-BE49-F238E27FC236}">
                            <a16:creationId xmlns:a16="http://schemas.microsoft.com/office/drawing/2014/main" id="{27D79AA3-3B0C-4A07-9648-1AB9DB56D05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4F5919A-F141-44F8-A255-B20CFCCB05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8" name="Slide Number Placeholder 2">
            <a:extLst>
              <a:ext uri="{FF2B5EF4-FFF2-40B4-BE49-F238E27FC236}">
                <a16:creationId xmlns:a16="http://schemas.microsoft.com/office/drawing/2014/main" id="{E3D18900-A64B-4092-AD63-6E442E6AB4FA}"/>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0" name="Text Placeholder 6">
            <a:extLst>
              <a:ext uri="{FF2B5EF4-FFF2-40B4-BE49-F238E27FC236}">
                <a16:creationId xmlns:a16="http://schemas.microsoft.com/office/drawing/2014/main" id="{60BA4139-C552-4581-BC79-BE8ECF9A6F01}"/>
              </a:ext>
            </a:extLst>
          </p:cNvPr>
          <p:cNvSpPr>
            <a:spLocks noGrp="1"/>
          </p:cNvSpPr>
          <p:nvPr>
            <p:ph type="body" sz="quarter" idx="13" hasCustomPrompt="1"/>
          </p:nvPr>
        </p:nvSpPr>
        <p:spPr>
          <a:xfrm>
            <a:off x="160020" y="1048286"/>
            <a:ext cx="8823960" cy="1574790"/>
          </a:xfrm>
          <a:prstGeom prst="rect">
            <a:avLst/>
          </a:prstGeom>
        </p:spPr>
        <p:txBody>
          <a:bodyPr>
            <a:spAutoFit/>
          </a:bodyPr>
          <a:lstStyle>
            <a:lvl1pPr marL="152400" indent="-152400">
              <a:lnSpc>
                <a:spcPct val="90000"/>
              </a:lnSpc>
              <a:spcAft>
                <a:spcPts val="1000"/>
              </a:spcAft>
              <a:buClr>
                <a:schemeClr val="accent2"/>
              </a:buClr>
              <a:buSzPct val="90000"/>
              <a:buFont typeface="Calibri" panose="020F0502020204030204" pitchFamily="34" charset="0"/>
              <a:buChar char="•"/>
              <a:defRPr sz="1400">
                <a:solidFill>
                  <a:schemeClr val="tx1"/>
                </a:solidFill>
                <a:latin typeface="+mn-lt"/>
              </a:defRPr>
            </a:lvl1pPr>
            <a:lvl2pPr marL="3810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2pPr>
            <a:lvl3pPr marL="5715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3pPr>
            <a:lvl4pPr marL="808038"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4pPr>
            <a:lvl5pPr marL="1012825"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5pPr>
          </a:lstStyle>
          <a:p>
            <a:pPr lvl="0"/>
            <a:r>
              <a:rPr lang="en-US" dirty="0"/>
              <a:t>Primary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Placeholder 1">
            <a:extLst>
              <a:ext uri="{FF2B5EF4-FFF2-40B4-BE49-F238E27FC236}">
                <a16:creationId xmlns:a16="http://schemas.microsoft.com/office/drawing/2014/main" id="{A33B111F-F2B3-4B09-A620-646ADA82346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2" name="Footer Placeholder 9">
            <a:extLst>
              <a:ext uri="{FF2B5EF4-FFF2-40B4-BE49-F238E27FC236}">
                <a16:creationId xmlns:a16="http://schemas.microsoft.com/office/drawing/2014/main" id="{495BA40B-7C37-42F1-B7C1-7B99D09A7869}"/>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72612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Conclusio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10FCADA2-9A2F-DEC7-02A8-24E45BDD9186}"/>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590928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n-lt"/>
                <a:cs typeface="Times New Roman" panose="02020603050405020304" pitchFamily="18" charset="0"/>
              </a:rPr>
              <a:t>SIXTH STREET HIGHLY CONFIDENTIAL  </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n-lt"/>
              </a:defRPr>
            </a:lvl1pPr>
          </a:lstStyle>
          <a:p>
            <a:fld id="{C094185C-1F9E-4EDB-A688-258533A03247}" type="slidenum">
              <a:rPr lang="en-US" smtClean="0"/>
              <a:pPr/>
              <a:t>‹#›</a:t>
            </a:fld>
            <a:endParaRPr lang="en-US" dirty="0"/>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0020" y="6483744"/>
            <a:ext cx="172005" cy="228600"/>
          </a:xfrm>
          <a:prstGeom prst="rect">
            <a:avLst/>
          </a:prstGeom>
        </p:spPr>
      </p:pic>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6012375"/>
            <a:ext cx="9144000" cy="387798"/>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(1 Line)</a:t>
            </a:r>
          </a:p>
        </p:txBody>
      </p:sp>
      <p:sp>
        <p:nvSpPr>
          <p:cNvPr id="17" name="Footer Placeholder 9">
            <a:extLst>
              <a:ext uri="{FF2B5EF4-FFF2-40B4-BE49-F238E27FC236}">
                <a16:creationId xmlns:a16="http://schemas.microsoft.com/office/drawing/2014/main" id="{93F0BEE6-6287-497F-8F23-56B983264FA0}"/>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7594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Conclusion 2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2977498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n-lt"/>
                <a:cs typeface="Times New Roman" panose="02020603050405020304" pitchFamily="18" charset="0"/>
              </a:rPr>
              <a:t>SIXTH STREET HIGHLY CONFIDENTIAL  </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020" y="6483744"/>
            <a:ext cx="172005" cy="228600"/>
          </a:xfrm>
          <a:prstGeom prst="rect">
            <a:avLst/>
          </a:prstGeom>
        </p:spPr>
      </p:pic>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(2 Lines)</a:t>
            </a:r>
          </a:p>
        </p:txBody>
      </p:sp>
      <p:sp>
        <p:nvSpPr>
          <p:cNvPr id="16" name="Footer Placeholder 9">
            <a:extLst>
              <a:ext uri="{FF2B5EF4-FFF2-40B4-BE49-F238E27FC236}">
                <a16:creationId xmlns:a16="http://schemas.microsoft.com/office/drawing/2014/main" id="{951A21E2-CBFB-478C-97E6-1DF85619A1CA}"/>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17444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Conclusion 3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3497496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12" name="Graphic 11">
            <a:extLst>
              <a:ext uri="{FF2B5EF4-FFF2-40B4-BE49-F238E27FC236}">
                <a16:creationId xmlns:a16="http://schemas.microsoft.com/office/drawing/2014/main" id="{64E6E1C3-C36D-46C0-B446-426B4BC652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0020" y="6483744"/>
            <a:ext cx="172005" cy="228600"/>
          </a:xfrm>
          <a:prstGeom prst="rect">
            <a:avLst/>
          </a:prstGeom>
        </p:spPr>
      </p:pic>
      <p:cxnSp>
        <p:nvCxnSpPr>
          <p:cNvPr id="13" name="Straight Connector 12">
            <a:extLst>
              <a:ext uri="{FF2B5EF4-FFF2-40B4-BE49-F238E27FC236}">
                <a16:creationId xmlns:a16="http://schemas.microsoft.com/office/drawing/2014/main" id="{C52B61BF-428D-4935-80AF-D4AF69F54312}"/>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4" name="Slide Number Placeholder 2">
            <a:extLst>
              <a:ext uri="{FF2B5EF4-FFF2-40B4-BE49-F238E27FC236}">
                <a16:creationId xmlns:a16="http://schemas.microsoft.com/office/drawing/2014/main" id="{F59A2AFC-BF60-4FC5-892A-34473E7FD8BB}"/>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sp>
        <p:nvSpPr>
          <p:cNvPr id="16" name="Title Placeholder 1">
            <a:extLst>
              <a:ext uri="{FF2B5EF4-FFF2-40B4-BE49-F238E27FC236}">
                <a16:creationId xmlns:a16="http://schemas.microsoft.com/office/drawing/2014/main" id="{E991F92D-64B8-402A-AAF3-8FC50FF9921D}"/>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21" name="Text Placeholder 4">
            <a:extLst>
              <a:ext uri="{FF2B5EF4-FFF2-40B4-BE49-F238E27FC236}">
                <a16:creationId xmlns:a16="http://schemas.microsoft.com/office/drawing/2014/main" id="{E6127545-1C92-4332-96DD-DA86E8F50048}"/>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sz="1400"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(3 lines)</a:t>
            </a:r>
          </a:p>
        </p:txBody>
      </p:sp>
      <p:sp>
        <p:nvSpPr>
          <p:cNvPr id="17" name="Footer Placeholder 9">
            <a:extLst>
              <a:ext uri="{FF2B5EF4-FFF2-40B4-BE49-F238E27FC236}">
                <a16:creationId xmlns:a16="http://schemas.microsoft.com/office/drawing/2014/main" id="{2E88C089-8DAD-48CA-8000-879AB7290D4F}"/>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990064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6C1E106-B173-4C77-84E9-0384A2B8C8C4}"/>
              </a:ext>
            </a:extLst>
          </p:cNvPr>
          <p:cNvGraphicFramePr>
            <a:graphicFrameLocks noChangeAspect="1"/>
          </p:cNvGraphicFramePr>
          <p:nvPr>
            <p:custDataLst>
              <p:tags r:id="rId1"/>
            </p:custDataLst>
            <p:extLst>
              <p:ext uri="{D42A27DB-BD31-4B8C-83A1-F6EECF244321}">
                <p14:modId xmlns:p14="http://schemas.microsoft.com/office/powerpoint/2010/main" val="1196371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B6C1E106-B173-4C77-84E9-0384A2B8C8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BAE97C9-37B0-466E-97BF-1B5E905EFC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6" name="Subtitle"/>
          <p:cNvSpPr>
            <a:spLocks noGrp="1"/>
          </p:cNvSpPr>
          <p:nvPr>
            <p:ph type="subTitle" idx="1" hasCustomPrompt="1"/>
          </p:nvPr>
        </p:nvSpPr>
        <p:spPr>
          <a:xfrm>
            <a:off x="3873379" y="3602915"/>
            <a:ext cx="5106259" cy="406265"/>
          </a:xfrm>
          <a:prstGeom prst="rect">
            <a:avLst/>
          </a:prstGeom>
          <a:noFill/>
        </p:spPr>
        <p:txBody>
          <a:bodyPr wrap="square" lIns="0" tIns="91440" rIns="0" bIns="91440" rtlCol="0" anchor="t" anchorCtr="0">
            <a:spAutoFit/>
          </a:bodyPr>
          <a:lstStyle>
            <a:lvl1pPr marL="0" indent="0" algn="r">
              <a:buNone/>
              <a:defRPr lang="en-US" sz="1600" kern="1200" spc="100" baseline="0" dirty="0">
                <a:solidFill>
                  <a:schemeClr val="tx1"/>
                </a:solidFill>
                <a:latin typeface="+mn-lt"/>
              </a:defRPr>
            </a:lvl1pPr>
          </a:lstStyle>
          <a:p>
            <a:pPr marL="0" lvl="0" algn="r" defTabSz="914400">
              <a:lnSpc>
                <a:spcPct val="90000"/>
              </a:lnSpc>
              <a:spcAft>
                <a:spcPts val="200"/>
              </a:spcAft>
            </a:pPr>
            <a:r>
              <a:rPr lang="en-US" dirty="0"/>
              <a:t>Subtitle</a:t>
            </a:r>
          </a:p>
        </p:txBody>
      </p:sp>
      <p:sp>
        <p:nvSpPr>
          <p:cNvPr id="8" name="Title"/>
          <p:cNvSpPr>
            <a:spLocks noGrp="1"/>
          </p:cNvSpPr>
          <p:nvPr>
            <p:ph type="ctrTitle" hasCustomPrompt="1"/>
          </p:nvPr>
        </p:nvSpPr>
        <p:spPr bwMode="black">
          <a:xfrm>
            <a:off x="3873381" y="2848821"/>
            <a:ext cx="5106258" cy="710964"/>
          </a:xfrm>
          <a:prstGeom prst="rect">
            <a:avLst/>
          </a:prstGeom>
          <a:noFill/>
        </p:spPr>
        <p:txBody>
          <a:bodyPr vert="horz" wrap="square" lIns="0" tIns="91440" rIns="0" bIns="91440" rtlCol="0" anchor="b" anchorCtr="0">
            <a:spAutoFit/>
          </a:bodyPr>
          <a:lstStyle>
            <a:lvl1pPr algn="r">
              <a:defRPr lang="en-US" sz="3800" kern="1200" dirty="0">
                <a:solidFill>
                  <a:schemeClr val="tx1"/>
                </a:solidFill>
                <a:ea typeface="+mn-ea"/>
              </a:defRPr>
            </a:lvl1pPr>
          </a:lstStyle>
          <a:p>
            <a:pPr marL="0" lvl="0" algn="r" defTabSz="914400">
              <a:lnSpc>
                <a:spcPct val="90000"/>
              </a:lnSpc>
              <a:spcAft>
                <a:spcPts val="200"/>
              </a:spcAft>
            </a:pPr>
            <a:r>
              <a:rPr lang="en-US" dirty="0"/>
              <a:t>Section Header</a:t>
            </a:r>
          </a:p>
        </p:txBody>
      </p:sp>
      <p:cxnSp>
        <p:nvCxnSpPr>
          <p:cNvPr id="10" name="Separator Line"/>
          <p:cNvCxnSpPr/>
          <p:nvPr/>
        </p:nvCxnSpPr>
        <p:spPr>
          <a:xfrm>
            <a:off x="-627882" y="4920282"/>
            <a:ext cx="7315200" cy="0"/>
          </a:xfrm>
          <a:prstGeom prst="line">
            <a:avLst/>
          </a:prstGeom>
          <a:solidFill>
            <a:srgbClr val="093A5B"/>
          </a:solidFill>
          <a:ln w="28575">
            <a:no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E9A2843-21AE-42D6-8784-C5A9BFF48788}"/>
              </a:ext>
            </a:extLst>
          </p:cNvPr>
          <p:cNvCxnSpPr>
            <a:cxnSpLocks/>
          </p:cNvCxnSpPr>
          <p:nvPr/>
        </p:nvCxnSpPr>
        <p:spPr>
          <a:xfrm flipH="1">
            <a:off x="3873381" y="3557500"/>
            <a:ext cx="5106258"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00B59AB-BD73-4A7B-91F0-A59C1AE5F65B}"/>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11" name="Graphic 10">
            <a:extLst>
              <a:ext uri="{FF2B5EF4-FFF2-40B4-BE49-F238E27FC236}">
                <a16:creationId xmlns:a16="http://schemas.microsoft.com/office/drawing/2014/main" id="{24B358AB-17AD-4FA9-8A44-BD44ACC08C22}"/>
              </a:ext>
            </a:extLst>
          </p:cNvPr>
          <p:cNvPicPr>
            <a:picLocks noChangeAspect="1"/>
          </p:cNvPicPr>
          <p:nvPr/>
        </p:nvPicPr>
        <p:blipFill rotWithShape="1">
          <a:blip>
            <a:extLst>
              <a:ext uri="{96DAC541-7B7A-43D3-8B79-37D633B846F1}">
                <asvg:svgBlip xmlns:asvg="http://schemas.microsoft.com/office/drawing/2016/SVG/main" r:embed="rId6"/>
              </a:ext>
            </a:extLst>
          </a:blip>
          <a:srcRect l="4433" r="77670"/>
          <a:stretch/>
        </p:blipFill>
        <p:spPr>
          <a:xfrm>
            <a:off x="-1" y="566065"/>
            <a:ext cx="3538097" cy="5725870"/>
          </a:xfrm>
          <a:prstGeom prst="rect">
            <a:avLst/>
          </a:prstGeom>
        </p:spPr>
      </p:pic>
    </p:spTree>
    <p:extLst>
      <p:ext uri="{BB962C8B-B14F-4D97-AF65-F5344CB8AC3E}">
        <p14:creationId xmlns:p14="http://schemas.microsoft.com/office/powerpoint/2010/main" val="967088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Slide">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BB23FA3-3B9F-4453-9487-4B573E32590A}"/>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B07B5FF-747D-4FD2-9258-7FAF13AFF8BD}"/>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6" name="Graphic 5">
            <a:extLst>
              <a:ext uri="{FF2B5EF4-FFF2-40B4-BE49-F238E27FC236}">
                <a16:creationId xmlns:a16="http://schemas.microsoft.com/office/drawing/2014/main" id="{84735A86-BA87-4032-932A-92D1E3056C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 y="6483744"/>
            <a:ext cx="172005" cy="228600"/>
          </a:xfrm>
          <a:prstGeom prst="rect">
            <a:avLst/>
          </a:prstGeom>
        </p:spPr>
      </p:pic>
      <p:sp>
        <p:nvSpPr>
          <p:cNvPr id="7" name="Slide Number Placeholder 2">
            <a:extLst>
              <a:ext uri="{FF2B5EF4-FFF2-40B4-BE49-F238E27FC236}">
                <a16:creationId xmlns:a16="http://schemas.microsoft.com/office/drawing/2014/main" id="{A0890C6F-06EA-454E-98CD-D3A69BFC0B6E}"/>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1" name="Footer Placeholder 9">
            <a:extLst>
              <a:ext uri="{FF2B5EF4-FFF2-40B4-BE49-F238E27FC236}">
                <a16:creationId xmlns:a16="http://schemas.microsoft.com/office/drawing/2014/main" id="{DA768706-9A6D-4AF2-8D4C-5C1C376B50F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979457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59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ixth Street IRC_Cov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7205971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chemeClr val="tx1"/>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chemeClr val="tx1"/>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5290138-6D0A-45FE-9B62-D5B9205EE5EE}"/>
              </a:ext>
            </a:extLst>
          </p:cNvPr>
          <p:cNvSpPr/>
          <p:nvPr/>
        </p:nvSpPr>
        <p:spPr bwMode="gray">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a:solidFill>
                  <a:schemeClr val="accent2"/>
                </a:solidFill>
                <a:latin typeface="+mj-lt"/>
                <a:cs typeface="Times New Roman" panose="02020603050405020304" pitchFamily="18" charset="0"/>
              </a:rPr>
              <a:t>SIXTH STREET HIGHLY CONFIDENTIAL</a:t>
            </a:r>
          </a:p>
        </p:txBody>
      </p:sp>
      <p:pic>
        <p:nvPicPr>
          <p:cNvPr id="14" name="Picture 13">
            <a:extLst>
              <a:ext uri="{FF2B5EF4-FFF2-40B4-BE49-F238E27FC236}">
                <a16:creationId xmlns:a16="http://schemas.microsoft.com/office/drawing/2014/main" id="{4530DCAC-21AF-42C4-9A28-514556CFD3EC}"/>
              </a:ext>
            </a:extLst>
          </p:cNvPr>
          <p:cNvPicPr>
            <a:picLocks noChangeAspect="1"/>
          </p:cNvPicPr>
          <p:nvPr/>
        </p:nvPicPr>
        <p:blipFill>
          <a:blip r:embed="rId6"/>
          <a:stretch>
            <a:fillRect/>
          </a:stretch>
        </p:blipFill>
        <p:spPr bwMode="auto">
          <a:xfrm>
            <a:off x="5990083" y="581233"/>
            <a:ext cx="2715499" cy="758952"/>
          </a:xfrm>
          <a:prstGeom prst="rect">
            <a:avLst/>
          </a:prstGeom>
        </p:spPr>
      </p:pic>
      <p:pic>
        <p:nvPicPr>
          <p:cNvPr id="11" name="Graphic 10">
            <a:extLst>
              <a:ext uri="{FF2B5EF4-FFF2-40B4-BE49-F238E27FC236}">
                <a16:creationId xmlns:a16="http://schemas.microsoft.com/office/drawing/2014/main" id="{ABE781A6-05F4-4478-97BF-E0CF236080E7}"/>
              </a:ext>
            </a:extLst>
          </p:cNvPr>
          <p:cNvPicPr>
            <a:picLocks noChangeAspect="1"/>
          </p:cNvPicPr>
          <p:nvPr/>
        </p:nvPicPr>
        <p:blipFill rotWithShape="1">
          <a:blip>
            <a:extLst>
              <a:ext uri="{96DAC541-7B7A-43D3-8B79-37D633B846F1}">
                <asvg:svgBlip xmlns:asvg="http://schemas.microsoft.com/office/drawing/2016/SVG/main" r:embed="rId7"/>
              </a:ext>
            </a:extLst>
          </a:blip>
          <a:srcRect l="4433" r="77670"/>
          <a:stretch/>
        </p:blipFill>
        <p:spPr>
          <a:xfrm>
            <a:off x="-1" y="566065"/>
            <a:ext cx="3538097" cy="5725870"/>
          </a:xfrm>
          <a:prstGeom prst="rect">
            <a:avLst/>
          </a:prstGeom>
        </p:spPr>
      </p:pic>
    </p:spTree>
    <p:extLst>
      <p:ext uri="{BB962C8B-B14F-4D97-AF65-F5344CB8AC3E}">
        <p14:creationId xmlns:p14="http://schemas.microsoft.com/office/powerpoint/2010/main" val="1956848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Video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92B1BF-28F6-4844-8E5E-01EB638FE72B}"/>
              </a:ext>
            </a:extLst>
          </p:cNvPr>
          <p:cNvSpPr/>
          <p:nvPr/>
        </p:nvSpPr>
        <p:spPr>
          <a:xfrm>
            <a:off x="0" y="0"/>
            <a:ext cx="9144000" cy="6858000"/>
          </a:xfrm>
          <a:prstGeom prst="rect">
            <a:avLst/>
          </a:prstGeom>
          <a:solidFill>
            <a:srgbClr val="05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Tree>
    <p:extLst>
      <p:ext uri="{BB962C8B-B14F-4D97-AF65-F5344CB8AC3E}">
        <p14:creationId xmlns:p14="http://schemas.microsoft.com/office/powerpoint/2010/main" val="36533881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tags" Target="../tags/tag3.xml"/><Relationship Id="rId16" Type="http://schemas.openxmlformats.org/officeDocument/2006/relationships/oleObject" Target="../embeddings/oleObject1.bin"/><Relationship Id="rId17" Type="http://schemas.openxmlformats.org/officeDocument/2006/relationships/image" Target="../media/image2.emf"/><Relationship Id="rId18"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7B823948-C8BC-4DDC-BFA1-F25EE97AD3B3}"/>
              </a:ext>
            </a:extLst>
          </p:cNvPr>
          <p:cNvGraphicFramePr>
            <a:graphicFrameLocks noChangeAspect="1"/>
          </p:cNvGraphicFramePr>
          <p:nvPr>
            <p:custDataLst>
              <p:tags r:id="rId14"/>
            </p:custDataLst>
            <p:extLst>
              <p:ext uri="{D42A27DB-BD31-4B8C-83A1-F6EECF244321}">
                <p14:modId xmlns:p14="http://schemas.microsoft.com/office/powerpoint/2010/main" val="1683187985"/>
              </p:ext>
            </p:extLst>
          </p:nvPr>
        </p:nvGraphicFramePr>
        <p:xfrm>
          <a:off x="1589" y="1642"/>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9" name="Object 8" hidden="1">
                        <a:extLst>
                          <a:ext uri="{FF2B5EF4-FFF2-40B4-BE49-F238E27FC236}">
                            <a16:creationId xmlns:a16="http://schemas.microsoft.com/office/drawing/2014/main" id="{7B823948-C8BC-4DDC-BFA1-F25EE97AD3B3}"/>
                          </a:ext>
                        </a:extLst>
                      </p:cNvPr>
                      <p:cNvPicPr/>
                      <p:nvPr/>
                    </p:nvPicPr>
                    <p:blipFill>
                      <a:blip r:embed="rId17"/>
                      <a:stretch>
                        <a:fillRect/>
                      </a:stretch>
                    </p:blipFill>
                    <p:spPr>
                      <a:xfrm>
                        <a:off x="1589" y="164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17F23A7-24A7-497E-BB1F-85A26570FD86}"/>
              </a:ext>
            </a:extLst>
          </p:cNvPr>
          <p:cNvSpPr/>
          <p:nvPr>
            <p:custDataLst>
              <p:tags r:id="rId15"/>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cxnSp>
        <p:nvCxnSpPr>
          <p:cNvPr id="20" name="Straight Connector 19">
            <a:extLst>
              <a:ext uri="{FF2B5EF4-FFF2-40B4-BE49-F238E27FC236}">
                <a16:creationId xmlns:a16="http://schemas.microsoft.com/office/drawing/2014/main" id="{74C370E3-CF6A-4D97-8AD5-089BA3E27527}"/>
              </a:ext>
            </a:extLst>
          </p:cNvPr>
          <p:cNvCxnSpPr/>
          <p:nvPr/>
        </p:nvCxnSpPr>
        <p:spPr>
          <a:xfrm>
            <a:off x="160020" y="562214"/>
            <a:ext cx="882396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1" name="Title Placeholder 1">
            <a:extLst>
              <a:ext uri="{FF2B5EF4-FFF2-40B4-BE49-F238E27FC236}">
                <a16:creationId xmlns:a16="http://schemas.microsoft.com/office/drawing/2014/main" id="{9A985053-DDB2-42CC-9576-256F9E1F73A6}"/>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dirty="0"/>
              <a:t>SLIDE TITLE</a:t>
            </a:r>
          </a:p>
        </p:txBody>
      </p:sp>
      <p:cxnSp>
        <p:nvCxnSpPr>
          <p:cNvPr id="22" name="Straight Connector 21">
            <a:extLst>
              <a:ext uri="{FF2B5EF4-FFF2-40B4-BE49-F238E27FC236}">
                <a16:creationId xmlns:a16="http://schemas.microsoft.com/office/drawing/2014/main" id="{48527956-E83A-47E0-A8F0-987241010AAF}"/>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3" name="Footer Placeholder 9">
            <a:extLst>
              <a:ext uri="{FF2B5EF4-FFF2-40B4-BE49-F238E27FC236}">
                <a16:creationId xmlns:a16="http://schemas.microsoft.com/office/drawing/2014/main" id="{220D5230-216B-47C2-AEBB-D8CFF7840A1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uFill>
                  <a:solidFill>
                    <a:schemeClr val="tx2"/>
                  </a:solidFill>
                </a:uFill>
                <a:latin typeface="+mj-lt"/>
                <a:ea typeface="+mn-ea"/>
                <a:cs typeface="+mn-cs"/>
              </a:defRPr>
            </a:lvl1pPr>
          </a:lstStyle>
          <a:p>
            <a:r>
              <a:rPr lang="en-US" dirty="0"/>
              <a:t>FOOTER ALL CAP</a:t>
            </a:r>
          </a:p>
        </p:txBody>
      </p:sp>
      <p:sp>
        <p:nvSpPr>
          <p:cNvPr id="24" name="Slide Number Placeholder 2">
            <a:extLst>
              <a:ext uri="{FF2B5EF4-FFF2-40B4-BE49-F238E27FC236}">
                <a16:creationId xmlns:a16="http://schemas.microsoft.com/office/drawing/2014/main" id="{BEEB6E2A-1563-43CE-9948-D57D6580BB7D}"/>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25" name="Rectangle 24">
            <a:extLst>
              <a:ext uri="{FF2B5EF4-FFF2-40B4-BE49-F238E27FC236}">
                <a16:creationId xmlns:a16="http://schemas.microsoft.com/office/drawing/2014/main" id="{E4483F20-0475-4D46-92FD-A1A83EB07A63}"/>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a:solidFill>
                  <a:schemeClr val="accent2"/>
                </a:solidFill>
                <a:latin typeface="+mj-lt"/>
                <a:cs typeface="Times New Roman" panose="02020603050405020304" pitchFamily="18" charset="0"/>
              </a:rPr>
              <a:t>SIXTH STREET HIGHLY CONFIDENTIAL  </a:t>
            </a:r>
          </a:p>
        </p:txBody>
      </p:sp>
      <p:pic>
        <p:nvPicPr>
          <p:cNvPr id="26" name="Graphic 25">
            <a:extLst>
              <a:ext uri="{FF2B5EF4-FFF2-40B4-BE49-F238E27FC236}">
                <a16:creationId xmlns:a16="http://schemas.microsoft.com/office/drawing/2014/main" id="{9AE453D8-EF2C-4F34-B85D-62E9446D18D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60020" y="6483744"/>
            <a:ext cx="172005" cy="228600"/>
          </a:xfrm>
          <a:prstGeom prst="rect">
            <a:avLst/>
          </a:prstGeom>
        </p:spPr>
      </p:pic>
    </p:spTree>
    <p:extLst>
      <p:ext uri="{BB962C8B-B14F-4D97-AF65-F5344CB8AC3E}">
        <p14:creationId xmlns:p14="http://schemas.microsoft.com/office/powerpoint/2010/main" val="1850678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290" rtl="0" eaLnBrk="1" latinLnBrk="0" hangingPunct="1">
        <a:spcBef>
          <a:spcPct val="0"/>
        </a:spcBef>
        <a:buNone/>
        <a:tabLst>
          <a:tab pos="457200" algn="l"/>
        </a:tabLst>
        <a:defRPr lang="en-US" sz="2200" kern="0" cap="all" spc="0" baseline="0" dirty="0">
          <a:solidFill>
            <a:schemeClr val="tx1"/>
          </a:solidFill>
          <a:latin typeface="+mj-lt"/>
          <a:ea typeface="+mj-ea"/>
          <a:cs typeface="+mj-cs"/>
        </a:defRPr>
      </a:lvl1pPr>
    </p:titleStyle>
    <p:bodyStyle>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0" rtl="0" eaLnBrk="1" latinLnBrk="0" hangingPunct="1">
        <a:defRPr sz="1800" kern="1200">
          <a:solidFill>
            <a:schemeClr val="tx1"/>
          </a:solidFill>
          <a:latin typeface="+mn-lt"/>
          <a:ea typeface="+mn-ea"/>
          <a:cs typeface="+mn-cs"/>
        </a:defRPr>
      </a:lvl1pPr>
      <a:lvl2pPr marL="457145" algn="l" defTabSz="914290" rtl="0" eaLnBrk="1" latinLnBrk="0" hangingPunct="1">
        <a:defRPr sz="1800" kern="1200">
          <a:solidFill>
            <a:schemeClr val="tx1"/>
          </a:solidFill>
          <a:latin typeface="+mn-lt"/>
          <a:ea typeface="+mn-ea"/>
          <a:cs typeface="+mn-cs"/>
        </a:defRPr>
      </a:lvl2pPr>
      <a:lvl3pPr marL="914290" algn="l" defTabSz="914290" rtl="0" eaLnBrk="1" latinLnBrk="0" hangingPunct="1">
        <a:defRPr sz="1800" kern="1200">
          <a:solidFill>
            <a:schemeClr val="tx1"/>
          </a:solidFill>
          <a:latin typeface="+mn-lt"/>
          <a:ea typeface="+mn-ea"/>
          <a:cs typeface="+mn-cs"/>
        </a:defRPr>
      </a:lvl3pPr>
      <a:lvl4pPr marL="1371435" algn="l" defTabSz="914290" rtl="0" eaLnBrk="1" latinLnBrk="0" hangingPunct="1">
        <a:defRPr sz="1800" kern="1200">
          <a:solidFill>
            <a:schemeClr val="tx1"/>
          </a:solidFill>
          <a:latin typeface="+mn-lt"/>
          <a:ea typeface="+mn-ea"/>
          <a:cs typeface="+mn-cs"/>
        </a:defRPr>
      </a:lvl4pPr>
      <a:lvl5pPr marL="1828581" algn="l" defTabSz="914290" rtl="0" eaLnBrk="1" latinLnBrk="0" hangingPunct="1">
        <a:defRPr sz="1800" kern="1200">
          <a:solidFill>
            <a:schemeClr val="tx1"/>
          </a:solidFill>
          <a:latin typeface="+mn-lt"/>
          <a:ea typeface="+mn-ea"/>
          <a:cs typeface="+mn-cs"/>
        </a:defRPr>
      </a:lvl5pPr>
      <a:lvl6pPr marL="2285726" algn="l" defTabSz="914290" rtl="0" eaLnBrk="1" latinLnBrk="0" hangingPunct="1">
        <a:defRPr sz="1800" kern="1200">
          <a:solidFill>
            <a:schemeClr val="tx1"/>
          </a:solidFill>
          <a:latin typeface="+mn-lt"/>
          <a:ea typeface="+mn-ea"/>
          <a:cs typeface="+mn-cs"/>
        </a:defRPr>
      </a:lvl6pPr>
      <a:lvl7pPr marL="2742871" algn="l" defTabSz="914290" rtl="0" eaLnBrk="1" latinLnBrk="0" hangingPunct="1">
        <a:defRPr sz="1800" kern="1200">
          <a:solidFill>
            <a:schemeClr val="tx1"/>
          </a:solidFill>
          <a:latin typeface="+mn-lt"/>
          <a:ea typeface="+mn-ea"/>
          <a:cs typeface="+mn-cs"/>
        </a:defRPr>
      </a:lvl7pPr>
      <a:lvl8pPr marL="3200016" algn="l" defTabSz="914290" rtl="0" eaLnBrk="1" latinLnBrk="0" hangingPunct="1">
        <a:defRPr sz="1800" kern="1200">
          <a:solidFill>
            <a:schemeClr val="tx1"/>
          </a:solidFill>
          <a:latin typeface="+mn-lt"/>
          <a:ea typeface="+mn-ea"/>
          <a:cs typeface="+mn-cs"/>
        </a:defRPr>
      </a:lvl8pPr>
      <a:lvl9pPr marL="3657161" algn="l" defTabSz="914290" rtl="0" eaLnBrk="1" latinLnBrk="0" hangingPunct="1">
        <a:defRPr sz="1800" kern="1200">
          <a:solidFill>
            <a:schemeClr val="tx1"/>
          </a:solidFill>
          <a:latin typeface="+mn-lt"/>
          <a:ea typeface="+mn-ea"/>
          <a:cs typeface="+mn-cs"/>
        </a:defRPr>
      </a:lvl9pPr>
    </p:otherStyle>
  </p:txStyles>
</p:sldMaster>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 Id="rId3" Type="http://schemas.openxmlformats.org/officeDocument/2006/relationships/chart" Target="../charts/char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8.xml"/></Relationships>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Conduit CMBS Losses</a:t>
            </a:r>
          </a:p>
        </p:txBody>
      </p:sp>
      <p:sp>
        <p:nvSpPr>
          <p:cNvPr id="2" name="Slide Number Placeholder 1">
            <a:extLst>
              <a:ext uri="{FF2B5EF4-FFF2-40B4-BE49-F238E27FC236}">
                <a16:creationId xmlns:a16="http://schemas.microsoft.com/office/drawing/2014/main" id="{702B8BD4-FDE2-F1CD-E614-2B87BA194916}"/>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30</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extBox 2"/>
          <p:cNvSpPr txBox="1"/>
          <p:nvPr/>
        </p:nvSpPr>
        <p:spPr>
          <a:xfrm>
            <a:off x="160020" y="603504"/>
            <a:ext cx="8823960" cy="1298448"/>
          </a:xfrm>
          <a:prstGeom prst="rect">
            <a:avLst/>
          </a:prstGeom>
          <a:noFill/>
          <a:ln w="9525">
            <a:solidFill>
              <a:srgbClr val="BFBFBF"/>
            </a:solidFill>
          </a:ln>
        </p:spPr>
        <p:txBody>
          <a:bodyPr wrap="square" tIns="27432" bIns="27432" anchor="t"/>
          <a:lstStyle/>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Conduit CMBS loans securitized from 1995 through Q1 2025 have a 16.9% cumulative default rate and a 4.4% cumulative loss rate across 108,096 loans and more than $1.4 trillion of balance, with an average severity of 49.7% on loans that incurred a loss above 2%.</a:t>
            </a:r>
          </a:p>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Losses are concentrated in the 2005 to 2008 vintages, which account for 46.8% of all defaults. The 2008 vintage carries the highest cumulative default rate (32.7%) and loss rate (16.3%), a level that would exhaust any B-piece and impair investment grade classes.</a:t>
            </a:r>
          </a:p>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Loss recognition is accelerating. Conduit liquidations reached $2.7B in 2025 and are annualizing at $4.3B in 2026, with severity rising from roughly 40% in 2021 and 2022 to 55% in 2025 and 66% in 2026 year to date, led by office.</a:t>
            </a:r>
          </a:p>
        </p:txBody>
      </p:sp>
      <p:graphicFrame>
        <p:nvGraphicFramePr>
          <p:cNvPr id="4" name="Table 3"/>
          <p:cNvGraphicFramePr>
            <a:graphicFrameLocks noGrp="1"/>
          </p:cNvGraphicFramePr>
          <p:nvPr/>
        </p:nvGraphicFramePr>
        <p:xfrm>
          <a:off x="160020" y="2039112"/>
          <a:ext cx="4343399" cy="2852928"/>
        </p:xfrm>
        <a:graphic>
          <a:graphicData uri="http://schemas.openxmlformats.org/drawingml/2006/table">
            <a:tbl>
              <a:tblPr firstRow="0" bandRow="0">
                <a:tableStyleId>{5940675A-B579-460E-94D1-54222C63F5DA}</a:tableStyleId>
              </a:tblPr>
              <a:tblGrid>
                <a:gridCol w="3154680"/>
                <a:gridCol w="1188719"/>
              </a:tblGrid>
              <a:tr h="219456">
                <a:tc gridSpan="2">
                  <a:txBody>
                    <a:bodyPr/>
                    <a:lstStyle/>
                    <a:p>
                      <a:pPr marL="0" indent="0" algn="ctr">
                        <a:spcBef>
                          <a:spcPts val="0"/>
                        </a:spcBef>
                        <a:spcAft>
                          <a:spcPts val="0"/>
                        </a:spcAft>
                        <a:buNone/>
                      </a:pPr>
                      <a:r>
                        <a:rPr sz="900" b="1" i="0">
                          <a:solidFill>
                            <a:srgbClr val="FEFEFE"/>
                          </a:solidFill>
                          <a:latin typeface="Calibri"/>
                        </a:rPr>
                        <a:t>Conduit Default &amp; Loss Study (1995 to Q1 2025)</a:t>
                      </a:r>
                    </a:p>
                  </a:txBody>
                  <a:tcPr>
                    <a:solidFill>
                      <a:srgbClr val="0E2E51"/>
                    </a:solidFill>
                  </a:tcPr>
                </a:tc>
                <a:tc hMerge="1">
                  <a:txBody>
                    <a:bodyPr/>
                    <a:lstStyle/>
                    <a:p/>
                  </a:txBody>
                  <a:tcPr/>
                </a:tc>
              </a:tr>
              <a:tr h="219456">
                <a:tc>
                  <a:txBody>
                    <a:bodyPr/>
                    <a:lstStyle/>
                    <a:p>
                      <a:pPr marL="0" indent="0" algn="l">
                        <a:spcBef>
                          <a:spcPts val="0"/>
                        </a:spcBef>
                        <a:spcAft>
                          <a:spcPts val="0"/>
                        </a:spcAft>
                        <a:buNone/>
                      </a:pPr>
                      <a:r>
                        <a:rPr sz="900" b="1" i="0">
                          <a:solidFill>
                            <a:srgbClr val="FEFEFE"/>
                          </a:solidFill>
                          <a:latin typeface="Calibri"/>
                        </a:rPr>
                        <a:t>Metric</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900" b="1" i="0">
                          <a:solidFill>
                            <a:srgbClr val="FEFEFE"/>
                          </a:solidFill>
                          <a:latin typeface="Calibri"/>
                        </a:rPr>
                        <a:t>Value</a:t>
                      </a:r>
                    </a:p>
                  </a:txBody>
                  <a:tcPr marL="36576" marR="36576" marT="9144" marB="9144" anchor="ctr">
                    <a:lnL w="0">
                      <a:noFill/>
                    </a:lnL>
                    <a:lnR w="0">
                      <a:noFill/>
                    </a:lnR>
                    <a:lnT w="0">
                      <a:noFill/>
                    </a:lnT>
                    <a:lnB w="0">
                      <a:noFill/>
                    </a:lnB>
                    <a:solidFill>
                      <a:srgbClr val="858D97"/>
                    </a:solidFill>
                  </a:tcPr>
                </a:tc>
              </a:tr>
              <a:tr h="219456">
                <a:tc>
                  <a:txBody>
                    <a:bodyPr/>
                    <a:lstStyle/>
                    <a:p>
                      <a:pPr marL="0" indent="0" algn="l">
                        <a:spcBef>
                          <a:spcPts val="0"/>
                        </a:spcBef>
                        <a:spcAft>
                          <a:spcPts val="0"/>
                        </a:spcAft>
                        <a:buNone/>
                      </a:pPr>
                      <a:r>
                        <a:rPr sz="900" b="0" i="0">
                          <a:solidFill>
                            <a:srgbClr val="080808"/>
                          </a:solidFill>
                          <a:latin typeface="Calibri"/>
                        </a:rPr>
                        <a:t>Loans in study</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108,096</a:t>
                      </a:r>
                    </a:p>
                  </a:txBody>
                  <a:tcPr marL="36576" marR="36576" marT="9144" marB="9144" anchor="ctr">
                    <a:lnL w="0">
                      <a:noFill/>
                    </a:lnL>
                    <a:lnR w="0">
                      <a:noFill/>
                    </a:lnR>
                    <a:lnT w="0">
                      <a:noFill/>
                    </a:lnT>
                    <a:lnB w="0">
                      <a:noFill/>
                    </a:lnB>
                    <a:noFill/>
                  </a:tcPr>
                </a:tc>
              </a:tr>
              <a:tr h="219456">
                <a:tc>
                  <a:txBody>
                    <a:bodyPr/>
                    <a:lstStyle/>
                    <a:p>
                      <a:pPr marL="0" indent="0" algn="l">
                        <a:spcBef>
                          <a:spcPts val="0"/>
                        </a:spcBef>
                        <a:spcAft>
                          <a:spcPts val="0"/>
                        </a:spcAft>
                        <a:buNone/>
                      </a:pPr>
                      <a:r>
                        <a:rPr sz="900" b="0" i="0">
                          <a:solidFill>
                            <a:srgbClr val="080808"/>
                          </a:solidFill>
                          <a:latin typeface="Calibri"/>
                        </a:rPr>
                        <a:t>Aggregate securitized balance</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$1.4T+</a:t>
                      </a:r>
                    </a:p>
                  </a:txBody>
                  <a:tcPr marL="36576" marR="36576" marT="9144" marB="9144" anchor="ctr">
                    <a:lnL w="0">
                      <a:noFill/>
                    </a:lnL>
                    <a:lnR w="0">
                      <a:noFill/>
                    </a:lnR>
                    <a:lnT w="0">
                      <a:noFill/>
                    </a:lnT>
                    <a:lnB w="0">
                      <a:noFill/>
                    </a:lnB>
                    <a:solidFill>
                      <a:srgbClr val="ECEEF0"/>
                    </a:solidFill>
                  </a:tcPr>
                </a:tc>
              </a:tr>
              <a:tr h="219456">
                <a:tc>
                  <a:txBody>
                    <a:bodyPr/>
                    <a:lstStyle/>
                    <a:p>
                      <a:pPr marL="0" indent="0" algn="l">
                        <a:spcBef>
                          <a:spcPts val="0"/>
                        </a:spcBef>
                        <a:spcAft>
                          <a:spcPts val="0"/>
                        </a:spcAft>
                        <a:buNone/>
                      </a:pPr>
                      <a:r>
                        <a:rPr sz="900" b="0" i="0">
                          <a:solidFill>
                            <a:srgbClr val="080808"/>
                          </a:solidFill>
                          <a:latin typeface="Calibri"/>
                        </a:rPr>
                        <a:t>Cumulative default rate</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16.9%</a:t>
                      </a:r>
                    </a:p>
                  </a:txBody>
                  <a:tcPr marL="36576" marR="36576" marT="9144" marB="9144" anchor="ctr">
                    <a:lnL w="0">
                      <a:noFill/>
                    </a:lnL>
                    <a:lnR w="0">
                      <a:noFill/>
                    </a:lnR>
                    <a:lnT w="0">
                      <a:noFill/>
                    </a:lnT>
                    <a:lnB w="0">
                      <a:noFill/>
                    </a:lnB>
                    <a:noFill/>
                  </a:tcPr>
                </a:tc>
              </a:tr>
              <a:tr h="219456">
                <a:tc>
                  <a:txBody>
                    <a:bodyPr/>
                    <a:lstStyle/>
                    <a:p>
                      <a:pPr marL="0" indent="0" algn="l">
                        <a:spcBef>
                          <a:spcPts val="0"/>
                        </a:spcBef>
                        <a:spcAft>
                          <a:spcPts val="0"/>
                        </a:spcAft>
                        <a:buNone/>
                      </a:pPr>
                      <a:r>
                        <a:rPr sz="900" b="1" i="0">
                          <a:solidFill>
                            <a:srgbClr val="080808"/>
                          </a:solidFill>
                          <a:latin typeface="Calibri"/>
                        </a:rPr>
                        <a:t>Cumulative loss rate</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1" i="0">
                          <a:solidFill>
                            <a:srgbClr val="080808"/>
                          </a:solidFill>
                          <a:latin typeface="Calibri"/>
                        </a:rPr>
                        <a:t>4.4%</a:t>
                      </a:r>
                    </a:p>
                  </a:txBody>
                  <a:tcPr marL="36576" marR="36576" marT="9144" marB="9144" anchor="ctr">
                    <a:lnL w="0">
                      <a:noFill/>
                    </a:lnL>
                    <a:lnR w="0">
                      <a:noFill/>
                    </a:lnR>
                    <a:lnT w="0">
                      <a:noFill/>
                    </a:lnT>
                    <a:lnB w="0">
                      <a:noFill/>
                    </a:lnB>
                    <a:solidFill>
                      <a:srgbClr val="F2DCDB"/>
                    </a:solidFill>
                  </a:tcPr>
                </a:tc>
              </a:tr>
              <a:tr h="219456">
                <a:tc>
                  <a:txBody>
                    <a:bodyPr/>
                    <a:lstStyle/>
                    <a:p>
                      <a:pPr marL="0" indent="0" algn="l">
                        <a:spcBef>
                          <a:spcPts val="0"/>
                        </a:spcBef>
                        <a:spcAft>
                          <a:spcPts val="0"/>
                        </a:spcAft>
                        <a:buNone/>
                      </a:pPr>
                      <a:r>
                        <a:rPr sz="900" b="0" i="0">
                          <a:solidFill>
                            <a:srgbClr val="080808"/>
                          </a:solidFill>
                          <a:latin typeface="Calibri"/>
                        </a:rPr>
                        <a:t>Loss severity: resolved loans with loss &gt; 2%</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49.7%</a:t>
                      </a:r>
                    </a:p>
                  </a:txBody>
                  <a:tcPr marL="36576" marR="36576" marT="9144" marB="9144" anchor="ctr">
                    <a:lnL w="0">
                      <a:noFill/>
                    </a:lnL>
                    <a:lnR w="0">
                      <a:noFill/>
                    </a:lnR>
                    <a:lnT w="0">
                      <a:noFill/>
                    </a:lnT>
                    <a:lnB w="0">
                      <a:noFill/>
                    </a:lnB>
                    <a:noFill/>
                  </a:tcPr>
                </a:tc>
              </a:tr>
              <a:tr h="219456">
                <a:tc>
                  <a:txBody>
                    <a:bodyPr/>
                    <a:lstStyle/>
                    <a:p>
                      <a:pPr marL="0" indent="0" algn="l">
                        <a:spcBef>
                          <a:spcPts val="0"/>
                        </a:spcBef>
                        <a:spcAft>
                          <a:spcPts val="0"/>
                        </a:spcAft>
                        <a:buNone/>
                      </a:pPr>
                      <a:r>
                        <a:rPr sz="900" b="0" i="0">
                          <a:solidFill>
                            <a:srgbClr val="080808"/>
                          </a:solidFill>
                          <a:latin typeface="Calibri"/>
                        </a:rPr>
                        <a:t>Loss severity: all resolved loans</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28.9%</a:t>
                      </a:r>
                    </a:p>
                  </a:txBody>
                  <a:tcPr marL="36576" marR="36576" marT="9144" marB="9144" anchor="ctr">
                    <a:lnL w="0">
                      <a:noFill/>
                    </a:lnL>
                    <a:lnR w="0">
                      <a:noFill/>
                    </a:lnR>
                    <a:lnT w="0">
                      <a:noFill/>
                    </a:lnT>
                    <a:lnB w="0">
                      <a:noFill/>
                    </a:lnB>
                    <a:solidFill>
                      <a:srgbClr val="ECEEF0"/>
                    </a:solidFill>
                  </a:tcPr>
                </a:tc>
              </a:tr>
              <a:tr h="219456">
                <a:tc>
                  <a:txBody>
                    <a:bodyPr/>
                    <a:lstStyle/>
                    <a:p>
                      <a:pPr marL="0" indent="0" algn="l">
                        <a:spcBef>
                          <a:spcPts val="0"/>
                        </a:spcBef>
                        <a:spcAft>
                          <a:spcPts val="0"/>
                        </a:spcAft>
                        <a:buNone/>
                      </a:pPr>
                      <a:r>
                        <a:rPr sz="900" b="0" i="0">
                          <a:solidFill>
                            <a:srgbClr val="080808"/>
                          </a:solidFill>
                          <a:latin typeface="Calibri"/>
                        </a:rPr>
                        <a:t>2005 to 2008 vintages: share of all defaults</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46.8%</a:t>
                      </a:r>
                    </a:p>
                  </a:txBody>
                  <a:tcPr marL="36576" marR="36576" marT="9144" marB="9144" anchor="ctr">
                    <a:lnL w="0">
                      <a:noFill/>
                    </a:lnL>
                    <a:lnR w="0">
                      <a:noFill/>
                    </a:lnR>
                    <a:lnT w="0">
                      <a:noFill/>
                    </a:lnT>
                    <a:lnB w="0">
                      <a:noFill/>
                    </a:lnB>
                    <a:noFill/>
                  </a:tcPr>
                </a:tc>
              </a:tr>
              <a:tr h="219456">
                <a:tc>
                  <a:txBody>
                    <a:bodyPr/>
                    <a:lstStyle/>
                    <a:p>
                      <a:pPr marL="0" indent="0" algn="l">
                        <a:spcBef>
                          <a:spcPts val="0"/>
                        </a:spcBef>
                        <a:spcAft>
                          <a:spcPts val="0"/>
                        </a:spcAft>
                        <a:buNone/>
                      </a:pPr>
                      <a:r>
                        <a:rPr sz="900" b="0" i="0">
                          <a:solidFill>
                            <a:srgbClr val="080808"/>
                          </a:solidFill>
                          <a:latin typeface="Calibri"/>
                        </a:rPr>
                        <a:t>2008 vintage: cumulative default rate</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32.7%</a:t>
                      </a:r>
                    </a:p>
                  </a:txBody>
                  <a:tcPr marL="36576" marR="36576" marT="9144" marB="9144" anchor="ctr">
                    <a:lnL w="0">
                      <a:noFill/>
                    </a:lnL>
                    <a:lnR w="0">
                      <a:noFill/>
                    </a:lnR>
                    <a:lnT w="0">
                      <a:noFill/>
                    </a:lnT>
                    <a:lnB w="0">
                      <a:noFill/>
                    </a:lnB>
                    <a:solidFill>
                      <a:srgbClr val="ECEEF0"/>
                    </a:solidFill>
                  </a:tcPr>
                </a:tc>
              </a:tr>
              <a:tr h="219456">
                <a:tc>
                  <a:txBody>
                    <a:bodyPr/>
                    <a:lstStyle/>
                    <a:p>
                      <a:pPr marL="0" indent="0" algn="l">
                        <a:spcBef>
                          <a:spcPts val="0"/>
                        </a:spcBef>
                        <a:spcAft>
                          <a:spcPts val="0"/>
                        </a:spcAft>
                        <a:buNone/>
                      </a:pPr>
                      <a:r>
                        <a:rPr sz="900" b="1" i="0">
                          <a:solidFill>
                            <a:srgbClr val="080808"/>
                          </a:solidFill>
                          <a:latin typeface="Calibri"/>
                        </a:rPr>
                        <a:t>2008 vintage: cumulative loss rate</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1" i="0">
                          <a:solidFill>
                            <a:srgbClr val="080808"/>
                          </a:solidFill>
                          <a:latin typeface="Calibri"/>
                        </a:rPr>
                        <a:t>16.3%</a:t>
                      </a:r>
                    </a:p>
                  </a:txBody>
                  <a:tcPr marL="36576" marR="36576" marT="9144" marB="9144" anchor="ctr">
                    <a:lnL w="0">
                      <a:noFill/>
                    </a:lnL>
                    <a:lnR w="0">
                      <a:noFill/>
                    </a:lnR>
                    <a:lnT w="0">
                      <a:noFill/>
                    </a:lnT>
                    <a:lnB w="0">
                      <a:noFill/>
                    </a:lnB>
                    <a:solidFill>
                      <a:srgbClr val="F2DCDB"/>
                    </a:solidFill>
                  </a:tcPr>
                </a:tc>
              </a:tr>
              <a:tr h="219456">
                <a:tc>
                  <a:txBody>
                    <a:bodyPr/>
                    <a:lstStyle/>
                    <a:p>
                      <a:pPr marL="0" indent="0" algn="l">
                        <a:spcBef>
                          <a:spcPts val="0"/>
                        </a:spcBef>
                        <a:spcAft>
                          <a:spcPts val="0"/>
                        </a:spcAft>
                        <a:buNone/>
                      </a:pPr>
                      <a:r>
                        <a:rPr sz="900" b="0" i="0">
                          <a:solidFill>
                            <a:srgbClr val="080808"/>
                          </a:solidFill>
                          <a:latin typeface="Calibri"/>
                        </a:rPr>
                        <a:t>5 year loans: default rate / severity</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24.2% / 22.3%</a:t>
                      </a:r>
                    </a:p>
                  </a:txBody>
                  <a:tcPr marL="36576" marR="36576" marT="9144" marB="9144" anchor="ctr">
                    <a:lnL w="0">
                      <a:noFill/>
                    </a:lnL>
                    <a:lnR w="0">
                      <a:noFill/>
                    </a:lnR>
                    <a:lnT w="0">
                      <a:noFill/>
                    </a:lnT>
                    <a:lnB w="0">
                      <a:noFill/>
                    </a:lnB>
                    <a:solidFill>
                      <a:srgbClr val="ECEEF0"/>
                    </a:solidFill>
                  </a:tcPr>
                </a:tc>
              </a:tr>
              <a:tr h="219456">
                <a:tc>
                  <a:txBody>
                    <a:bodyPr/>
                    <a:lstStyle/>
                    <a:p>
                      <a:pPr marL="0" indent="0" algn="l">
                        <a:spcBef>
                          <a:spcPts val="0"/>
                        </a:spcBef>
                        <a:spcAft>
                          <a:spcPts val="0"/>
                        </a:spcAft>
                        <a:buNone/>
                      </a:pPr>
                      <a:r>
                        <a:rPr sz="900" b="0" i="0">
                          <a:solidFill>
                            <a:srgbClr val="080808"/>
                          </a:solidFill>
                          <a:latin typeface="Calibri"/>
                        </a:rPr>
                        <a:t>10 year loans: default rate / severity</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16.8% / 30.1%</a:t>
                      </a:r>
                    </a:p>
                  </a:txBody>
                  <a:tcPr marL="36576" marR="36576" marT="9144" marB="9144" anchor="ctr">
                    <a:lnL w="0">
                      <a:noFill/>
                    </a:lnL>
                    <a:lnR w="0">
                      <a:noFill/>
                    </a:lnR>
                    <a:lnT w="0">
                      <a:noFill/>
                    </a:lnT>
                    <a:lnB w="0">
                      <a:noFill/>
                    </a:lnB>
                    <a:noFill/>
                  </a:tcPr>
                </a:tc>
              </a:tr>
            </a:tbl>
          </a:graphicData>
        </a:graphic>
      </p:graphicFrame>
      <p:graphicFrame>
        <p:nvGraphicFramePr>
          <p:cNvPr id="5" name="Table 4"/>
          <p:cNvGraphicFramePr>
            <a:graphicFrameLocks noGrp="1"/>
          </p:cNvGraphicFramePr>
          <p:nvPr/>
        </p:nvGraphicFramePr>
        <p:xfrm>
          <a:off x="160020" y="4983479"/>
          <a:ext cx="4343400" cy="982980"/>
        </p:xfrm>
        <a:graphic>
          <a:graphicData uri="http://schemas.openxmlformats.org/drawingml/2006/table">
            <a:tbl>
              <a:tblPr firstRow="0" bandRow="0">
                <a:tableStyleId>{5940675A-B579-460E-94D1-54222C63F5DA}</a:tableStyleId>
              </a:tblPr>
              <a:tblGrid>
                <a:gridCol w="1600200"/>
                <a:gridCol w="1371600"/>
                <a:gridCol w="1371600"/>
              </a:tblGrid>
              <a:tr h="196596">
                <a:tc>
                  <a:txBody>
                    <a:bodyPr/>
                    <a:lstStyle/>
                    <a:p>
                      <a:pPr marL="0" indent="0" algn="l">
                        <a:spcBef>
                          <a:spcPts val="0"/>
                        </a:spcBef>
                        <a:spcAft>
                          <a:spcPts val="0"/>
                        </a:spcAft>
                        <a:buNone/>
                      </a:pPr>
                      <a:r>
                        <a:rPr sz="900" b="1" i="0">
                          <a:solidFill>
                            <a:srgbClr val="FEFEFE"/>
                          </a:solidFill>
                          <a:latin typeface="Calibri"/>
                        </a:rPr>
                        <a:t>Property Type</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900" b="1" i="0">
                          <a:solidFill>
                            <a:srgbClr val="FEFEFE"/>
                          </a:solidFill>
                          <a:latin typeface="Calibri"/>
                        </a:rPr>
                        <a:t>Cumulative Default Rate</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900" b="1" i="0">
                          <a:solidFill>
                            <a:srgbClr val="FEFEFE"/>
                          </a:solidFill>
                          <a:latin typeface="Calibri"/>
                        </a:rPr>
                        <a:t>Severity (Loss &gt; 2%)</a:t>
                      </a:r>
                    </a:p>
                  </a:txBody>
                  <a:tcPr marL="36576" marR="36576" marT="9144" marB="9144" anchor="ctr">
                    <a:lnL w="0">
                      <a:noFill/>
                    </a:lnL>
                    <a:lnR w="0">
                      <a:noFill/>
                    </a:lnR>
                    <a:lnT w="0">
                      <a:noFill/>
                    </a:lnT>
                    <a:lnB w="0">
                      <a:noFill/>
                    </a:lnB>
                    <a:solidFill>
                      <a:srgbClr val="858D97"/>
                    </a:solidFill>
                  </a:tcPr>
                </a:tc>
              </a:tr>
              <a:tr h="196596">
                <a:tc>
                  <a:txBody>
                    <a:bodyPr/>
                    <a:lstStyle/>
                    <a:p>
                      <a:pPr marL="0" indent="0" algn="l">
                        <a:spcBef>
                          <a:spcPts val="0"/>
                        </a:spcBef>
                        <a:spcAft>
                          <a:spcPts val="0"/>
                        </a:spcAft>
                        <a:buNone/>
                      </a:pPr>
                      <a:r>
                        <a:rPr sz="900" b="0" i="0">
                          <a:solidFill>
                            <a:srgbClr val="080808"/>
                          </a:solidFill>
                          <a:latin typeface="Calibri"/>
                        </a:rPr>
                        <a:t>Lodging</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31.8%</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n/a</a:t>
                      </a:r>
                    </a:p>
                  </a:txBody>
                  <a:tcPr marL="36576" marR="36576" marT="9144" marB="9144" anchor="ctr">
                    <a:lnL w="0">
                      <a:noFill/>
                    </a:lnL>
                    <a:lnR w="0">
                      <a:noFill/>
                    </a:lnR>
                    <a:lnT w="0">
                      <a:noFill/>
                    </a:lnT>
                    <a:lnB w="0">
                      <a:noFill/>
                    </a:lnB>
                    <a:noFill/>
                  </a:tcPr>
                </a:tc>
              </a:tr>
              <a:tr h="196596">
                <a:tc>
                  <a:txBody>
                    <a:bodyPr/>
                    <a:lstStyle/>
                    <a:p>
                      <a:pPr marL="0" indent="0" algn="l">
                        <a:spcBef>
                          <a:spcPts val="0"/>
                        </a:spcBef>
                        <a:spcAft>
                          <a:spcPts val="0"/>
                        </a:spcAft>
                        <a:buNone/>
                      </a:pPr>
                      <a:r>
                        <a:rPr sz="900" b="0" i="0">
                          <a:solidFill>
                            <a:srgbClr val="080808"/>
                          </a:solidFill>
                          <a:latin typeface="Calibri"/>
                        </a:rPr>
                        <a:t>Health Care</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26.1%</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900" b="0" i="0">
                          <a:solidFill>
                            <a:srgbClr val="080808"/>
                          </a:solidFill>
                          <a:latin typeface="Calibri"/>
                        </a:rPr>
                        <a:t>n/a</a:t>
                      </a:r>
                    </a:p>
                  </a:txBody>
                  <a:tcPr marL="36576" marR="36576" marT="9144" marB="9144" anchor="ctr">
                    <a:lnL w="0">
                      <a:noFill/>
                    </a:lnL>
                    <a:lnR w="0">
                      <a:noFill/>
                    </a:lnR>
                    <a:lnT w="0">
                      <a:noFill/>
                    </a:lnT>
                    <a:lnB w="0">
                      <a:noFill/>
                    </a:lnB>
                    <a:solidFill>
                      <a:srgbClr val="ECEEF0"/>
                    </a:solidFill>
                  </a:tcPr>
                </a:tc>
              </a:tr>
              <a:tr h="196596">
                <a:tc>
                  <a:txBody>
                    <a:bodyPr/>
                    <a:lstStyle/>
                    <a:p>
                      <a:pPr marL="0" indent="0" algn="l">
                        <a:spcBef>
                          <a:spcPts val="0"/>
                        </a:spcBef>
                        <a:spcAft>
                          <a:spcPts val="0"/>
                        </a:spcAft>
                        <a:buNone/>
                      </a:pPr>
                      <a:r>
                        <a:rPr sz="900" b="0" i="0">
                          <a:solidFill>
                            <a:srgbClr val="080808"/>
                          </a:solidFill>
                          <a:latin typeface="Calibri"/>
                        </a:rPr>
                        <a:t>Office</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22.8%</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900" b="0" i="0">
                          <a:solidFill>
                            <a:srgbClr val="080808"/>
                          </a:solidFill>
                          <a:latin typeface="Calibri"/>
                        </a:rPr>
                        <a:t>51.4%</a:t>
                      </a:r>
                    </a:p>
                  </a:txBody>
                  <a:tcPr marL="36576" marR="36576" marT="9144" marB="9144" anchor="ctr">
                    <a:lnL w="0">
                      <a:noFill/>
                    </a:lnL>
                    <a:lnR w="0">
                      <a:noFill/>
                    </a:lnR>
                    <a:lnT w="0">
                      <a:noFill/>
                    </a:lnT>
                    <a:lnB w="0">
                      <a:noFill/>
                    </a:lnB>
                    <a:noFill/>
                  </a:tcPr>
                </a:tc>
              </a:tr>
              <a:tr h="196596">
                <a:tc>
                  <a:txBody>
                    <a:bodyPr/>
                    <a:lstStyle/>
                    <a:p>
                      <a:pPr marL="0" indent="0" algn="l">
                        <a:spcBef>
                          <a:spcPts val="0"/>
                        </a:spcBef>
                        <a:spcAft>
                          <a:spcPts val="0"/>
                        </a:spcAft>
                        <a:buNone/>
                      </a:pPr>
                      <a:r>
                        <a:rPr sz="900" b="1" i="0">
                          <a:solidFill>
                            <a:srgbClr val="080808"/>
                          </a:solidFill>
                          <a:latin typeface="Calibri"/>
                        </a:rPr>
                        <a:t>All Conduit Loans</a:t>
                      </a:r>
                    </a:p>
                  </a:txBody>
                  <a:tcPr marL="36576" marR="36576" marT="9144" marB="9144" anchor="ctr">
                    <a:lnL w="0">
                      <a:noFill/>
                    </a:lnL>
                    <a:lnR w="0">
                      <a:noFill/>
                    </a:lnR>
                    <a:lnT w="6350">
                      <a:solidFill>
                        <a:srgbClr val="080808"/>
                      </a:solidFill>
                    </a:lnT>
                    <a:lnB w="0">
                      <a:noFill/>
                    </a:lnB>
                    <a:solidFill>
                      <a:srgbClr val="ECEEF0"/>
                    </a:solidFill>
                  </a:tcPr>
                </a:tc>
                <a:tc>
                  <a:txBody>
                    <a:bodyPr/>
                    <a:lstStyle/>
                    <a:p>
                      <a:pPr marL="0" indent="0" algn="ctr">
                        <a:spcBef>
                          <a:spcPts val="0"/>
                        </a:spcBef>
                        <a:spcAft>
                          <a:spcPts val="0"/>
                        </a:spcAft>
                        <a:buNone/>
                      </a:pPr>
                      <a:r>
                        <a:rPr sz="900" b="1" i="0">
                          <a:solidFill>
                            <a:srgbClr val="080808"/>
                          </a:solidFill>
                          <a:latin typeface="Calibri"/>
                        </a:rPr>
                        <a:t>16.9%</a:t>
                      </a:r>
                    </a:p>
                  </a:txBody>
                  <a:tcPr marL="36576" marR="36576" marT="9144" marB="9144" anchor="ctr">
                    <a:lnL w="0">
                      <a:noFill/>
                    </a:lnL>
                    <a:lnR w="0">
                      <a:noFill/>
                    </a:lnR>
                    <a:lnT w="6350">
                      <a:solidFill>
                        <a:srgbClr val="080808"/>
                      </a:solidFill>
                    </a:lnT>
                    <a:lnB w="0">
                      <a:noFill/>
                    </a:lnB>
                    <a:solidFill>
                      <a:srgbClr val="ECEEF0"/>
                    </a:solidFill>
                  </a:tcPr>
                </a:tc>
                <a:tc>
                  <a:txBody>
                    <a:bodyPr/>
                    <a:lstStyle/>
                    <a:p>
                      <a:pPr marL="0" indent="0" algn="ctr">
                        <a:spcBef>
                          <a:spcPts val="0"/>
                        </a:spcBef>
                        <a:spcAft>
                          <a:spcPts val="0"/>
                        </a:spcAft>
                        <a:buNone/>
                      </a:pPr>
                      <a:r>
                        <a:rPr sz="900" b="1" i="0">
                          <a:solidFill>
                            <a:srgbClr val="080808"/>
                          </a:solidFill>
                          <a:latin typeface="Calibri"/>
                        </a:rPr>
                        <a:t>49.7%</a:t>
                      </a:r>
                    </a:p>
                  </a:txBody>
                  <a:tcPr marL="36576" marR="36576" marT="9144" marB="9144" anchor="ctr">
                    <a:lnL w="0">
                      <a:noFill/>
                    </a:lnL>
                    <a:lnR w="0">
                      <a:noFill/>
                    </a:lnR>
                    <a:lnT w="6350">
                      <a:solidFill>
                        <a:srgbClr val="080808"/>
                      </a:solidFill>
                    </a:lnT>
                    <a:lnB w="0">
                      <a:noFill/>
                    </a:lnB>
                    <a:solidFill>
                      <a:srgbClr val="ECEEF0"/>
                    </a:solidFill>
                  </a:tcPr>
                </a:tc>
              </a:tr>
            </a:tbl>
          </a:graphicData>
        </a:graphic>
      </p:graphicFrame>
      <p:graphicFrame>
        <p:nvGraphicFramePr>
          <p:cNvPr id="6" name="Chart 5"/>
          <p:cNvGraphicFramePr>
            <a:graphicFrameLocks noGrp="1"/>
          </p:cNvGraphicFramePr>
          <p:nvPr/>
        </p:nvGraphicFramePr>
        <p:xfrm>
          <a:off x="4686300" y="2039112"/>
          <a:ext cx="4297680" cy="2103120"/>
        </p:xfrm>
        <a:graphic>
          <a:graphicData uri="http://schemas.openxmlformats.org/drawingml/2006/chart">
            <c:chart xmlns:c="http://schemas.openxmlformats.org/drawingml/2006/chart" r:id="rId2"/>
          </a:graphicData>
        </a:graphic>
      </p:graphicFrame>
      <p:sp>
        <p:nvSpPr>
          <p:cNvPr id="7" name="TextBox 6"/>
          <p:cNvSpPr txBox="1"/>
          <p:nvPr/>
        </p:nvSpPr>
        <p:spPr>
          <a:xfrm>
            <a:off x="4686300" y="4160520"/>
            <a:ext cx="4297680" cy="274320"/>
          </a:xfrm>
          <a:prstGeom prst="rect">
            <a:avLst/>
          </a:prstGeom>
          <a:noFill/>
        </p:spPr>
        <p:txBody>
          <a:bodyPr wrap="square" lIns="0" rIns="0" tIns="27432" bIns="27432" anchor="t"/>
          <a:lstStyle/>
          <a:p>
            <a:pPr marL="0" indent="0" algn="ctr">
              <a:spcBef>
                <a:spcPts val="0"/>
              </a:spcBef>
              <a:spcAft>
                <a:spcPts val="0"/>
              </a:spcAft>
              <a:buNone/>
            </a:pPr>
            <a:r>
              <a:rPr sz="800" b="1" i="0">
                <a:solidFill>
                  <a:srgbClr val="080808"/>
                </a:solidFill>
                <a:latin typeface="Calibri"/>
              </a:rPr>
              <a:t>Liquidation volume: </a:t>
            </a:r>
            <a:r>
              <a:rPr sz="800" b="0" i="0">
                <a:solidFill>
                  <a:srgbClr val="080808"/>
                </a:solidFill>
                <a:latin typeface="Calibri"/>
              </a:rPr>
              <a:t>$2.7B in 2025; $1.8B YTD through May 2026 ($4.3B annualized)</a:t>
            </a:r>
          </a:p>
        </p:txBody>
      </p:sp>
      <p:graphicFrame>
        <p:nvGraphicFramePr>
          <p:cNvPr id="8" name="Chart 7"/>
          <p:cNvGraphicFramePr>
            <a:graphicFrameLocks noGrp="1"/>
          </p:cNvGraphicFramePr>
          <p:nvPr/>
        </p:nvGraphicFramePr>
        <p:xfrm>
          <a:off x="4686300" y="4526280"/>
          <a:ext cx="4297680" cy="1691639"/>
        </p:xfrm>
        <a:graphic>
          <a:graphicData uri="http://schemas.openxmlformats.org/drawingml/2006/chart">
            <c:chart xmlns:c="http://schemas.openxmlformats.org/drawingml/2006/chart" r:id="rId3"/>
          </a:graphicData>
        </a:graphic>
      </p:graphicFrame>
      <p:sp>
        <p:nvSpPr>
          <p:cNvPr id="9" name="TextBox 8"/>
          <p:cNvSpPr txBox="1"/>
          <p:nvPr/>
        </p:nvSpPr>
        <p:spPr>
          <a:xfrm>
            <a:off x="160020" y="6236208"/>
            <a:ext cx="8823960" cy="228600"/>
          </a:xfrm>
          <a:prstGeom prst="rect">
            <a:avLst/>
          </a:prstGeom>
          <a:noFill/>
        </p:spPr>
        <p:txBody>
          <a:bodyPr wrap="square" lIns="0" rIns="0" tIns="27432" bIns="27432" anchor="b"/>
          <a:lstStyle/>
          <a:p>
            <a:pPr marL="0" indent="0" algn="l">
              <a:spcBef>
                <a:spcPts val="0"/>
              </a:spcBef>
              <a:spcAft>
                <a:spcPts val="0"/>
              </a:spcAft>
              <a:buNone/>
            </a:pPr>
            <a:r>
              <a:rPr sz="700" b="0" i="1">
                <a:solidFill>
                  <a:srgbClr val="9AA0A8"/>
                </a:solidFill>
                <a:latin typeface="Calibri"/>
              </a:rPr>
              <a:t>Sources: KBRA, Conduit CMBS Default and Loss Study Update (July 2025), loans securitized 1995 to Q1 2024 with performance through Q1 2025; Deutsche Bank, CMBS 2026 Mid Year Outlook (June 2026) via CREFC; Trepp via CREFC Update on CMBS Loan Performance (May 2026). Delinquency includes conduit and SASB.</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B-Piece Realized Losses to Date: 2017 to 2019 Vintage Deals</a:t>
            </a:r>
          </a:p>
        </p:txBody>
      </p:sp>
      <p:sp>
        <p:nvSpPr>
          <p:cNvPr id="2" name="Slide Number Placeholder 1">
            <a:extLst>
              <a:ext uri="{FF2B5EF4-FFF2-40B4-BE49-F238E27FC236}">
                <a16:creationId xmlns:a16="http://schemas.microsoft.com/office/drawing/2014/main" id="{702B8BD4-FDE2-F1CD-E614-2B87BA194916}"/>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30</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extBox 2"/>
          <p:cNvSpPr txBox="1"/>
          <p:nvPr/>
        </p:nvSpPr>
        <p:spPr>
          <a:xfrm>
            <a:off x="160020" y="603504"/>
            <a:ext cx="8823960" cy="1188720"/>
          </a:xfrm>
          <a:prstGeom prst="rect">
            <a:avLst/>
          </a:prstGeom>
          <a:noFill/>
          <a:ln w="9525">
            <a:solidFill>
              <a:srgbClr val="BFBFBF"/>
            </a:solidFill>
          </a:ln>
        </p:spPr>
        <p:txBody>
          <a:bodyPr wrap="square" tIns="27432" bIns="27432" anchor="t"/>
          <a:lstStyle/>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Across the 25 public deals, $130.9M of $1,944.7M of original B-piece balance (6.7%) has been written down as of the September 2026 remittance, equal to 0.61% of the $21.5B of original pool balance.</a:t>
            </a:r>
          </a:p>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Losses are concentrated: UBSCM 2018-C12 (44.0%), JPMDB 2017-C7 (22.7%) and UBSCM 2017-C5 (19.4%) account for 50.6% of total writedowns, while 9 of the 25 B-pieces have no realized losses to date (less than $1,000 each).</a:t>
            </a:r>
          </a:p>
          <a:p>
            <a:pPr marL="152400" indent="-152400" algn="just">
              <a:lnSpc>
                <a:spcPct val="100000"/>
              </a:lnSpc>
              <a:spcBef>
                <a:spcPts val="300"/>
              </a:spcBef>
              <a:spcAft>
                <a:spcPts val="300"/>
              </a:spcAft>
              <a:buClr>
                <a:srgbClr val="9AA0A8"/>
              </a:buClr>
              <a:buSzPct val="100000"/>
              <a:buFont typeface="Arial"/>
              <a:buChar char="•"/>
            </a:pPr>
            <a:r>
              <a:rPr sz="1000" b="0" i="0">
                <a:solidFill>
                  <a:srgbClr val="080808"/>
                </a:solidFill>
                <a:latin typeface="Calibri"/>
              </a:rPr>
              <a:t>No B-piece in the group has been fully written off, and no class above the B-piece has taken a loss. Realized losses to date sit well inside the 4.4% long run conduit average, though unresolved specially serviced loans are not yet reflected.</a:t>
            </a:r>
          </a:p>
        </p:txBody>
      </p:sp>
      <p:graphicFrame>
        <p:nvGraphicFramePr>
          <p:cNvPr id="4" name="Chart 3"/>
          <p:cNvGraphicFramePr>
            <a:graphicFrameLocks noGrp="1"/>
          </p:cNvGraphicFramePr>
          <p:nvPr/>
        </p:nvGraphicFramePr>
        <p:xfrm>
          <a:off x="160020" y="1901952"/>
          <a:ext cx="5120640" cy="4315968"/>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5417820" y="1901952"/>
          <a:ext cx="3566160" cy="3538728"/>
        </p:xfrm>
        <a:graphic>
          <a:graphicData uri="http://schemas.openxmlformats.org/drawingml/2006/table">
            <a:tbl>
              <a:tblPr firstRow="0" bandRow="0">
                <a:tableStyleId>{5940675A-B579-460E-94D1-54222C63F5DA}</a:tableStyleId>
              </a:tblPr>
              <a:tblGrid>
                <a:gridCol w="1280160"/>
                <a:gridCol w="731520"/>
                <a:gridCol w="868680"/>
                <a:gridCol w="685800"/>
              </a:tblGrid>
              <a:tr h="246888">
                <a:tc gridSpan="4">
                  <a:txBody>
                    <a:bodyPr/>
                    <a:lstStyle/>
                    <a:p>
                      <a:pPr marL="0" indent="0" algn="ctr">
                        <a:spcBef>
                          <a:spcPts val="0"/>
                        </a:spcBef>
                        <a:spcAft>
                          <a:spcPts val="0"/>
                        </a:spcAft>
                        <a:buNone/>
                      </a:pPr>
                      <a:r>
                        <a:rPr sz="800" b="1" i="0">
                          <a:solidFill>
                            <a:srgbClr val="FEFEFE"/>
                          </a:solidFill>
                          <a:latin typeface="Calibri"/>
                        </a:rPr>
                        <a:t>Ten Largest Writedowns</a:t>
                      </a:r>
                    </a:p>
                  </a:txBody>
                  <a:tcPr>
                    <a:solidFill>
                      <a:srgbClr val="0E2E51"/>
                    </a:solidFill>
                  </a:tcPr>
                </a:tc>
                <a:tc hMerge="1">
                  <a:txBody>
                    <a:bodyPr/>
                    <a:lstStyle/>
                    <a:p/>
                  </a:txBody>
                  <a:tcPr/>
                </a:tc>
                <a:tc hMerge="1">
                  <a:txBody>
                    <a:bodyPr/>
                    <a:lstStyle/>
                    <a:p/>
                  </a:txBody>
                  <a:tcPr/>
                </a:tc>
                <a:tc hMerge="1">
                  <a:txBody>
                    <a:bodyPr/>
                    <a:lstStyle/>
                    <a:p/>
                  </a:txBody>
                  <a:tcPr/>
                </a:tc>
              </a:tr>
              <a:tr h="329184">
                <a:tc>
                  <a:txBody>
                    <a:bodyPr/>
                    <a:lstStyle/>
                    <a:p>
                      <a:pPr marL="0" indent="0" algn="l">
                        <a:spcBef>
                          <a:spcPts val="0"/>
                        </a:spcBef>
                        <a:spcAft>
                          <a:spcPts val="0"/>
                        </a:spcAft>
                        <a:buNone/>
                      </a:pPr>
                      <a:r>
                        <a:rPr sz="800" b="1" i="0">
                          <a:solidFill>
                            <a:srgbClr val="FEFEFE"/>
                          </a:solidFill>
                          <a:latin typeface="Calibri"/>
                        </a:rPr>
                        <a:t>Deal</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800" b="1" i="0">
                          <a:solidFill>
                            <a:srgbClr val="FEFEFE"/>
                          </a:solidFill>
                          <a:latin typeface="Calibri"/>
                        </a:rPr>
                        <a:t>Original ($M)</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800" b="1" i="0">
                          <a:solidFill>
                            <a:srgbClr val="FEFEFE"/>
                          </a:solidFill>
                          <a:latin typeface="Calibri"/>
                        </a:rPr>
                        <a:t>Written Down ($M)</a:t>
                      </a:r>
                    </a:p>
                  </a:txBody>
                  <a:tcPr marL="36576" marR="36576" marT="9144" marB="9144" anchor="ctr">
                    <a:lnL w="0">
                      <a:noFill/>
                    </a:lnL>
                    <a:lnR w="0">
                      <a:noFill/>
                    </a:lnR>
                    <a:lnT w="0">
                      <a:noFill/>
                    </a:lnT>
                    <a:lnB w="0">
                      <a:noFill/>
                    </a:lnB>
                    <a:solidFill>
                      <a:srgbClr val="858D97"/>
                    </a:solidFill>
                  </a:tcPr>
                </a:tc>
                <a:tc>
                  <a:txBody>
                    <a:bodyPr/>
                    <a:lstStyle/>
                    <a:p>
                      <a:pPr marL="0" indent="0" algn="ctr">
                        <a:spcBef>
                          <a:spcPts val="0"/>
                        </a:spcBef>
                        <a:spcAft>
                          <a:spcPts val="0"/>
                        </a:spcAft>
                        <a:buNone/>
                      </a:pPr>
                      <a:r>
                        <a:rPr sz="800" b="1" i="0">
                          <a:solidFill>
                            <a:srgbClr val="FEFEFE"/>
                          </a:solidFill>
                          <a:latin typeface="Calibri"/>
                        </a:rPr>
                        <a:t>% Lost</a:t>
                      </a:r>
                    </a:p>
                  </a:txBody>
                  <a:tcPr marL="36576" marR="36576" marT="9144" marB="9144" anchor="ctr">
                    <a:lnL w="0">
                      <a:noFill/>
                    </a:lnL>
                    <a:lnR w="0">
                      <a:noFill/>
                    </a:lnR>
                    <a:lnT w="0">
                      <a:noFill/>
                    </a:lnT>
                    <a:lnB w="0">
                      <a:noFill/>
                    </a:lnB>
                    <a:solidFill>
                      <a:srgbClr val="858D97"/>
                    </a:solidFill>
                  </a:tcPr>
                </a:tc>
              </a:tr>
              <a:tr h="246888">
                <a:tc>
                  <a:txBody>
                    <a:bodyPr/>
                    <a:lstStyle/>
                    <a:p>
                      <a:pPr marL="0" indent="0" algn="l">
                        <a:spcBef>
                          <a:spcPts val="0"/>
                        </a:spcBef>
                        <a:spcAft>
                          <a:spcPts val="0"/>
                        </a:spcAft>
                        <a:buNone/>
                      </a:pPr>
                      <a:r>
                        <a:rPr sz="800" b="0" i="0">
                          <a:solidFill>
                            <a:srgbClr val="080808"/>
                          </a:solidFill>
                          <a:latin typeface="Calibri"/>
                        </a:rPr>
                        <a:t>UBSCM 2018-C12</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$80.0</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$35.2</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44.0%</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JPMDB 2017-C7</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$69.9</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$15.9</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22.7%</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UBSCM 2017-C5</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$78.4</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$15.2</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19.4%</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DBJPM 2017-C6</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$74.4</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$12.3</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16.5%</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UBSCM 2017-C3</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$77.1</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$9.7</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12.5%</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MSC 2019-H6</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$70.9</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$8.2</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11.5%</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WFCM 2019-C49</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$80.4</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$8.3</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10.3%</a:t>
                      </a:r>
                    </a:p>
                  </a:txBody>
                  <a:tcPr marL="36576" marR="36576" marT="9144" marB="9144" anchor="ctr">
                    <a:lnL w="0">
                      <a:noFill/>
                    </a:lnL>
                    <a:lnR w="0">
                      <a:noFill/>
                    </a:lnR>
                    <a:lnT w="0">
                      <a:noFill/>
                    </a:lnT>
                    <a:lnB w="0">
                      <a:noFill/>
                    </a:lnB>
                    <a:solidFill>
                      <a:srgbClr val="F2DCDB"/>
                    </a:solidFill>
                  </a:tcPr>
                </a:tc>
              </a:tr>
              <a:tr h="246888">
                <a:tc>
                  <a:txBody>
                    <a:bodyPr/>
                    <a:lstStyle/>
                    <a:p>
                      <a:pPr marL="0" indent="0" algn="l">
                        <a:spcBef>
                          <a:spcPts val="0"/>
                        </a:spcBef>
                        <a:spcAft>
                          <a:spcPts val="0"/>
                        </a:spcAft>
                        <a:buNone/>
                      </a:pPr>
                      <a:r>
                        <a:rPr sz="800" b="0" i="0">
                          <a:solidFill>
                            <a:srgbClr val="080808"/>
                          </a:solidFill>
                          <a:latin typeface="Calibri"/>
                        </a:rPr>
                        <a:t>UBSCM 2017-C2</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$94.3</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$8.7</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9.2%</a:t>
                      </a:r>
                    </a:p>
                  </a:txBody>
                  <a:tcPr marL="36576" marR="36576" marT="9144" marB="9144" anchor="ctr">
                    <a:lnL w="0">
                      <a:noFill/>
                    </a:lnL>
                    <a:lnR w="0">
                      <a:noFill/>
                    </a:lnR>
                    <a:lnT w="0">
                      <a:noFill/>
                    </a:lnT>
                    <a:lnB w="0">
                      <a:noFill/>
                    </a:lnB>
                    <a:solidFill>
                      <a:srgbClr val="ECEEF0"/>
                    </a:solidFill>
                  </a:tcPr>
                </a:tc>
              </a:tr>
              <a:tr h="246888">
                <a:tc>
                  <a:txBody>
                    <a:bodyPr/>
                    <a:lstStyle/>
                    <a:p>
                      <a:pPr marL="0" indent="0" algn="l">
                        <a:spcBef>
                          <a:spcPts val="0"/>
                        </a:spcBef>
                        <a:spcAft>
                          <a:spcPts val="0"/>
                        </a:spcAft>
                        <a:buNone/>
                      </a:pPr>
                      <a:r>
                        <a:rPr sz="800" b="0" i="0">
                          <a:solidFill>
                            <a:srgbClr val="080808"/>
                          </a:solidFill>
                          <a:latin typeface="Calibri"/>
                        </a:rPr>
                        <a:t>CGCMT 2018-C6</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$75.5</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$5.3</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7.0%</a:t>
                      </a:r>
                    </a:p>
                  </a:txBody>
                  <a:tcPr marL="36576" marR="36576" marT="9144" marB="9144" anchor="ctr">
                    <a:lnL w="0">
                      <a:noFill/>
                    </a:lnL>
                    <a:lnR w="0">
                      <a:noFill/>
                    </a:lnR>
                    <a:lnT w="0">
                      <a:noFill/>
                    </a:lnT>
                    <a:lnB w="0">
                      <a:noFill/>
                    </a:lnB>
                    <a:noFill/>
                  </a:tcPr>
                </a:tc>
              </a:tr>
              <a:tr h="246888">
                <a:tc>
                  <a:txBody>
                    <a:bodyPr/>
                    <a:lstStyle/>
                    <a:p>
                      <a:pPr marL="0" indent="0" algn="l">
                        <a:spcBef>
                          <a:spcPts val="0"/>
                        </a:spcBef>
                        <a:spcAft>
                          <a:spcPts val="0"/>
                        </a:spcAft>
                        <a:buNone/>
                      </a:pPr>
                      <a:r>
                        <a:rPr sz="800" b="0" i="0">
                          <a:solidFill>
                            <a:srgbClr val="080808"/>
                          </a:solidFill>
                          <a:latin typeface="Calibri"/>
                        </a:rPr>
                        <a:t>BMARK 2018-B3</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$106.6</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$4.5</a:t>
                      </a:r>
                    </a:p>
                  </a:txBody>
                  <a:tcPr marL="36576" marR="36576" marT="9144" marB="9144" anchor="ctr">
                    <a:lnL w="0">
                      <a:noFill/>
                    </a:lnL>
                    <a:lnR w="0">
                      <a:noFill/>
                    </a:lnR>
                    <a:lnT w="0">
                      <a:noFill/>
                    </a:lnT>
                    <a:lnB w="0">
                      <a:noFill/>
                    </a:lnB>
                    <a:solidFill>
                      <a:srgbClr val="ECEEF0"/>
                    </a:solidFill>
                  </a:tcPr>
                </a:tc>
                <a:tc>
                  <a:txBody>
                    <a:bodyPr/>
                    <a:lstStyle/>
                    <a:p>
                      <a:pPr marL="0" indent="0" algn="ctr">
                        <a:spcBef>
                          <a:spcPts val="0"/>
                        </a:spcBef>
                        <a:spcAft>
                          <a:spcPts val="0"/>
                        </a:spcAft>
                        <a:buNone/>
                      </a:pPr>
                      <a:r>
                        <a:rPr sz="800" b="0" i="0">
                          <a:solidFill>
                            <a:srgbClr val="080808"/>
                          </a:solidFill>
                          <a:latin typeface="Calibri"/>
                        </a:rPr>
                        <a:t>4.2%</a:t>
                      </a:r>
                    </a:p>
                  </a:txBody>
                  <a:tcPr marL="36576" marR="36576" marT="9144" marB="9144" anchor="ctr">
                    <a:lnL w="0">
                      <a:noFill/>
                    </a:lnL>
                    <a:lnR w="0">
                      <a:noFill/>
                    </a:lnR>
                    <a:lnT w="0">
                      <a:noFill/>
                    </a:lnT>
                    <a:lnB w="0">
                      <a:noFill/>
                    </a:lnB>
                    <a:solidFill>
                      <a:srgbClr val="ECEEF0"/>
                    </a:solidFill>
                  </a:tcPr>
                </a:tc>
              </a:tr>
              <a:tr h="246888">
                <a:tc>
                  <a:txBody>
                    <a:bodyPr/>
                    <a:lstStyle/>
                    <a:p>
                      <a:pPr marL="0" indent="0" algn="l">
                        <a:spcBef>
                          <a:spcPts val="0"/>
                        </a:spcBef>
                        <a:spcAft>
                          <a:spcPts val="0"/>
                        </a:spcAft>
                        <a:buNone/>
                      </a:pPr>
                      <a:r>
                        <a:rPr sz="800" b="0" i="0">
                          <a:solidFill>
                            <a:srgbClr val="080808"/>
                          </a:solidFill>
                          <a:latin typeface="Calibri"/>
                        </a:rPr>
                        <a:t>Other 15 Deals</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$1,137.2</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$7.7</a:t>
                      </a:r>
                    </a:p>
                  </a:txBody>
                  <a:tcPr marL="36576" marR="36576" marT="9144" marB="9144" anchor="ctr">
                    <a:lnL w="0">
                      <a:noFill/>
                    </a:lnL>
                    <a:lnR w="0">
                      <a:noFill/>
                    </a:lnR>
                    <a:lnT w="0">
                      <a:noFill/>
                    </a:lnT>
                    <a:lnB w="0">
                      <a:noFill/>
                    </a:lnB>
                    <a:noFill/>
                  </a:tcPr>
                </a:tc>
                <a:tc>
                  <a:txBody>
                    <a:bodyPr/>
                    <a:lstStyle/>
                    <a:p>
                      <a:pPr marL="0" indent="0" algn="ctr">
                        <a:spcBef>
                          <a:spcPts val="0"/>
                        </a:spcBef>
                        <a:spcAft>
                          <a:spcPts val="0"/>
                        </a:spcAft>
                        <a:buNone/>
                      </a:pPr>
                      <a:r>
                        <a:rPr sz="800" b="0" i="0">
                          <a:solidFill>
                            <a:srgbClr val="080808"/>
                          </a:solidFill>
                          <a:latin typeface="Calibri"/>
                        </a:rPr>
                        <a:t>0.7%</a:t>
                      </a:r>
                    </a:p>
                  </a:txBody>
                  <a:tcPr marL="36576" marR="36576" marT="9144" marB="9144" anchor="ctr">
                    <a:lnL w="0">
                      <a:noFill/>
                    </a:lnL>
                    <a:lnR w="0">
                      <a:noFill/>
                    </a:lnR>
                    <a:lnT w="0">
                      <a:noFill/>
                    </a:lnT>
                    <a:lnB w="0">
                      <a:noFill/>
                    </a:lnB>
                    <a:noFill/>
                  </a:tcPr>
                </a:tc>
              </a:tr>
              <a:tr h="246888">
                <a:tc>
                  <a:txBody>
                    <a:bodyPr/>
                    <a:lstStyle/>
                    <a:p>
                      <a:pPr marL="0" indent="0" algn="l">
                        <a:spcBef>
                          <a:spcPts val="0"/>
                        </a:spcBef>
                        <a:spcAft>
                          <a:spcPts val="0"/>
                        </a:spcAft>
                        <a:buNone/>
                      </a:pPr>
                      <a:r>
                        <a:rPr sz="800" b="1" i="0">
                          <a:solidFill>
                            <a:srgbClr val="080808"/>
                          </a:solidFill>
                          <a:latin typeface="Calibri"/>
                        </a:rPr>
                        <a:t>Total (25 Deals)</a:t>
                      </a:r>
                    </a:p>
                  </a:txBody>
                  <a:tcPr marL="36576" marR="36576" marT="9144" marB="9144" anchor="ctr">
                    <a:lnL w="0">
                      <a:noFill/>
                    </a:lnL>
                    <a:lnR w="0">
                      <a:noFill/>
                    </a:lnR>
                    <a:lnT w="6350">
                      <a:solidFill>
                        <a:srgbClr val="080808"/>
                      </a:solidFill>
                    </a:lnT>
                    <a:lnB w="0">
                      <a:noFill/>
                    </a:lnB>
                    <a:solidFill>
                      <a:srgbClr val="ECEEF0"/>
                    </a:solidFill>
                  </a:tcPr>
                </a:tc>
                <a:tc>
                  <a:txBody>
                    <a:bodyPr/>
                    <a:lstStyle/>
                    <a:p>
                      <a:pPr marL="0" indent="0" algn="ctr">
                        <a:spcBef>
                          <a:spcPts val="0"/>
                        </a:spcBef>
                        <a:spcAft>
                          <a:spcPts val="0"/>
                        </a:spcAft>
                        <a:buNone/>
                      </a:pPr>
                      <a:r>
                        <a:rPr sz="800" b="1" i="0">
                          <a:solidFill>
                            <a:srgbClr val="080808"/>
                          </a:solidFill>
                          <a:latin typeface="Calibri"/>
                        </a:rPr>
                        <a:t>$1,944.7</a:t>
                      </a:r>
                    </a:p>
                  </a:txBody>
                  <a:tcPr marL="36576" marR="36576" marT="9144" marB="9144" anchor="ctr">
                    <a:lnL w="0">
                      <a:noFill/>
                    </a:lnL>
                    <a:lnR w="0">
                      <a:noFill/>
                    </a:lnR>
                    <a:lnT w="6350">
                      <a:solidFill>
                        <a:srgbClr val="080808"/>
                      </a:solidFill>
                    </a:lnT>
                    <a:lnB w="0">
                      <a:noFill/>
                    </a:lnB>
                    <a:solidFill>
                      <a:srgbClr val="ECEEF0"/>
                    </a:solidFill>
                  </a:tcPr>
                </a:tc>
                <a:tc>
                  <a:txBody>
                    <a:bodyPr/>
                    <a:lstStyle/>
                    <a:p>
                      <a:pPr marL="0" indent="0" algn="ctr">
                        <a:spcBef>
                          <a:spcPts val="0"/>
                        </a:spcBef>
                        <a:spcAft>
                          <a:spcPts val="0"/>
                        </a:spcAft>
                        <a:buNone/>
                      </a:pPr>
                      <a:r>
                        <a:rPr sz="800" b="1" i="0">
                          <a:solidFill>
                            <a:srgbClr val="080808"/>
                          </a:solidFill>
                          <a:latin typeface="Calibri"/>
                        </a:rPr>
                        <a:t>$130.9</a:t>
                      </a:r>
                    </a:p>
                  </a:txBody>
                  <a:tcPr marL="36576" marR="36576" marT="9144" marB="9144" anchor="ctr">
                    <a:lnL w="0">
                      <a:noFill/>
                    </a:lnL>
                    <a:lnR w="0">
                      <a:noFill/>
                    </a:lnR>
                    <a:lnT w="6350">
                      <a:solidFill>
                        <a:srgbClr val="080808"/>
                      </a:solidFill>
                    </a:lnT>
                    <a:lnB w="0">
                      <a:noFill/>
                    </a:lnB>
                    <a:solidFill>
                      <a:srgbClr val="ECEEF0"/>
                    </a:solidFill>
                  </a:tcPr>
                </a:tc>
                <a:tc>
                  <a:txBody>
                    <a:bodyPr/>
                    <a:lstStyle/>
                    <a:p>
                      <a:pPr marL="0" indent="0" algn="ctr">
                        <a:spcBef>
                          <a:spcPts val="0"/>
                        </a:spcBef>
                        <a:spcAft>
                          <a:spcPts val="0"/>
                        </a:spcAft>
                        <a:buNone/>
                      </a:pPr>
                      <a:r>
                        <a:rPr sz="800" b="1" i="0">
                          <a:solidFill>
                            <a:srgbClr val="080808"/>
                          </a:solidFill>
                          <a:latin typeface="Calibri"/>
                        </a:rPr>
                        <a:t>6.7%</a:t>
                      </a:r>
                    </a:p>
                  </a:txBody>
                  <a:tcPr marL="36576" marR="36576" marT="9144" marB="9144" anchor="ctr">
                    <a:lnL w="0">
                      <a:noFill/>
                    </a:lnL>
                    <a:lnR w="0">
                      <a:noFill/>
                    </a:lnR>
                    <a:lnT w="6350">
                      <a:solidFill>
                        <a:srgbClr val="080808"/>
                      </a:solidFill>
                    </a:lnT>
                    <a:lnB w="0">
                      <a:noFill/>
                    </a:lnB>
                    <a:solidFill>
                      <a:srgbClr val="ECEEF0"/>
                    </a:solidFill>
                  </a:tcPr>
                </a:tc>
              </a:tr>
            </a:tbl>
          </a:graphicData>
        </a:graphic>
      </p:graphicFrame>
      <p:sp>
        <p:nvSpPr>
          <p:cNvPr id="6" name="TextBox 5"/>
          <p:cNvSpPr txBox="1"/>
          <p:nvPr/>
        </p:nvSpPr>
        <p:spPr>
          <a:xfrm>
            <a:off x="5417820" y="5376672"/>
            <a:ext cx="3566160" cy="1188720"/>
          </a:xfrm>
          <a:prstGeom prst="rect">
            <a:avLst/>
          </a:prstGeom>
          <a:noFill/>
        </p:spPr>
        <p:txBody>
          <a:bodyPr wrap="square" lIns="0" rIns="0" tIns="27432" bIns="27432" anchor="t"/>
          <a:lstStyle/>
          <a:p>
            <a:pPr marL="152400" indent="-152400" algn="just">
              <a:lnSpc>
                <a:spcPct val="100000"/>
              </a:lnSpc>
              <a:spcBef>
                <a:spcPts val="300"/>
              </a:spcBef>
              <a:spcAft>
                <a:spcPts val="300"/>
              </a:spcAft>
              <a:buClr>
                <a:srgbClr val="9AA0A8"/>
              </a:buClr>
              <a:buSzPct val="100000"/>
              <a:buFont typeface="Arial"/>
              <a:buChar char="•"/>
            </a:pPr>
            <a:r>
              <a:rPr sz="800" b="1" i="0">
                <a:solidFill>
                  <a:srgbClr val="080808"/>
                </a:solidFill>
                <a:latin typeface="Calibri"/>
              </a:rPr>
              <a:t>Horizontal vs. L-shaped: </a:t>
            </a:r>
            <a:r>
              <a:rPr sz="800" b="0" i="0">
                <a:solidFill>
                  <a:srgbClr val="080808"/>
                </a:solidFill>
                <a:latin typeface="Calibri"/>
              </a:rPr>
              <a:t>In L-shaped deals the vertical retention interest absorbs a pro rata share of about 2.5% of each loss, so B-piece writedowns slightly understate pool losses.</a:t>
            </a:r>
          </a:p>
          <a:p>
            <a:pPr marL="152400" indent="-152400" algn="just">
              <a:lnSpc>
                <a:spcPct val="100000"/>
              </a:lnSpc>
              <a:spcBef>
                <a:spcPts val="300"/>
              </a:spcBef>
              <a:spcAft>
                <a:spcPts val="300"/>
              </a:spcAft>
              <a:buClr>
                <a:srgbClr val="9AA0A8"/>
              </a:buClr>
              <a:buSzPct val="100000"/>
              <a:buFont typeface="Arial"/>
              <a:buChar char="•"/>
            </a:pPr>
            <a:r>
              <a:rPr sz="800" b="1" i="0">
                <a:solidFill>
                  <a:srgbClr val="080808"/>
                </a:solidFill>
                <a:latin typeface="Calibri"/>
              </a:rPr>
              <a:t>Not yet realized: </a:t>
            </a:r>
            <a:r>
              <a:rPr sz="800" b="0" i="0">
                <a:solidFill>
                  <a:srgbClr val="080808"/>
                </a:solidFill>
                <a:latin typeface="Calibri"/>
              </a:rPr>
              <a:t>Appraisal reductions and interest shortfalls on loans still in special servicing are excluded until liquidation.</a:t>
            </a:r>
          </a:p>
        </p:txBody>
      </p:sp>
      <p:sp>
        <p:nvSpPr>
          <p:cNvPr id="7" name="TextBox 6"/>
          <p:cNvSpPr txBox="1"/>
          <p:nvPr/>
        </p:nvSpPr>
        <p:spPr>
          <a:xfrm>
            <a:off x="160020" y="6236208"/>
            <a:ext cx="8823960" cy="228600"/>
          </a:xfrm>
          <a:prstGeom prst="rect">
            <a:avLst/>
          </a:prstGeom>
          <a:noFill/>
        </p:spPr>
        <p:txBody>
          <a:bodyPr wrap="square" lIns="0" rIns="0" tIns="27432" bIns="27432" anchor="b"/>
          <a:lstStyle/>
          <a:p>
            <a:pPr marL="0" indent="0" algn="l">
              <a:spcBef>
                <a:spcPts val="0"/>
              </a:spcBef>
              <a:spcAft>
                <a:spcPts val="0"/>
              </a:spcAft>
              <a:buNone/>
            </a:pPr>
            <a:r>
              <a:rPr sz="700" b="0" i="1">
                <a:solidFill>
                  <a:srgbClr val="9AA0A8"/>
                </a:solidFill>
                <a:latin typeface="Calibri"/>
              </a:rPr>
              <a:t>Sources: SEC EDGAR, final prospectus (Form 424B2) for original HRR class balances and latest Form 10-D distribution report (September 2026 remittance, filed September 23 to October 2, 2026) for current balances. Writedown equals original less current HRR balance, as HRR classes receive no principal before senior classes are retired. Excludes LCCM 2017-LC26 (Rule 144A, not on EDGAR).</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3QjBn36IlmakLOydlmrMU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xaPe389JG4wDjX42A4sX5A"/>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gyq5JShXR3_QAH6U7hol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__210501_Sixth Street PRINT">
  <a:themeElements>
    <a:clrScheme name="Sixth Street and TSLX_PRINT">
      <a:dk1>
        <a:srgbClr val="080808"/>
      </a:dk1>
      <a:lt1>
        <a:srgbClr val="FEFEFE"/>
      </a:lt1>
      <a:dk2>
        <a:srgbClr val="D9DDE1"/>
      </a:dk2>
      <a:lt2>
        <a:srgbClr val="ECEEF0"/>
      </a:lt2>
      <a:accent1>
        <a:srgbClr val="005587"/>
      </a:accent1>
      <a:accent2>
        <a:srgbClr val="9AA0A8"/>
      </a:accent2>
      <a:accent3>
        <a:srgbClr val="004E59"/>
      </a:accent3>
      <a:accent4>
        <a:srgbClr val="44797B"/>
      </a:accent4>
      <a:accent5>
        <a:srgbClr val="4CA585"/>
      </a:accent5>
      <a:accent6>
        <a:srgbClr val="6595AD"/>
      </a:accent6>
      <a:hlink>
        <a:srgbClr val="15C2FF"/>
      </a:hlink>
      <a:folHlink>
        <a:srgbClr val="CC6601"/>
      </a:folHlink>
    </a:clrScheme>
    <a:fontScheme name="Sixth Street and TSLX">
      <a:majorFont>
        <a:latin typeface="Calibri"/>
        <a:ea typeface=""/>
        <a:cs typeface=""/>
      </a:majorFont>
      <a:minorFont>
        <a:latin typeface="Calibri"/>
        <a:ea typeface=""/>
        <a:cs typeface=""/>
      </a:minorFont>
    </a:fontScheme>
    <a:fmtScheme name="Screen">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lin ang="5400000" scaled="0"/>
        </a:gradFill>
        <a:gradFill rotWithShape="1">
          <a:gsLst>
            <a:gs pos="0">
              <a:schemeClr val="phClr">
                <a:shade val="10000"/>
                <a:hueMod val="100000"/>
                <a:satMod val="100000"/>
                <a:lumMod val="125000"/>
              </a:schemeClr>
            </a:gs>
            <a:gs pos="50000">
              <a:schemeClr val="phClr">
                <a:tint val="100000"/>
                <a:shade val="100000"/>
                <a:hueMod val="99000"/>
                <a:satMod val="120000"/>
                <a:lumMod val="100000"/>
              </a:schemeClr>
            </a:gs>
            <a:gs pos="100000">
              <a:schemeClr val="phClr">
                <a:tint val="100000"/>
                <a:shade val="10000"/>
                <a:hueMod val="100000"/>
                <a:satMod val="100000"/>
                <a:lumMod val="125000"/>
              </a:schemeClr>
            </a:gs>
          </a:gsLst>
          <a:lin ang="18900000" scaled="0"/>
        </a:gradFill>
      </a:fillStyleLst>
      <a:lnStyleLst>
        <a:ln w="12700" cap="sq" cmpd="sng" algn="ctr">
          <a:solidFill>
            <a:schemeClr val="phClr">
              <a:tint val="95000"/>
              <a:satMod val="150000"/>
              <a:lumMod val="150000"/>
            </a:schemeClr>
          </a:solidFill>
          <a:prstDash val="solid"/>
        </a:ln>
        <a:ln w="12700" cap="sq" cmpd="sng" algn="ctr">
          <a:solidFill>
            <a:schemeClr val="phClr">
              <a:tint val="92000"/>
              <a:satMod val="250000"/>
              <a:lumMod val="165000"/>
            </a:schemeClr>
          </a:solidFill>
          <a:prstDash val="solid"/>
        </a:ln>
        <a:ln w="28575" cap="sq" cmpd="sng" algn="ctr">
          <a:solidFill>
            <a:schemeClr val="phClr">
              <a:satMod val="115000"/>
              <a:lumMod val="150000"/>
            </a:schemeClr>
          </a:solidFill>
          <a:prstDash val="solid"/>
        </a:ln>
      </a:lnStyleLst>
      <a:effectStyleLst>
        <a:effectStyle>
          <a:effectLst/>
        </a:effectStyle>
        <a:effectStyle>
          <a:effectLst/>
        </a:effectStyle>
        <a:effectStyle>
          <a:effectLst>
            <a:outerShdw blurRad="38100" dist="25400" dir="2700000" algn="br" rotWithShape="0">
              <a:srgbClr val="000000">
                <a:alpha val="60000"/>
              </a:srgbClr>
            </a:outerShdw>
          </a:effectLst>
        </a:effectStyle>
      </a:effectStyleLst>
      <a:bgFillStyleLst>
        <a:solidFill>
          <a:schemeClr val="phClr"/>
        </a:solidFill>
        <a:gradFill>
          <a:gsLst>
            <a:gs pos="0">
              <a:schemeClr val="phClr">
                <a:tint val="100000"/>
                <a:shade val="100000"/>
                <a:hueMod val="100000"/>
                <a:satMod val="100000"/>
                <a:lumMod val="100000"/>
              </a:schemeClr>
            </a:gs>
            <a:gs pos="25000">
              <a:schemeClr val="phClr">
                <a:tint val="100000"/>
                <a:shade val="75000"/>
                <a:satMod val="100000"/>
              </a:schemeClr>
            </a:gs>
            <a:gs pos="100000">
              <a:schemeClr val="phClr">
                <a:shade val="50000"/>
                <a:satMod val="175000"/>
              </a:schemeClr>
            </a:gs>
            <a:gs pos="100000">
              <a:schemeClr val="phClr">
                <a:shade val="25000"/>
                <a:satMod val="175000"/>
              </a:schemeClr>
            </a:gs>
          </a:gsLst>
          <a:lin ang="600000" scaled="0"/>
        </a:gradFill>
        <a:blipFill rotWithShape="1">
          <a:blip xmlns:r="http://schemas.openxmlformats.org/officeDocument/2006/relationships" r:embed="rId1"/>
          <a:stretch/>
        </a:blipFill>
      </a:bgFillStyleLst>
    </a:fmtScheme>
  </a:themeElements>
  <a:objectDefaults>
    <a:spDef>
      <a:spPr>
        <a:solidFill>
          <a:schemeClr val="bg2"/>
        </a:solidFill>
        <a:ln w="9525">
          <a:solidFill>
            <a:srgbClr val="C33154"/>
          </a:solidFill>
        </a:ln>
      </a:spPr>
      <a:bodyPr lIns="45720" rIns="45720" rtlCol="0" anchor="ctr"/>
      <a:lstStyle>
        <a:defPPr algn="ctr">
          <a:defRPr kern="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sq">
          <a:solidFill>
            <a:srgbClr val="969695"/>
          </a:solidFill>
          <a:prstDash val="solid"/>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nSpc>
            <a:spcPct val="90000"/>
          </a:lnSpc>
          <a:spcAft>
            <a:spcPts val="200"/>
          </a:spcAft>
          <a:defRPr sz="1600" spc="0" dirty="0" smtClean="0"/>
        </a:defPPr>
      </a:lstStyle>
    </a:txDef>
  </a:objectDefaults>
  <a:extraClrSchemeLst/>
  <a:custClrLst>
    <a:custClr name="Absolute White">
      <a:srgbClr val="FEFFFF"/>
    </a:custClr>
    <a:custClr name="Active Tab PRINT">
      <a:srgbClr val="0E2E51"/>
    </a:custClr>
    <a:custClr name="Table Main Border">
      <a:srgbClr val="A0ABB4"/>
    </a:custClr>
    <a:custClr name="Text Over Color">
      <a:srgbClr val="F8F8F8"/>
    </a:custClr>
    <a:custClr name="Line 1">
      <a:srgbClr val="006AA9"/>
    </a:custClr>
    <a:custClr name="Line 2">
      <a:srgbClr val="858D97"/>
    </a:custClr>
    <a:custClr name="Line 3">
      <a:srgbClr val="006573"/>
    </a:custClr>
    <a:custClr name="Line 4">
      <a:srgbClr val="9CB9BB"/>
    </a:custClr>
    <a:custClr name="Line 5">
      <a:srgbClr val="77C3A8"/>
    </a:custClr>
    <a:custClr name="Line 6">
      <a:srgbClr val="96BDCF"/>
    </a:custClr>
    <a:custClr name="Absolute Black">
      <a:srgbClr val="050000"/>
    </a:custClr>
    <a:custClr name="Active Tab SCREEN">
      <a:srgbClr val="005688"/>
    </a:custClr>
    <a:custClr name="Conclusion Box">
      <a:srgbClr val="0F2F51"/>
    </a:custClr>
    <a:custClr name="Red 1">
      <a:srgbClr val="A82800"/>
    </a:custClr>
    <a:custClr name="Accent Blue">
      <a:srgbClr val="003E64"/>
    </a:custClr>
    <a:custClr name="Accent Gray">
      <a:srgbClr val="4C5158"/>
    </a:custClr>
    <a:custClr name="Accent Cyprus">
      <a:srgbClr val="00353C"/>
    </a:custClr>
    <a:custClr name="Accent Casal">
      <a:srgbClr val="296366"/>
    </a:custClr>
    <a:custClr name="Accent Sea Green">
      <a:srgbClr val="2F8E6D"/>
    </a:custClr>
    <a:custClr name="Accent Ocean Deep">
      <a:srgbClr val="417791"/>
    </a:custClr>
    <a:custClr name="Highlight PRINT">
      <a:srgbClr val="4179BD"/>
    </a:custClr>
    <a:custClr name="Highlight SCREEN">
      <a:srgbClr val="C58C3E"/>
    </a:custClr>
    <a:custClr name="Highlight Purple">
      <a:srgbClr val="595378"/>
    </a:custClr>
    <a:custClr name="Red 2">
      <a:srgbClr val="771D00"/>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Lst>
  <a:extLst>
    <a:ext uri="{05A4C25C-085E-4340-85A3-A5531E510DB2}">
      <thm15:themeFamily xmlns:thm15="http://schemas.microsoft.com/office/thememl/2012/main" name="__210501_Sixth Street PRINT" id="{A50BB74A-157F-457E-B35D-FD9C6365CD38}" vid="{6A10F1F2-40AF-4DC0-8CCC-0A8078FC6F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39085</TotalTime>
  <Words>16380</Words>
  <Application>Microsoft Office PowerPoint</Application>
  <PresentationFormat>On-screen Show (4:3)</PresentationFormat>
  <Paragraphs>1519</Paragraphs>
  <Slides>64</Slides>
  <Notes>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Arial</vt:lpstr>
      <vt:lpstr>Calibri</vt:lpstr>
      <vt:lpstr>Cambria Math</vt:lpstr>
      <vt:lpstr>Georgia</vt:lpstr>
      <vt:lpstr>Wingdings</vt:lpstr>
      <vt:lpstr>Wingdings 3</vt:lpstr>
      <vt:lpstr>__210501_Sixth Street PRINT</vt:lpstr>
      <vt:lpstr>think-cell Slide</vt:lpstr>
      <vt:lpstr>Crystal springs resort</vt:lpstr>
      <vt:lpstr>Executive summary (1 of 2)</vt:lpstr>
      <vt:lpstr>Executive summary (2 of 2)</vt:lpstr>
      <vt:lpstr>Investment Highlights &amp; Concerns (1 of 3)</vt:lpstr>
      <vt:lpstr>Investment Highlights &amp; Concerns (2 of 3)</vt:lpstr>
      <vt:lpstr>Investment Highlights &amp; Concerns (3 of 3)</vt:lpstr>
      <vt:lpstr>Key loan terms</vt:lpstr>
      <vt:lpstr>Key intercreditor agreement terms</vt:lpstr>
      <vt:lpstr>Sources &amp; uses</vt:lpstr>
      <vt:lpstr>Sponsorship summary</vt:lpstr>
      <vt:lpstr>Asset overview</vt:lpstr>
      <vt:lpstr>Asset location</vt:lpstr>
      <vt:lpstr>site map</vt:lpstr>
      <vt:lpstr>Grand cascade lodge photos</vt:lpstr>
      <vt:lpstr>Minerals hotel lodge photos</vt:lpstr>
      <vt:lpstr>Property Amenity photos</vt:lpstr>
      <vt:lpstr>Condo hotel overview</vt:lpstr>
      <vt:lpstr>Condo owner unit economics</vt:lpstr>
      <vt:lpstr>Condo structure quick Hits (1 of 2)</vt:lpstr>
      <vt:lpstr>Condo structure Quick hits (2 of 2)</vt:lpstr>
      <vt:lpstr>Hotel operator Ability to Influence</vt:lpstr>
      <vt:lpstr>Rental management agreement key terms</vt:lpstr>
      <vt:lpstr>Hoa governing documents key terms</vt:lpstr>
      <vt:lpstr>Management agreement rollover schedule</vt:lpstr>
      <vt:lpstr>Food &amp; beverage outlet overview</vt:lpstr>
      <vt:lpstr>Golf course overview</vt:lpstr>
      <vt:lpstr>Northern new jersey Market overview</vt:lpstr>
      <vt:lpstr>Hotel market overview</vt:lpstr>
      <vt:lpstr>Drive to leisure demand trends</vt:lpstr>
      <vt:lpstr>Competitive set analysis – Grand Cascades Lodge</vt:lpstr>
      <vt:lpstr>Competitive set analysis – Minerals Hotel</vt:lpstr>
      <vt:lpstr>New jersey golf course market overview</vt:lpstr>
      <vt:lpstr>Sixth street underwritten noi multiple build-up</vt:lpstr>
      <vt:lpstr>Historical cash flows</vt:lpstr>
      <vt:lpstr>Historical cash flows &amp; sixth street proforma</vt:lpstr>
      <vt:lpstr>Aggregate Hotel historical financials &amp; proforma</vt:lpstr>
      <vt:lpstr>F&amp;B historical financials &amp; proforma </vt:lpstr>
      <vt:lpstr>Golf course historical financials &amp; proforma </vt:lpstr>
      <vt:lpstr>Hotel Sensitivity analyses</vt:lpstr>
      <vt:lpstr>F&amp;B sensitivity analysis</vt:lpstr>
      <vt:lpstr>Golf sensitivity analysis</vt:lpstr>
      <vt:lpstr>property sensitivity analyses</vt:lpstr>
      <vt:lpstr>On the books revenue comparison</vt:lpstr>
      <vt:lpstr>Hotel demand segment distribution</vt:lpstr>
      <vt:lpstr>golf course demand segment distribution</vt:lpstr>
      <vt:lpstr>Golf resort sale comparables</vt:lpstr>
      <vt:lpstr>Condo hotel sale comparables</vt:lpstr>
      <vt:lpstr>Golf course sale comparables</vt:lpstr>
      <vt:lpstr>Instrument CM rating</vt:lpstr>
      <vt:lpstr>Hospitality Pricing comparables</vt:lpstr>
      <vt:lpstr>Non-hospitality Pricing comparables</vt:lpstr>
      <vt:lpstr>Whole business securitization Pricing comparables</vt:lpstr>
      <vt:lpstr>Appendix a: Condo owner participation cash flow sweep analysis</vt:lpstr>
      <vt:lpstr>Appendix b: condo owner usage schedule</vt:lpstr>
      <vt:lpstr>Appendix c: annual cash flow - Base case</vt:lpstr>
      <vt:lpstr>Appendix c: annual cash flow - rental at 80%</vt:lpstr>
      <vt:lpstr>Appendix c: annual cash flow - rental participation at 75%</vt:lpstr>
      <vt:lpstr>Appendix d: Grand cascades historical financials &amp; proforma</vt:lpstr>
      <vt:lpstr>Appendix d: Minerals Hotel historical financials &amp; proforma</vt:lpstr>
      <vt:lpstr>appendix e: top group accounts</vt:lpstr>
      <vt:lpstr>appendix f: condo unit sales</vt:lpstr>
      <vt:lpstr>appendix g: condo unit concentration</vt:lpstr>
      <vt:lpstr>Appendix h: Planned Capital expenditure overview</vt:lpstr>
      <vt:lpstr>Appendix i: Ri Diligence – MaSH-3776991 / deal Code: 344498 </vt:lpstr>
    </vt:vector>
  </TitlesOfParts>
  <Company>Sixth Street Partners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Crystal Springs Resort_IC Memo</dc:title>
  <dc:creator>Steele, Jon</dc:creator>
  <cp:lastModifiedBy>Russell, Charlie</cp:lastModifiedBy>
  <cp:revision>915</cp:revision>
  <cp:lastPrinted>2026-04-10T00:11:56Z</cp:lastPrinted>
  <dcterms:created xsi:type="dcterms:W3CDTF">2023-08-21T21:38:38Z</dcterms:created>
  <dcterms:modified xsi:type="dcterms:W3CDTF">2026-05-12T00:29:43Z</dcterms:modified>
</cp:coreProperties>
</file>