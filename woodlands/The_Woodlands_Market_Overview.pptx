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embeddings/oleObject1.bin" ContentType="application/vnd.openxmlformats-officedocument.oleObject"/>
  <Override PartName="/ppt/embeddings/oleObject10.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3.svg" ContentType="image/svg+xml"/>
  <Override PartName="/ppt/media/image5.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6"/>
  </p:notesMasterIdLst>
  <p:sldIdLst>
    <p:sldId id="1179" r:id="rId2"/>
    <p:sldId id="1180" r:id="rId10"/>
    <p:sldId id="1181" r:id="rId11"/>
    <p:sldId id="1182" r:id="rId12"/>
    <p:sldId id="1183" r:id="rId13"/>
    <p:sldId id="1184" r:id="rId14"/>
  </p:sldIdLst>
  <p:sldSz cx="9144000" cy="6858000" type="screen4x3"/>
  <p:notesSz cx="6950075" cy="9236075"/>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903102-605B-68EF-7B9A-7AE2C6BA7540}" name="Goldstein, Ace" initials="AG" userId="S::ace.goldstein@sixthstreet.com::eba7a8dc-62dc-47ad-a929-5bf4ded49a3f" providerId="AD"/>
  <p188:author id="{02D17110-0F20-E47B-BFB5-0A556483A25F}" name="Dustin Braham" initials="DB" userId="S::db@dwightmortgagetrust.com::69117461-9d3a-41f0-8bc9-ae81deb5b480" providerId="AD"/>
  <p188:author id="{D40C3420-B116-B179-DDCD-D21AFFB9F684}" name="Russell, Charlie" initials="CR" userId="S::crussell@sixthstreet.com::33e8a0f7-e167-4dc0-afa6-e3fb827ab654" providerId="AD"/>
  <p188:author id="{FBDFAE2C-C2B0-28D8-DBD6-AB0A56C5F440}" name="Grant Heilman" initials="GH" userId="S::gh@dwightmortgagetrust.com::b1bd96de-2e6c-49c1-9782-dd8f7e0e133d" providerId="AD"/>
  <p188:author id="{7E938D49-9057-6DE2-1093-14AF8E57C3A2}" name="JD Comeau" initials="JC" userId="S::jco@dwightmortgagetrust.com::9c23bc0d-0924-4e03-9722-f2bc5b5f9e79" providerId="AD"/>
  <p188:author id="{F955DB63-E972-F6C0-339F-278EE5DC0F76}" name="Cole Saenz" initials="CS" userId="S::cs@dwightmortgagetrust.com::30713fba-8b3d-448b-95ba-9dee6bb052e1" providerId="AD"/>
  <p188:author id="{C6235F71-A186-B23E-1A63-48E7C65AABD9}" name="Steele, Jon" initials="JS" userId="S::jsteele@sixthstreet.com::70cf78ff-47dc-4de3-ae54-7be2851cb611" providerId="AD"/>
  <p188:author id="{CF00A173-3AAD-548F-2949-C8DB5F70D4F5}" name="Liam Higgins" initials="LH" userId="S::lh@dwightmortgagetrust.com::d80d6c4f-5341-4e82-9800-befd9ddd0186" providerId="AD"/>
  <p188:author id="{F1D93C83-3748-5608-94B4-153EEBC93506}" name="Noah Breskin" initials="NB" userId="S::nb@dwightmortgagetrust.com::f87674ca-bf83-46cc-9fe7-1ea9fb645d6b" providerId="AD"/>
  <p188:author id="{C928A498-CE5A-E258-F912-5DE590065195}" name="Jack Baron" initials="JB" userId="S::jb@dwightmortgagetrust.com::6eca1c2f-e688-4004-890b-d1456642ce2a" providerId="AD"/>
  <p188:author id="{C10243BA-C78C-0021-A887-C97438ADA3CD}" name="Rachel Jones" initials="RJ" userId="S::rj@dwightmortgagetrust.com::f528490c-e884-4e2b-8a95-d947e7635e7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F51"/>
    <a:srgbClr val="E2EFDA"/>
    <a:srgbClr val="D9E1F2"/>
    <a:srgbClr val="9AA0A8"/>
    <a:srgbClr val="112950"/>
    <a:srgbClr val="D9DEF2"/>
    <a:srgbClr val="FFFF00"/>
    <a:srgbClr val="FFAB00"/>
    <a:srgbClr val="02FCFC"/>
    <a:srgbClr val="858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7419" autoAdjust="0"/>
  </p:normalViewPr>
  <p:slideViewPr>
    <p:cSldViewPr snapToGrid="0" showGuides="1">
      <p:cViewPr varScale="1">
        <p:scale>
          <a:sx n="158" d="100"/>
          <a:sy n="158" d="100"/>
        </p:scale>
        <p:origin x="1708"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66" Type="http://schemas.openxmlformats.org/officeDocument/2006/relationships/notesMaster" Target="notesMasters/notesMaster1.xml"/><Relationship Id="rId67" Type="http://schemas.openxmlformats.org/officeDocument/2006/relationships/tags" Target="tags/tag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2026E</c:v>
                </c:pt>
              </c:strCache>
            </c:strRef>
          </c:tx>
          <c:invertIfNegative val="0"/>
          <c:dPt>
            <c:idx val="0"/>
            <c:spPr>
              <a:solidFill>
                <a:srgbClr val="0E2E51"/>
              </a:solidFill>
            </c:spPr>
          </c:dPt>
          <c:dPt>
            <c:idx val="1"/>
            <c:spPr>
              <a:solidFill>
                <a:srgbClr val="0E2E51"/>
              </a:solidFill>
            </c:spPr>
          </c:dPt>
          <c:dPt>
            <c:idx val="2"/>
            <c:spPr>
              <a:solidFill>
                <a:srgbClr val="0E2E51"/>
              </a:solidFill>
            </c:spPr>
          </c:dPt>
          <c:dPt>
            <c:idx val="3"/>
            <c:spPr>
              <a:solidFill>
                <a:srgbClr val="9AA0A8"/>
              </a:solidFill>
            </c:spPr>
          </c:dPt>
          <c:dPt>
            <c:idx val="4"/>
            <c:spPr>
              <a:solidFill>
                <a:srgbClr val="9AA0A8"/>
              </a:solidFill>
            </c:spPr>
          </c:dPt>
          <c:dPt>
            <c:idx val="5"/>
            <c:spPr>
              <a:solidFill>
                <a:srgbClr val="9AA0A8"/>
              </a:solidFill>
            </c:spPr>
          </c:dPt>
          <c:dPt>
            <c:idx val="6"/>
            <c:spPr>
              <a:solidFill>
                <a:srgbClr val="9AA0A8"/>
              </a:solidFill>
            </c:spPr>
          </c:dPt>
          <c:cat>
            <c:strRef>
              <c:f>Sheet1!$A$2:$A$8</c:f>
              <c:strCache>
                <c:ptCount val="7"/>
                <c:pt idx="0">
                  <c:v>Health care</c:v>
                </c:pt>
                <c:pt idx="1">
                  <c:v>Construction</c:v>
                </c:pt>
                <c:pt idx="2">
                  <c:v>Public education</c:v>
                </c:pt>
                <c:pt idx="3">
                  <c:v>Retail</c:v>
                </c:pt>
                <c:pt idx="4">
                  <c:v>Oil &amp; gas extraction</c:v>
                </c:pt>
                <c:pt idx="5">
                  <c:v>Manufacturing</c:v>
                </c:pt>
                <c:pt idx="6">
                  <c:v>Admin support</c:v>
                </c:pt>
              </c:strCache>
            </c:strRef>
          </c:cat>
          <c:val>
            <c:numRef>
              <c:f>Sheet1!$B$2:$B$8</c:f>
              <c:numCache>
                <c:formatCode>General</c:formatCode>
                <c:ptCount val="7"/>
                <c:pt idx="0">
                  <c:v>14.0</c:v>
                </c:pt>
                <c:pt idx="1">
                  <c:v>6.1</c:v>
                </c:pt>
                <c:pt idx="2">
                  <c:v>5.8</c:v>
                </c:pt>
                <c:pt idx="3">
                  <c:v>-1.8</c:v>
                </c:pt>
                <c:pt idx="4">
                  <c:v>-3.2</c:v>
                </c:pt>
                <c:pt idx="5">
                  <c:v>-3.4</c:v>
                </c:pt>
                <c:pt idx="6">
                  <c:v>-7.5</c:v>
                </c:pt>
              </c:numCache>
            </c:numRef>
          </c:val>
        </c:ser>
        <c:dLbls>
          <c:numFmt formatCode="#,##0.0;(#,##0.0)" sourceLinked="0"/>
          <c:txPr>
            <a:bodyPr/>
            <a:lstStyle/>
            <a:p>
              <a:pPr>
                <a:defRPr sz="900">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low"/>
        <c:spPr>
          <a:ln>
            <a:solidFill>
              <a:srgbClr val="9AA0A8"/>
            </a:solidFill>
          </a:ln>
        </c:spPr>
        <c:txPr>
          <a:bodyPr/>
          <a:lstStyle/>
          <a:p>
            <a:pPr>
              <a:defRPr sz="900"/>
            </a:pPr>
          </a:p>
        </c:txPr>
        <c:crossAx val="-2113994440"/>
        <c:crosses val="autoZero"/>
        <c:auto val="1"/>
        <c:lblAlgn val="ctr"/>
        <c:lblOffset val="100"/>
        <c:noMultiLvlLbl val="0"/>
      </c:catAx>
      <c:valAx>
        <c:axId val="-2113994440"/>
        <c:scaling>
          <c:max val="18.0"/>
          <c:min val="-11.0"/>
        </c:scaling>
        <c:delete/>
        <c:axPos val="b"/>
        <c:majorTickMark val="out"/>
        <c:minorTickMark val="none"/>
        <c:tickLblPos val="nextTo"/>
        <c:crossAx val="-2068027336"/>
        <c:crosses val="autoZero"/>
      </c:valAx>
    </c:plotArea>
    <c:dispBlanksAs val="gap"/>
  </c:chart>
  <c:txPr>
    <a:bodyPr/>
    <a:lstStyle/>
    <a:p>
      <a:pPr>
        <a:defRPr sz="900">
          <a:solidFill>
            <a:srgbClr val="08080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RevPAR</c:v>
                </c:pt>
              </c:strCache>
            </c:strRef>
          </c:tx>
          <c:dPt>
            <c:idx val="0"/>
            <c:spPr>
              <a:solidFill>
                <a:srgbClr val="0E2E51"/>
              </a:solidFill>
            </c:spPr>
          </c:dPt>
          <c:dPt>
            <c:idx val="1"/>
            <c:spPr>
              <a:solidFill>
                <a:srgbClr val="0E2E51"/>
              </a:solidFill>
            </c:spPr>
          </c:dPt>
          <c:dPt>
            <c:idx val="2"/>
            <c:spPr>
              <a:solidFill>
                <a:srgbClr val="0E2E51"/>
              </a:solidFill>
            </c:spPr>
          </c:dPt>
          <c:dPt>
            <c:idx val="3"/>
            <c:spPr>
              <a:solidFill>
                <a:srgbClr val="0E2E51"/>
              </a:solidFill>
            </c:spPr>
          </c:dPt>
          <c:dPt>
            <c:idx val="4"/>
            <c:spPr>
              <a:solidFill>
                <a:srgbClr val="0E2E51"/>
              </a:solidFill>
            </c:spPr>
          </c:dPt>
          <c:dPt>
            <c:idx val="5"/>
            <c:spPr>
              <a:solidFill>
                <a:srgbClr val="0E2E51"/>
              </a:solidFill>
            </c:spPr>
          </c:dPt>
          <c:dPt>
            <c:idx val="6"/>
            <c:spPr>
              <a:solidFill>
                <a:srgbClr val="0E2E51"/>
              </a:solidFill>
            </c:spPr>
          </c:dPt>
          <c:dPt>
            <c:idx val="7"/>
            <c:spPr>
              <a:solidFill>
                <a:srgbClr val="0E2E51"/>
              </a:solidFill>
            </c:spPr>
          </c:dPt>
          <c:dPt>
            <c:idx val="8"/>
            <c:spPr>
              <a:solidFill>
                <a:srgbClr val="9AA0A8"/>
              </a:solidFill>
            </c:spPr>
          </c:dPt>
          <c:cat>
            <c:strRef>
              <c:f>Sheet1!$A$2:$A$10</c:f>
              <c:strCache>
                <c:ptCount val="9"/>
                <c:pt idx="0">
                  <c:v>2017</c:v>
                </c:pt>
                <c:pt idx="1">
                  <c:v>2018</c:v>
                </c:pt>
                <c:pt idx="2">
                  <c:v>2019</c:v>
                </c:pt>
                <c:pt idx="3">
                  <c:v>2020</c:v>
                </c:pt>
                <c:pt idx="4">
                  <c:v>2021</c:v>
                </c:pt>
                <c:pt idx="5">
                  <c:v>2022</c:v>
                </c:pt>
                <c:pt idx="6">
                  <c:v>2023</c:v>
                </c:pt>
                <c:pt idx="7">
                  <c:v>2024</c:v>
                </c:pt>
                <c:pt idx="8">
                  <c:v>YTD 25</c:v>
                </c:pt>
              </c:strCache>
            </c:strRef>
          </c:cat>
          <c:val>
            <c:numRef>
              <c:f>Sheet1!$B$2:$B$10</c:f>
              <c:numCache>
                <c:formatCode>General</c:formatCode>
                <c:ptCount val="9"/>
                <c:pt idx="0">
                  <c:v>120.32</c:v>
                </c:pt>
                <c:pt idx="1">
                  <c:v>120.14</c:v>
                </c:pt>
                <c:pt idx="2">
                  <c:v>121.81</c:v>
                </c:pt>
                <c:pt idx="4">
                  <c:v>87.34</c:v>
                </c:pt>
                <c:pt idx="5">
                  <c:v>114.11</c:v>
                </c:pt>
                <c:pt idx="6">
                  <c:v>126.65</c:v>
                </c:pt>
                <c:pt idx="7">
                  <c:v>138.03</c:v>
                </c:pt>
                <c:pt idx="8">
                  <c:v>125.76</c:v>
                </c:pt>
              </c:numCache>
            </c:numRef>
          </c:val>
        </c:ser>
        <c:dLbls>
          <c:numFmt formatCode="$#,##0;($#,##0);-" sourceLinked="0"/>
          <c:txPr>
            <a:bodyPr/>
            <a:lstStyle/>
            <a:p>
              <a:pPr>
                <a:defRPr sz="8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9AA0A8"/>
            </a:solidFill>
          </a:ln>
        </c:spPr>
        <c:txPr>
          <a:bodyPr/>
          <a:lstStyle/>
          <a:p>
            <a:pPr>
              <a:defRPr sz="800"/>
            </a:pPr>
          </a:p>
        </c:txPr>
        <c:crossAx val="-2113994440"/>
        <c:crosses val="autoZero"/>
        <c:auto val="1"/>
        <c:lblAlgn val="ctr"/>
        <c:lblOffset val="100"/>
        <c:noMultiLvlLbl val="0"/>
      </c:catAx>
      <c:valAx>
        <c:axId val="-2113994440"/>
        <c:scaling>
          <c:max val="165.0"/>
          <c:min val="0.0"/>
        </c:scaling>
        <c:delete/>
        <c:axPos val="l"/>
        <c:majorTickMark val="out"/>
        <c:minorTickMark val="none"/>
        <c:tickLblPos val="nextTo"/>
        <c:crossAx val="-2068027336"/>
        <c:crosses val="autoZero"/>
      </c:valAx>
    </c:plotArea>
    <c:dispBlanksAs val="gap"/>
  </c:chart>
  <c:txPr>
    <a:bodyPr/>
    <a:lstStyle/>
    <a:p>
      <a:pPr>
        <a:defRPr sz="900">
          <a:solidFill>
            <a:srgbClr val="08080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2001" cy="462721"/>
          </a:xfrm>
          <a:prstGeom prst="rect">
            <a:avLst/>
          </a:prstGeom>
        </p:spPr>
        <p:txBody>
          <a:bodyPr vert="horz" lIns="87490" tIns="43745" rIns="87490" bIns="43745" rtlCol="0"/>
          <a:lstStyle>
            <a:lvl1pPr algn="l">
              <a:defRPr sz="1100"/>
            </a:lvl1pPr>
          </a:lstStyle>
          <a:p>
            <a:endParaRPr lang="en-US" dirty="0"/>
          </a:p>
        </p:txBody>
      </p:sp>
      <p:sp>
        <p:nvSpPr>
          <p:cNvPr id="3" name="Date Placeholder 2"/>
          <p:cNvSpPr>
            <a:spLocks noGrp="1"/>
          </p:cNvSpPr>
          <p:nvPr>
            <p:ph type="dt" idx="1"/>
          </p:nvPr>
        </p:nvSpPr>
        <p:spPr>
          <a:xfrm>
            <a:off x="3936566" y="0"/>
            <a:ext cx="3012001" cy="462721"/>
          </a:xfrm>
          <a:prstGeom prst="rect">
            <a:avLst/>
          </a:prstGeom>
        </p:spPr>
        <p:txBody>
          <a:bodyPr vert="horz" lIns="87490" tIns="43745" rIns="87490" bIns="43745" rtlCol="0"/>
          <a:lstStyle>
            <a:lvl1pPr algn="r">
              <a:defRPr sz="1100"/>
            </a:lvl1pPr>
          </a:lstStyle>
          <a:p>
            <a:fld id="{7963D64D-97CE-4A53-85A0-97FB91FF649B}" type="datetimeFigureOut">
              <a:rPr lang="en-US" smtClean="0"/>
              <a:t>5/11/2026</a:t>
            </a:fld>
            <a:endParaRPr lang="en-US" dirty="0"/>
          </a:p>
        </p:txBody>
      </p:sp>
      <p:sp>
        <p:nvSpPr>
          <p:cNvPr id="4" name="Slide Image Placeholder 3"/>
          <p:cNvSpPr>
            <a:spLocks noGrp="1" noRot="1" noChangeAspect="1"/>
          </p:cNvSpPr>
          <p:nvPr>
            <p:ph type="sldImg" idx="2"/>
          </p:nvPr>
        </p:nvSpPr>
        <p:spPr>
          <a:xfrm>
            <a:off x="1397000" y="1154113"/>
            <a:ext cx="4156075" cy="3117850"/>
          </a:xfrm>
          <a:prstGeom prst="rect">
            <a:avLst/>
          </a:prstGeom>
          <a:noFill/>
          <a:ln w="12700">
            <a:solidFill>
              <a:prstClr val="black"/>
            </a:solidFill>
          </a:ln>
        </p:spPr>
        <p:txBody>
          <a:bodyPr vert="horz" lIns="87490" tIns="43745" rIns="87490" bIns="43745" rtlCol="0" anchor="ctr"/>
          <a:lstStyle/>
          <a:p>
            <a:endParaRPr lang="en-US" dirty="0"/>
          </a:p>
        </p:txBody>
      </p:sp>
      <p:sp>
        <p:nvSpPr>
          <p:cNvPr id="5" name="Notes Placeholder 4"/>
          <p:cNvSpPr>
            <a:spLocks noGrp="1"/>
          </p:cNvSpPr>
          <p:nvPr>
            <p:ph type="body" sz="quarter" idx="3"/>
          </p:nvPr>
        </p:nvSpPr>
        <p:spPr>
          <a:xfrm>
            <a:off x="695310" y="4445473"/>
            <a:ext cx="5559457" cy="3636093"/>
          </a:xfrm>
          <a:prstGeom prst="rect">
            <a:avLst/>
          </a:prstGeom>
        </p:spPr>
        <p:txBody>
          <a:bodyPr vert="horz" lIns="87490" tIns="43745" rIns="87490" bIns="4374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3355"/>
            <a:ext cx="3012001" cy="462720"/>
          </a:xfrm>
          <a:prstGeom prst="rect">
            <a:avLst/>
          </a:prstGeom>
        </p:spPr>
        <p:txBody>
          <a:bodyPr vert="horz" lIns="87490" tIns="43745" rIns="87490" bIns="43745" rtlCol="0" anchor="b"/>
          <a:lstStyle>
            <a:lvl1pPr algn="l">
              <a:defRPr sz="1100"/>
            </a:lvl1pPr>
          </a:lstStyle>
          <a:p>
            <a:endParaRPr lang="en-US" dirty="0"/>
          </a:p>
        </p:txBody>
      </p:sp>
      <p:sp>
        <p:nvSpPr>
          <p:cNvPr id="7" name="Slide Number Placeholder 6"/>
          <p:cNvSpPr>
            <a:spLocks noGrp="1"/>
          </p:cNvSpPr>
          <p:nvPr>
            <p:ph type="sldNum" sz="quarter" idx="5"/>
          </p:nvPr>
        </p:nvSpPr>
        <p:spPr>
          <a:xfrm>
            <a:off x="3936566" y="8773355"/>
            <a:ext cx="3012001" cy="462720"/>
          </a:xfrm>
          <a:prstGeom prst="rect">
            <a:avLst/>
          </a:prstGeom>
        </p:spPr>
        <p:txBody>
          <a:bodyPr vert="horz" lIns="87490" tIns="43745" rIns="87490" bIns="43745" rtlCol="0" anchor="b"/>
          <a:lstStyle>
            <a:lvl1pPr algn="r">
              <a:defRPr sz="1100"/>
            </a:lvl1pPr>
          </a:lstStyle>
          <a:p>
            <a:fld id="{6A5E40A3-7AF7-4917-A8BC-5C21A2738C93}" type="slidenum">
              <a:rPr lang="en-US" smtClean="0"/>
              <a:t>‹#›</a:t>
            </a:fld>
            <a:endParaRPr lang="en-US" dirty="0"/>
          </a:p>
        </p:txBody>
      </p:sp>
    </p:spTree>
    <p:extLst>
      <p:ext uri="{BB962C8B-B14F-4D97-AF65-F5344CB8AC3E}">
        <p14:creationId xmlns:p14="http://schemas.microsoft.com/office/powerpoint/2010/main" val="214592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5.svg"/><Relationship Id="rId7"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4.bin"/><Relationship Id="rId5"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7.emf"/><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8.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1.xml"/><Relationship Id="rId4" Type="http://schemas.openxmlformats.org/officeDocument/2006/relationships/oleObject" Target="../embeddings/oleObject9.bin"/><Relationship Id="rId5" Type="http://schemas.openxmlformats.org/officeDocument/2006/relationships/image" Target="../media/image7.emf"/><Relationship Id="rId6"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1.xml"/><Relationship Id="rId4" Type="http://schemas.openxmlformats.org/officeDocument/2006/relationships/oleObject" Target="../embeddings/oleObject10.bin"/><Relationship Id="rId5" Type="http://schemas.openxmlformats.org/officeDocument/2006/relationships/image" Target="../media/image4.emf"/><Relationship Id="rId6" Type="http://schemas.openxmlformats.org/officeDocument/2006/relationships/image" Target="../media/image10.emf"/><Relationship Id="rId7"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0F2F5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3413496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rgbClr val="FFFFFE"/>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rgbClr val="FFFFFE"/>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29CDCCC-343F-4136-9772-1137E00EDF18}"/>
              </a:ext>
            </a:extLst>
          </p:cNvPr>
          <p:cNvPicPr>
            <a:picLocks noChangeAspect="1"/>
          </p:cNvPicPr>
          <p:nvPr/>
        </p:nvPicPr>
        <p:blipFill rotWithShape="1">
          <a:blip>
            <a:extLst>
              <a:ext uri="{96DAC541-7B7A-43D3-8B79-37D633B846F1}">
                <asvg:svgBlip xmlns:asvg="http://schemas.microsoft.com/office/drawing/2016/SVG/main" r:embed="rId6"/>
              </a:ext>
            </a:extLst>
          </a:blip>
          <a:srcRect l="4433" r="77670"/>
          <a:stretch/>
        </p:blipFill>
        <p:spPr>
          <a:xfrm>
            <a:off x="-1" y="566065"/>
            <a:ext cx="3538097" cy="5725870"/>
          </a:xfrm>
          <a:prstGeom prst="rect">
            <a:avLst/>
          </a:prstGeom>
        </p:spPr>
      </p:pic>
      <p:pic>
        <p:nvPicPr>
          <p:cNvPr id="11" name="Graphic 2">
            <a:extLst>
              <a:ext uri="{FF2B5EF4-FFF2-40B4-BE49-F238E27FC236}">
                <a16:creationId xmlns:a16="http://schemas.microsoft.com/office/drawing/2014/main" id="{4B7190ED-1C73-42D3-B22E-9AD6B740DD6D}"/>
              </a:ext>
            </a:extLst>
          </p:cNvPr>
          <p:cNvPicPr>
            <a:picLocks noChangeAspect="1"/>
          </p:cNvPicPr>
          <p:nvPr/>
        </p:nvPicPr>
        <p:blipFill>
          <a:blip r:embed="rId7"/>
          <a:srcRect/>
          <a:stretch/>
        </p:blipFill>
        <p:spPr>
          <a:xfrm>
            <a:off x="5986165" y="581233"/>
            <a:ext cx="2719417" cy="759652"/>
          </a:xfrm>
          <a:prstGeom prst="rect">
            <a:avLst/>
          </a:prstGeom>
        </p:spPr>
      </p:pic>
      <p:sp>
        <p:nvSpPr>
          <p:cNvPr id="12" name="Rectangle 11">
            <a:extLst>
              <a:ext uri="{FF2B5EF4-FFF2-40B4-BE49-F238E27FC236}">
                <a16:creationId xmlns:a16="http://schemas.microsoft.com/office/drawing/2014/main" id="{4C262728-5A3E-4027-AA1F-EC54D61F9E97}"/>
              </a:ext>
            </a:extLst>
          </p:cNvPr>
          <p:cNvSpPr/>
          <p:nvPr/>
        </p:nvSpPr>
        <p:spPr>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a:solidFill>
                  <a:schemeClr val="accent2"/>
                </a:solidFill>
                <a:latin typeface="+mj-lt"/>
                <a:cs typeface="Times New Roman" panose="02020603050405020304" pitchFamily="18" charset="0"/>
              </a:rPr>
              <a:t>SIXTH STREET HIGHLY CONFIDENTIAL</a:t>
            </a:r>
          </a:p>
        </p:txBody>
      </p:sp>
    </p:spTree>
    <p:extLst>
      <p:ext uri="{BB962C8B-B14F-4D97-AF65-F5344CB8AC3E}">
        <p14:creationId xmlns:p14="http://schemas.microsoft.com/office/powerpoint/2010/main" val="2123342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ED1199D4-FD95-751E-A091-340AF2BAFEB1}"/>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2592197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5" name="Footer Placeholder 9">
            <a:extLst>
              <a:ext uri="{FF2B5EF4-FFF2-40B4-BE49-F238E27FC236}">
                <a16:creationId xmlns:a16="http://schemas.microsoft.com/office/drawing/2014/main" id="{8E61697F-7CC1-4F8C-879A-B738D1CB43E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83517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Title (2 Lines)">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971398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75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hasCustomPrompt="1"/>
          </p:nvPr>
        </p:nvSpPr>
        <p:spPr>
          <a:xfrm>
            <a:off x="160020" y="58134"/>
            <a:ext cx="8823960" cy="476402"/>
          </a:xfrm>
          <a:prstGeom prst="rect">
            <a:avLst/>
          </a:prstGeom>
        </p:spPr>
        <p:txBody>
          <a:bodyPr vert="horz" lIns="0" tIns="45720" rIns="0" bIns="18288" rtlCol="0" anchor="ctr" anchorCtr="0">
            <a:noAutofit/>
          </a:bodyPr>
          <a:lstStyle>
            <a:lvl1pPr>
              <a:lnSpc>
                <a:spcPct val="90000"/>
              </a:lnSpc>
              <a:defRPr sz="1750"/>
            </a:lvl1pPr>
          </a:lstStyle>
          <a:p>
            <a:pPr marL="0" lvl="0"/>
            <a:r>
              <a:rPr lang="en-US" noProof="0" dirty="0"/>
              <a:t>SLIDE TITLE</a:t>
            </a:r>
            <a:br>
              <a:rPr lang="en-US" noProof="0" dirty="0"/>
            </a:br>
            <a:r>
              <a:rPr lang="en-US" noProof="0" dirty="0"/>
              <a:t>2 lines</a:t>
            </a:r>
          </a:p>
        </p:txBody>
      </p:sp>
      <p:sp>
        <p:nvSpPr>
          <p:cNvPr id="11" name="Footer Placeholder 9">
            <a:extLst>
              <a:ext uri="{FF2B5EF4-FFF2-40B4-BE49-F238E27FC236}">
                <a16:creationId xmlns:a16="http://schemas.microsoft.com/office/drawing/2014/main" id="{F71F00A5-3E59-4A3A-9881-5898E75B0B8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67075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27D79AA3-3B0C-4A07-9648-1AB9DB56D051}"/>
              </a:ext>
            </a:extLst>
          </p:cNvPr>
          <p:cNvGraphicFramePr>
            <a:graphicFrameLocks noChangeAspect="1"/>
          </p:cNvGraphicFramePr>
          <p:nvPr>
            <p:custDataLst>
              <p:tags r:id="rId1"/>
            </p:custDataLst>
            <p:extLst>
              <p:ext uri="{D42A27DB-BD31-4B8C-83A1-F6EECF244321}">
                <p14:modId xmlns:p14="http://schemas.microsoft.com/office/powerpoint/2010/main" val="330479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3" name="Object 12" hidden="1">
                        <a:extLst>
                          <a:ext uri="{FF2B5EF4-FFF2-40B4-BE49-F238E27FC236}">
                            <a16:creationId xmlns:a16="http://schemas.microsoft.com/office/drawing/2014/main" id="{27D79AA3-3B0C-4A07-9648-1AB9DB56D05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4F5919A-F141-44F8-A255-B20CFCCB05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8" name="Slide Number Placeholder 2">
            <a:extLst>
              <a:ext uri="{FF2B5EF4-FFF2-40B4-BE49-F238E27FC236}">
                <a16:creationId xmlns:a16="http://schemas.microsoft.com/office/drawing/2014/main" id="{E3D18900-A64B-4092-AD63-6E442E6AB4FA}"/>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0" name="Text Placeholder 6">
            <a:extLst>
              <a:ext uri="{FF2B5EF4-FFF2-40B4-BE49-F238E27FC236}">
                <a16:creationId xmlns:a16="http://schemas.microsoft.com/office/drawing/2014/main" id="{60BA4139-C552-4581-BC79-BE8ECF9A6F01}"/>
              </a:ext>
            </a:extLst>
          </p:cNvPr>
          <p:cNvSpPr>
            <a:spLocks noGrp="1"/>
          </p:cNvSpPr>
          <p:nvPr>
            <p:ph type="body" sz="quarter" idx="13" hasCustomPrompt="1"/>
          </p:nvPr>
        </p:nvSpPr>
        <p:spPr>
          <a:xfrm>
            <a:off x="160020" y="1048286"/>
            <a:ext cx="8823960" cy="1574790"/>
          </a:xfrm>
          <a:prstGeom prst="rect">
            <a:avLst/>
          </a:prstGeom>
        </p:spPr>
        <p:txBody>
          <a:bodyPr>
            <a:spAutoFit/>
          </a:bodyPr>
          <a:lstStyle>
            <a:lvl1pPr marL="152400" indent="-152400">
              <a:lnSpc>
                <a:spcPct val="90000"/>
              </a:lnSpc>
              <a:spcAft>
                <a:spcPts val="1000"/>
              </a:spcAft>
              <a:buClr>
                <a:schemeClr val="accent2"/>
              </a:buClr>
              <a:buSzPct val="90000"/>
              <a:buFont typeface="Calibri" panose="020F0502020204030204" pitchFamily="34" charset="0"/>
              <a:buChar char="•"/>
              <a:defRPr sz="1400">
                <a:solidFill>
                  <a:schemeClr val="tx1"/>
                </a:solidFill>
                <a:latin typeface="+mn-lt"/>
              </a:defRPr>
            </a:lvl1pPr>
            <a:lvl2pPr marL="3810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2pPr>
            <a:lvl3pPr marL="5715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3pPr>
            <a:lvl4pPr marL="808038"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4pPr>
            <a:lvl5pPr marL="1012825"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5pPr>
          </a:lstStyle>
          <a:p>
            <a:pPr lvl="0"/>
            <a:r>
              <a:rPr lang="en-US" dirty="0"/>
              <a:t>Primary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Placeholder 1">
            <a:extLst>
              <a:ext uri="{FF2B5EF4-FFF2-40B4-BE49-F238E27FC236}">
                <a16:creationId xmlns:a16="http://schemas.microsoft.com/office/drawing/2014/main" id="{A33B111F-F2B3-4B09-A620-646ADA82346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2" name="Footer Placeholder 9">
            <a:extLst>
              <a:ext uri="{FF2B5EF4-FFF2-40B4-BE49-F238E27FC236}">
                <a16:creationId xmlns:a16="http://schemas.microsoft.com/office/drawing/2014/main" id="{495BA40B-7C37-42F1-B7C1-7B99D09A7869}"/>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72612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Conclusio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10FCADA2-9A2F-DEC7-02A8-24E45BDD9186}"/>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590928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n-lt"/>
                <a:cs typeface="Times New Roman" panose="02020603050405020304" pitchFamily="18" charset="0"/>
              </a:rPr>
              <a:t>SIXTH STREET HIGHLY CONFIDENTIAL  </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n-lt"/>
              </a:defRPr>
            </a:lvl1pPr>
          </a:lstStyle>
          <a:p>
            <a:fld id="{C094185C-1F9E-4EDB-A688-258533A03247}" type="slidenum">
              <a:rPr lang="en-US" smtClean="0"/>
              <a:pPr/>
              <a:t>‹#›</a:t>
            </a:fld>
            <a:endParaRPr lang="en-US" dirty="0"/>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0020" y="6483744"/>
            <a:ext cx="172005" cy="228600"/>
          </a:xfrm>
          <a:prstGeom prst="rect">
            <a:avLst/>
          </a:prstGeom>
        </p:spPr>
      </p:pic>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6012375"/>
            <a:ext cx="9144000" cy="387798"/>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(1 Line)</a:t>
            </a:r>
          </a:p>
        </p:txBody>
      </p:sp>
      <p:sp>
        <p:nvSpPr>
          <p:cNvPr id="17" name="Footer Placeholder 9">
            <a:extLst>
              <a:ext uri="{FF2B5EF4-FFF2-40B4-BE49-F238E27FC236}">
                <a16:creationId xmlns:a16="http://schemas.microsoft.com/office/drawing/2014/main" id="{93F0BEE6-6287-497F-8F23-56B983264FA0}"/>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7594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Conclusion 2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2977498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n-lt"/>
                <a:cs typeface="Times New Roman" panose="02020603050405020304" pitchFamily="18" charset="0"/>
              </a:rPr>
              <a:t>SIXTH STREET HIGHLY CONFIDENTIAL  </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020" y="6483744"/>
            <a:ext cx="172005" cy="228600"/>
          </a:xfrm>
          <a:prstGeom prst="rect">
            <a:avLst/>
          </a:prstGeom>
        </p:spPr>
      </p:pic>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(2 Lines)</a:t>
            </a:r>
          </a:p>
        </p:txBody>
      </p:sp>
      <p:sp>
        <p:nvSpPr>
          <p:cNvPr id="16" name="Footer Placeholder 9">
            <a:extLst>
              <a:ext uri="{FF2B5EF4-FFF2-40B4-BE49-F238E27FC236}">
                <a16:creationId xmlns:a16="http://schemas.microsoft.com/office/drawing/2014/main" id="{951A21E2-CBFB-478C-97E6-1DF85619A1CA}"/>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17444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Conclusion 3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3497496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020" y="6483744"/>
            <a:ext cx="172005" cy="228600"/>
          </a:xfrm>
          <a:prstGeom prst="rect">
            <a:avLst/>
          </a:prstGeom>
        </p:spPr>
      </p:pic>
      <p:cxnSp>
        <p:nvCxnSpPr>
          <p:cNvPr id="13" name="Straight Connector 12">
            <a:extLst>
              <a:ext uri="{FF2B5EF4-FFF2-40B4-BE49-F238E27FC236}">
                <a16:creationId xmlns:a16="http://schemas.microsoft.com/office/drawing/2014/main" id="{C52B61BF-428D-4935-80AF-D4AF69F54312}"/>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4" name="Slide Number Placeholder 2">
            <a:extLst>
              <a:ext uri="{FF2B5EF4-FFF2-40B4-BE49-F238E27FC236}">
                <a16:creationId xmlns:a16="http://schemas.microsoft.com/office/drawing/2014/main" id="{F59A2AFC-BF60-4FC5-892A-34473E7FD8BB}"/>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sp>
        <p:nvSpPr>
          <p:cNvPr id="16" name="Title Placeholder 1">
            <a:extLst>
              <a:ext uri="{FF2B5EF4-FFF2-40B4-BE49-F238E27FC236}">
                <a16:creationId xmlns:a16="http://schemas.microsoft.com/office/drawing/2014/main" id="{E991F92D-64B8-402A-AAF3-8FC50FF9921D}"/>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21" name="Text Placeholder 4">
            <a:extLst>
              <a:ext uri="{FF2B5EF4-FFF2-40B4-BE49-F238E27FC236}">
                <a16:creationId xmlns:a16="http://schemas.microsoft.com/office/drawing/2014/main" id="{E6127545-1C92-4332-96DD-DA86E8F50048}"/>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sz="1400"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(3 lines)</a:t>
            </a:r>
          </a:p>
        </p:txBody>
      </p:sp>
      <p:sp>
        <p:nvSpPr>
          <p:cNvPr id="17" name="Footer Placeholder 9">
            <a:extLst>
              <a:ext uri="{FF2B5EF4-FFF2-40B4-BE49-F238E27FC236}">
                <a16:creationId xmlns:a16="http://schemas.microsoft.com/office/drawing/2014/main" id="{2E88C089-8DAD-48CA-8000-879AB7290D4F}"/>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990064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6C1E106-B173-4C77-84E9-0384A2B8C8C4}"/>
              </a:ext>
            </a:extLst>
          </p:cNvPr>
          <p:cNvGraphicFramePr>
            <a:graphicFrameLocks noChangeAspect="1"/>
          </p:cNvGraphicFramePr>
          <p:nvPr>
            <p:custDataLst>
              <p:tags r:id="rId1"/>
            </p:custDataLst>
            <p:extLst>
              <p:ext uri="{D42A27DB-BD31-4B8C-83A1-F6EECF244321}">
                <p14:modId xmlns:p14="http://schemas.microsoft.com/office/powerpoint/2010/main" val="1196371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B6C1E106-B173-4C77-84E9-0384A2B8C8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BAE97C9-37B0-466E-97BF-1B5E905EFC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6" name="Subtitle"/>
          <p:cNvSpPr>
            <a:spLocks noGrp="1"/>
          </p:cNvSpPr>
          <p:nvPr>
            <p:ph type="subTitle" idx="1" hasCustomPrompt="1"/>
          </p:nvPr>
        </p:nvSpPr>
        <p:spPr>
          <a:xfrm>
            <a:off x="3873379" y="3602915"/>
            <a:ext cx="5106259" cy="406265"/>
          </a:xfrm>
          <a:prstGeom prst="rect">
            <a:avLst/>
          </a:prstGeom>
          <a:noFill/>
        </p:spPr>
        <p:txBody>
          <a:bodyPr wrap="square" lIns="0" tIns="91440" rIns="0" bIns="91440" rtlCol="0" anchor="t" anchorCtr="0">
            <a:spAutoFit/>
          </a:bodyPr>
          <a:lstStyle>
            <a:lvl1pPr marL="0" indent="0" algn="r">
              <a:buNone/>
              <a:defRPr lang="en-US" sz="1600" kern="1200" spc="100" baseline="0" dirty="0">
                <a:solidFill>
                  <a:schemeClr val="tx1"/>
                </a:solidFill>
                <a:latin typeface="+mn-lt"/>
              </a:defRPr>
            </a:lvl1pPr>
          </a:lstStyle>
          <a:p>
            <a:pPr marL="0" lvl="0" algn="r" defTabSz="914400">
              <a:lnSpc>
                <a:spcPct val="90000"/>
              </a:lnSpc>
              <a:spcAft>
                <a:spcPts val="200"/>
              </a:spcAft>
            </a:pPr>
            <a:r>
              <a:rPr lang="en-US" dirty="0"/>
              <a:t>Subtitle</a:t>
            </a:r>
          </a:p>
        </p:txBody>
      </p:sp>
      <p:sp>
        <p:nvSpPr>
          <p:cNvPr id="8" name="Title"/>
          <p:cNvSpPr>
            <a:spLocks noGrp="1"/>
          </p:cNvSpPr>
          <p:nvPr>
            <p:ph type="ctrTitle" hasCustomPrompt="1"/>
          </p:nvPr>
        </p:nvSpPr>
        <p:spPr bwMode="black">
          <a:xfrm>
            <a:off x="3873381" y="2848821"/>
            <a:ext cx="5106258" cy="710964"/>
          </a:xfrm>
          <a:prstGeom prst="rect">
            <a:avLst/>
          </a:prstGeom>
          <a:noFill/>
        </p:spPr>
        <p:txBody>
          <a:bodyPr vert="horz" wrap="square" lIns="0" tIns="91440" rIns="0" bIns="91440" rtlCol="0" anchor="b" anchorCtr="0">
            <a:spAutoFit/>
          </a:bodyPr>
          <a:lstStyle>
            <a:lvl1pPr algn="r">
              <a:defRPr lang="en-US" sz="3800" kern="1200" dirty="0">
                <a:solidFill>
                  <a:schemeClr val="tx1"/>
                </a:solidFill>
                <a:ea typeface="+mn-ea"/>
              </a:defRPr>
            </a:lvl1pPr>
          </a:lstStyle>
          <a:p>
            <a:pPr marL="0" lvl="0" algn="r" defTabSz="914400">
              <a:lnSpc>
                <a:spcPct val="90000"/>
              </a:lnSpc>
              <a:spcAft>
                <a:spcPts val="200"/>
              </a:spcAft>
            </a:pPr>
            <a:r>
              <a:rPr lang="en-US" dirty="0"/>
              <a:t>Section Header</a:t>
            </a:r>
          </a:p>
        </p:txBody>
      </p:sp>
      <p:cxnSp>
        <p:nvCxnSpPr>
          <p:cNvPr id="10" name="Separator Line"/>
          <p:cNvCxnSpPr/>
          <p:nvPr/>
        </p:nvCxnSpPr>
        <p:spPr>
          <a:xfrm>
            <a:off x="-627882" y="4920282"/>
            <a:ext cx="7315200" cy="0"/>
          </a:xfrm>
          <a:prstGeom prst="line">
            <a:avLst/>
          </a:prstGeom>
          <a:solidFill>
            <a:srgbClr val="093A5B"/>
          </a:solidFill>
          <a:ln w="28575">
            <a:no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E9A2843-21AE-42D6-8784-C5A9BFF48788}"/>
              </a:ext>
            </a:extLst>
          </p:cNvPr>
          <p:cNvCxnSpPr>
            <a:cxnSpLocks/>
          </p:cNvCxnSpPr>
          <p:nvPr/>
        </p:nvCxnSpPr>
        <p:spPr>
          <a:xfrm flipH="1">
            <a:off x="3873381" y="3557500"/>
            <a:ext cx="5106258"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00B59AB-BD73-4A7B-91F0-A59C1AE5F65B}"/>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11" name="Graphic 10">
            <a:extLst>
              <a:ext uri="{FF2B5EF4-FFF2-40B4-BE49-F238E27FC236}">
                <a16:creationId xmlns:a16="http://schemas.microsoft.com/office/drawing/2014/main" id="{24B358AB-17AD-4FA9-8A44-BD44ACC08C22}"/>
              </a:ext>
            </a:extLst>
          </p:cNvPr>
          <p:cNvPicPr>
            <a:picLocks noChangeAspect="1"/>
          </p:cNvPicPr>
          <p:nvPr/>
        </p:nvPicPr>
        <p:blipFill rotWithShape="1">
          <a:blip>
            <a:extLst>
              <a:ext uri="{96DAC541-7B7A-43D3-8B79-37D633B846F1}">
                <asvg:svgBlip xmlns:asvg="http://schemas.microsoft.com/office/drawing/2016/SVG/main" r:embed="rId6"/>
              </a:ext>
            </a:extLst>
          </a:blip>
          <a:srcRect l="4433" r="77670"/>
          <a:stretch/>
        </p:blipFill>
        <p:spPr>
          <a:xfrm>
            <a:off x="-1" y="566065"/>
            <a:ext cx="3538097" cy="5725870"/>
          </a:xfrm>
          <a:prstGeom prst="rect">
            <a:avLst/>
          </a:prstGeom>
        </p:spPr>
      </p:pic>
    </p:spTree>
    <p:extLst>
      <p:ext uri="{BB962C8B-B14F-4D97-AF65-F5344CB8AC3E}">
        <p14:creationId xmlns:p14="http://schemas.microsoft.com/office/powerpoint/2010/main" val="967088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Slide">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BB23FA3-3B9F-4453-9487-4B573E32590A}"/>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B07B5FF-747D-4FD2-9258-7FAF13AFF8BD}"/>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6" name="Graphic 5">
            <a:extLst>
              <a:ext uri="{FF2B5EF4-FFF2-40B4-BE49-F238E27FC236}">
                <a16:creationId xmlns:a16="http://schemas.microsoft.com/office/drawing/2014/main" id="{84735A86-BA87-4032-932A-92D1E3056C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 y="6483744"/>
            <a:ext cx="172005" cy="228600"/>
          </a:xfrm>
          <a:prstGeom prst="rect">
            <a:avLst/>
          </a:prstGeom>
        </p:spPr>
      </p:pic>
      <p:sp>
        <p:nvSpPr>
          <p:cNvPr id="7" name="Slide Number Placeholder 2">
            <a:extLst>
              <a:ext uri="{FF2B5EF4-FFF2-40B4-BE49-F238E27FC236}">
                <a16:creationId xmlns:a16="http://schemas.microsoft.com/office/drawing/2014/main" id="{A0890C6F-06EA-454E-98CD-D3A69BFC0B6E}"/>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1" name="Footer Placeholder 9">
            <a:extLst>
              <a:ext uri="{FF2B5EF4-FFF2-40B4-BE49-F238E27FC236}">
                <a16:creationId xmlns:a16="http://schemas.microsoft.com/office/drawing/2014/main" id="{DA768706-9A6D-4AF2-8D4C-5C1C376B50F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979457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59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ixth Street IRC_Cov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7205971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chemeClr val="tx1"/>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chemeClr val="tx1"/>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5290138-6D0A-45FE-9B62-D5B9205EE5EE}"/>
              </a:ext>
            </a:extLst>
          </p:cNvPr>
          <p:cNvSpPr/>
          <p:nvPr/>
        </p:nvSpPr>
        <p:spPr bwMode="gray">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a:solidFill>
                  <a:schemeClr val="accent2"/>
                </a:solidFill>
                <a:latin typeface="+mj-lt"/>
                <a:cs typeface="Times New Roman" panose="02020603050405020304" pitchFamily="18" charset="0"/>
              </a:rPr>
              <a:t>SIXTH STREET HIGHLY CONFIDENTIAL</a:t>
            </a:r>
          </a:p>
        </p:txBody>
      </p:sp>
      <p:pic>
        <p:nvPicPr>
          <p:cNvPr id="14" name="Picture 13">
            <a:extLst>
              <a:ext uri="{FF2B5EF4-FFF2-40B4-BE49-F238E27FC236}">
                <a16:creationId xmlns:a16="http://schemas.microsoft.com/office/drawing/2014/main" id="{4530DCAC-21AF-42C4-9A28-514556CFD3EC}"/>
              </a:ext>
            </a:extLst>
          </p:cNvPr>
          <p:cNvPicPr>
            <a:picLocks noChangeAspect="1"/>
          </p:cNvPicPr>
          <p:nvPr/>
        </p:nvPicPr>
        <p:blipFill>
          <a:blip r:embed="rId6"/>
          <a:stretch>
            <a:fillRect/>
          </a:stretch>
        </p:blipFill>
        <p:spPr bwMode="auto">
          <a:xfrm>
            <a:off x="5990083" y="581233"/>
            <a:ext cx="2715499" cy="758952"/>
          </a:xfrm>
          <a:prstGeom prst="rect">
            <a:avLst/>
          </a:prstGeom>
        </p:spPr>
      </p:pic>
      <p:pic>
        <p:nvPicPr>
          <p:cNvPr id="11" name="Graphic 10">
            <a:extLst>
              <a:ext uri="{FF2B5EF4-FFF2-40B4-BE49-F238E27FC236}">
                <a16:creationId xmlns:a16="http://schemas.microsoft.com/office/drawing/2014/main" id="{ABE781A6-05F4-4478-97BF-E0CF236080E7}"/>
              </a:ext>
            </a:extLst>
          </p:cNvPr>
          <p:cNvPicPr>
            <a:picLocks noChangeAspect="1"/>
          </p:cNvPicPr>
          <p:nvPr/>
        </p:nvPicPr>
        <p:blipFill rotWithShape="1">
          <a:blip>
            <a:extLst>
              <a:ext uri="{96DAC541-7B7A-43D3-8B79-37D633B846F1}">
                <asvg:svgBlip xmlns:asvg="http://schemas.microsoft.com/office/drawing/2016/SVG/main" r:embed="rId7"/>
              </a:ext>
            </a:extLst>
          </a:blip>
          <a:srcRect l="4433" r="77670"/>
          <a:stretch/>
        </p:blipFill>
        <p:spPr>
          <a:xfrm>
            <a:off x="-1" y="566065"/>
            <a:ext cx="3538097" cy="5725870"/>
          </a:xfrm>
          <a:prstGeom prst="rect">
            <a:avLst/>
          </a:prstGeom>
        </p:spPr>
      </p:pic>
    </p:spTree>
    <p:extLst>
      <p:ext uri="{BB962C8B-B14F-4D97-AF65-F5344CB8AC3E}">
        <p14:creationId xmlns:p14="http://schemas.microsoft.com/office/powerpoint/2010/main" val="1956848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Video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92B1BF-28F6-4844-8E5E-01EB638FE72B}"/>
              </a:ext>
            </a:extLst>
          </p:cNvPr>
          <p:cNvSpPr/>
          <p:nvPr/>
        </p:nvSpPr>
        <p:spPr>
          <a:xfrm>
            <a:off x="0" y="0"/>
            <a:ext cx="9144000" cy="6858000"/>
          </a:xfrm>
          <a:prstGeom prst="rect">
            <a:avLst/>
          </a:prstGeom>
          <a:solidFill>
            <a:srgbClr val="05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Tree>
    <p:extLst>
      <p:ext uri="{BB962C8B-B14F-4D97-AF65-F5344CB8AC3E}">
        <p14:creationId xmlns:p14="http://schemas.microsoft.com/office/powerpoint/2010/main" val="36533881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tags" Target="../tags/tag3.xml"/><Relationship Id="rId16" Type="http://schemas.openxmlformats.org/officeDocument/2006/relationships/oleObject" Target="../embeddings/oleObject1.bin"/><Relationship Id="rId17" Type="http://schemas.openxmlformats.org/officeDocument/2006/relationships/image" Target="../media/image2.emf"/><Relationship Id="rId18"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7B823948-C8BC-4DDC-BFA1-F25EE97AD3B3}"/>
              </a:ext>
            </a:extLst>
          </p:cNvPr>
          <p:cNvGraphicFramePr>
            <a:graphicFrameLocks noChangeAspect="1"/>
          </p:cNvGraphicFramePr>
          <p:nvPr>
            <p:custDataLst>
              <p:tags r:id="rId14"/>
            </p:custDataLst>
            <p:extLst>
              <p:ext uri="{D42A27DB-BD31-4B8C-83A1-F6EECF244321}">
                <p14:modId xmlns:p14="http://schemas.microsoft.com/office/powerpoint/2010/main" val="1683187985"/>
              </p:ext>
            </p:extLst>
          </p:nvPr>
        </p:nvGraphicFramePr>
        <p:xfrm>
          <a:off x="1589" y="1642"/>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9" name="Object 8" hidden="1">
                        <a:extLst>
                          <a:ext uri="{FF2B5EF4-FFF2-40B4-BE49-F238E27FC236}">
                            <a16:creationId xmlns:a16="http://schemas.microsoft.com/office/drawing/2014/main" id="{7B823948-C8BC-4DDC-BFA1-F25EE97AD3B3}"/>
                          </a:ext>
                        </a:extLst>
                      </p:cNvPr>
                      <p:cNvPicPr/>
                      <p:nvPr/>
                    </p:nvPicPr>
                    <p:blipFill>
                      <a:blip r:embed="rId17"/>
                      <a:stretch>
                        <a:fillRect/>
                      </a:stretch>
                    </p:blipFill>
                    <p:spPr>
                      <a:xfrm>
                        <a:off x="1589" y="164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17F23A7-24A7-497E-BB1F-85A26570FD86}"/>
              </a:ext>
            </a:extLst>
          </p:cNvPr>
          <p:cNvSpPr/>
          <p:nvPr>
            <p:custDataLst>
              <p:tags r:id="rId15"/>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cxnSp>
        <p:nvCxnSpPr>
          <p:cNvPr id="20" name="Straight Connector 19">
            <a:extLst>
              <a:ext uri="{FF2B5EF4-FFF2-40B4-BE49-F238E27FC236}">
                <a16:creationId xmlns:a16="http://schemas.microsoft.com/office/drawing/2014/main" id="{74C370E3-CF6A-4D97-8AD5-089BA3E27527}"/>
              </a:ext>
            </a:extLst>
          </p:cNvPr>
          <p:cNvCxnSpPr/>
          <p:nvPr/>
        </p:nvCxnSpPr>
        <p:spPr>
          <a:xfrm>
            <a:off x="160020" y="562214"/>
            <a:ext cx="882396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1" name="Title Placeholder 1">
            <a:extLst>
              <a:ext uri="{FF2B5EF4-FFF2-40B4-BE49-F238E27FC236}">
                <a16:creationId xmlns:a16="http://schemas.microsoft.com/office/drawing/2014/main" id="{9A985053-DDB2-42CC-9576-256F9E1F73A6}"/>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dirty="0"/>
              <a:t>SLIDE TITLE</a:t>
            </a:r>
          </a:p>
        </p:txBody>
      </p:sp>
      <p:cxnSp>
        <p:nvCxnSpPr>
          <p:cNvPr id="22" name="Straight Connector 21">
            <a:extLst>
              <a:ext uri="{FF2B5EF4-FFF2-40B4-BE49-F238E27FC236}">
                <a16:creationId xmlns:a16="http://schemas.microsoft.com/office/drawing/2014/main" id="{48527956-E83A-47E0-A8F0-987241010AAF}"/>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3" name="Footer Placeholder 9">
            <a:extLst>
              <a:ext uri="{FF2B5EF4-FFF2-40B4-BE49-F238E27FC236}">
                <a16:creationId xmlns:a16="http://schemas.microsoft.com/office/drawing/2014/main" id="{220D5230-216B-47C2-AEBB-D8CFF7840A1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uFill>
                  <a:solidFill>
                    <a:schemeClr val="tx2"/>
                  </a:solidFill>
                </a:uFill>
                <a:latin typeface="+mj-lt"/>
                <a:ea typeface="+mn-ea"/>
                <a:cs typeface="+mn-cs"/>
              </a:defRPr>
            </a:lvl1pPr>
          </a:lstStyle>
          <a:p>
            <a:r>
              <a:rPr lang="en-US" dirty="0"/>
              <a:t>FOOTER ALL CAP</a:t>
            </a:r>
          </a:p>
        </p:txBody>
      </p:sp>
      <p:sp>
        <p:nvSpPr>
          <p:cNvPr id="24" name="Slide Number Placeholder 2">
            <a:extLst>
              <a:ext uri="{FF2B5EF4-FFF2-40B4-BE49-F238E27FC236}">
                <a16:creationId xmlns:a16="http://schemas.microsoft.com/office/drawing/2014/main" id="{BEEB6E2A-1563-43CE-9948-D57D6580BB7D}"/>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25" name="Rectangle 24">
            <a:extLst>
              <a:ext uri="{FF2B5EF4-FFF2-40B4-BE49-F238E27FC236}">
                <a16:creationId xmlns:a16="http://schemas.microsoft.com/office/drawing/2014/main" id="{E4483F20-0475-4D46-92FD-A1A83EB07A63}"/>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26" name="Graphic 25">
            <a:extLst>
              <a:ext uri="{FF2B5EF4-FFF2-40B4-BE49-F238E27FC236}">
                <a16:creationId xmlns:a16="http://schemas.microsoft.com/office/drawing/2014/main" id="{9AE453D8-EF2C-4F34-B85D-62E9446D18D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60020" y="6483744"/>
            <a:ext cx="172005" cy="228600"/>
          </a:xfrm>
          <a:prstGeom prst="rect">
            <a:avLst/>
          </a:prstGeom>
        </p:spPr>
      </p:pic>
    </p:spTree>
    <p:extLst>
      <p:ext uri="{BB962C8B-B14F-4D97-AF65-F5344CB8AC3E}">
        <p14:creationId xmlns:p14="http://schemas.microsoft.com/office/powerpoint/2010/main" val="1850678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290" rtl="0" eaLnBrk="1" latinLnBrk="0" hangingPunct="1">
        <a:spcBef>
          <a:spcPct val="0"/>
        </a:spcBef>
        <a:buNone/>
        <a:tabLst>
          <a:tab pos="457200" algn="l"/>
        </a:tabLst>
        <a:defRPr lang="en-US" sz="2200" kern="0" cap="all" spc="0" baseline="0" dirty="0">
          <a:solidFill>
            <a:schemeClr val="tx1"/>
          </a:solidFill>
          <a:latin typeface="+mj-lt"/>
          <a:ea typeface="+mj-ea"/>
          <a:cs typeface="+mj-cs"/>
        </a:defRPr>
      </a:lvl1pPr>
    </p:titleStyle>
    <p:bodyStyle>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0" rtl="0" eaLnBrk="1" latinLnBrk="0" hangingPunct="1">
        <a:defRPr sz="1800" kern="1200">
          <a:solidFill>
            <a:schemeClr val="tx1"/>
          </a:solidFill>
          <a:latin typeface="+mn-lt"/>
          <a:ea typeface="+mn-ea"/>
          <a:cs typeface="+mn-cs"/>
        </a:defRPr>
      </a:lvl1pPr>
      <a:lvl2pPr marL="457145" algn="l" defTabSz="914290" rtl="0" eaLnBrk="1" latinLnBrk="0" hangingPunct="1">
        <a:defRPr sz="1800" kern="1200">
          <a:solidFill>
            <a:schemeClr val="tx1"/>
          </a:solidFill>
          <a:latin typeface="+mn-lt"/>
          <a:ea typeface="+mn-ea"/>
          <a:cs typeface="+mn-cs"/>
        </a:defRPr>
      </a:lvl2pPr>
      <a:lvl3pPr marL="914290" algn="l" defTabSz="914290" rtl="0" eaLnBrk="1" latinLnBrk="0" hangingPunct="1">
        <a:defRPr sz="1800" kern="1200">
          <a:solidFill>
            <a:schemeClr val="tx1"/>
          </a:solidFill>
          <a:latin typeface="+mn-lt"/>
          <a:ea typeface="+mn-ea"/>
          <a:cs typeface="+mn-cs"/>
        </a:defRPr>
      </a:lvl3pPr>
      <a:lvl4pPr marL="1371435" algn="l" defTabSz="914290" rtl="0" eaLnBrk="1" latinLnBrk="0" hangingPunct="1">
        <a:defRPr sz="1800" kern="1200">
          <a:solidFill>
            <a:schemeClr val="tx1"/>
          </a:solidFill>
          <a:latin typeface="+mn-lt"/>
          <a:ea typeface="+mn-ea"/>
          <a:cs typeface="+mn-cs"/>
        </a:defRPr>
      </a:lvl4pPr>
      <a:lvl5pPr marL="1828581" algn="l" defTabSz="914290" rtl="0" eaLnBrk="1" latinLnBrk="0" hangingPunct="1">
        <a:defRPr sz="1800" kern="1200">
          <a:solidFill>
            <a:schemeClr val="tx1"/>
          </a:solidFill>
          <a:latin typeface="+mn-lt"/>
          <a:ea typeface="+mn-ea"/>
          <a:cs typeface="+mn-cs"/>
        </a:defRPr>
      </a:lvl5pPr>
      <a:lvl6pPr marL="2285726" algn="l" defTabSz="914290" rtl="0" eaLnBrk="1" latinLnBrk="0" hangingPunct="1">
        <a:defRPr sz="1800" kern="1200">
          <a:solidFill>
            <a:schemeClr val="tx1"/>
          </a:solidFill>
          <a:latin typeface="+mn-lt"/>
          <a:ea typeface="+mn-ea"/>
          <a:cs typeface="+mn-cs"/>
        </a:defRPr>
      </a:lvl6pPr>
      <a:lvl7pPr marL="2742871" algn="l" defTabSz="914290" rtl="0" eaLnBrk="1" latinLnBrk="0" hangingPunct="1">
        <a:defRPr sz="1800" kern="1200">
          <a:solidFill>
            <a:schemeClr val="tx1"/>
          </a:solidFill>
          <a:latin typeface="+mn-lt"/>
          <a:ea typeface="+mn-ea"/>
          <a:cs typeface="+mn-cs"/>
        </a:defRPr>
      </a:lvl7pPr>
      <a:lvl8pPr marL="3200016" algn="l" defTabSz="914290" rtl="0" eaLnBrk="1" latinLnBrk="0" hangingPunct="1">
        <a:defRPr sz="1800" kern="1200">
          <a:solidFill>
            <a:schemeClr val="tx1"/>
          </a:solidFill>
          <a:latin typeface="+mn-lt"/>
          <a:ea typeface="+mn-ea"/>
          <a:cs typeface="+mn-cs"/>
        </a:defRPr>
      </a:lvl8pPr>
      <a:lvl9pPr marL="3657161" algn="l" defTabSz="91429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E7EFDC-4E40-94F6-AB49-939349067C8F}"/>
              </a:ext>
            </a:extLst>
          </p:cNvPr>
          <p:cNvSpPr>
            <a:spLocks noGrp="1"/>
          </p:cNvSpPr>
          <p:nvPr>
            <p:ph type="ctrTitle"/>
          </p:nvPr>
        </p:nvSpPr>
        <p:spPr>
          <a:xfrm>
            <a:off x="4689446" y="4979095"/>
            <a:ext cx="4016136" cy="615553"/>
          </a:xfrm>
        </p:spPr>
        <p:txBody>
          <a:bodyPr/>
          <a:lstStyle/>
          <a:p>
            <a:r>
              <a:rPr lang="en-US" sz="2800" dirty="0"/>
              <a:t>The Woodlands, TX</a:t>
            </a:r>
          </a:p>
        </p:txBody>
      </p:sp>
      <p:sp>
        <p:nvSpPr>
          <p:cNvPr id="7" name="Subtitle 1">
            <a:extLst>
              <a:ext uri="{FF2B5EF4-FFF2-40B4-BE49-F238E27FC236}">
                <a16:creationId xmlns:a16="http://schemas.microsoft.com/office/drawing/2014/main" id="{00A3B977-BC21-8C9F-E827-9395C32A79CC}"/>
              </a:ext>
            </a:extLst>
          </p:cNvPr>
          <p:cNvSpPr>
            <a:spLocks noGrp="1"/>
          </p:cNvSpPr>
          <p:nvPr>
            <p:ph type="subTitle" idx="1"/>
          </p:nvPr>
        </p:nvSpPr>
        <p:spPr>
          <a:xfrm>
            <a:off x="3631979" y="5531845"/>
            <a:ext cx="5073603" cy="1328569"/>
          </a:xfrm>
        </p:spPr>
        <p:txBody>
          <a:bodyPr/>
          <a:lstStyle/>
          <a:p>
            <a:pPr>
              <a:spcBef>
                <a:spcPts val="100"/>
              </a:spcBef>
              <a:spcAft>
                <a:spcPts val="100"/>
              </a:spcAft>
            </a:pPr>
            <a:r>
              <a:rPr lang="en-US" dirty="0"/>
              <a:t>October 2026</a:t>
            </a:r>
          </a:p>
          <a:p>
            <a:pPr>
              <a:spcBef>
                <a:spcPts val="100"/>
              </a:spcBef>
              <a:spcAft>
                <a:spcPts val="100"/>
              </a:spcAft>
            </a:pPr>
            <a:r>
              <a:rPr lang="en-US" sz="1000" dirty="0">
                <a:solidFill>
                  <a:schemeClr val="bg1"/>
                </a:solidFill>
              </a:rPr>
              <a:t>Hotel Portfolio Market Overview</a:t>
            </a:r>
          </a:p>
          <a:p>
            <a:pPr>
              <a:spcBef>
                <a:spcPts val="100"/>
              </a:spcBef>
              <a:spcAft>
                <a:spcPts val="100"/>
              </a:spcAft>
            </a:pPr>
            <a:r>
              <a:rPr lang="en-US" sz="1000" dirty="0">
                <a:solidFill>
                  <a:schemeClr val="bg1"/>
                </a:solidFill>
              </a:rPr>
              <a:t>Economy, Demographics and Travel Demand Drivers</a:t>
            </a:r>
          </a:p>
          <a:p>
            <a:pPr>
              <a:spcBef>
                <a:spcPts val="100"/>
              </a:spcBef>
              <a:spcAft>
                <a:spcPts val="100"/>
              </a:spcAft>
            </a:pPr>
            <a:r>
              <a:rPr lang="en-US" sz="1000" dirty="0">
                <a:solidFill>
                  <a:schemeClr val="bg1"/>
                </a:solidFill>
              </a:rPr>
              <a:t>Preliminary, for discussion purposes</a:t>
            </a:r>
          </a:p>
        </p:txBody>
      </p:sp>
    </p:spTree>
    <p:extLst>
      <p:ext uri="{BB962C8B-B14F-4D97-AF65-F5344CB8AC3E}">
        <p14:creationId xmlns:p14="http://schemas.microsoft.com/office/powerpoint/2010/main" val="229508455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Calibri"/>
              </a:rPr>
              <a:t>REGIONAL ECONOMIC OVERVIEW</a:t>
            </a:r>
          </a:p>
        </p:txBody>
      </p:sp>
      <p:sp>
        <p:nvSpPr>
          <p:cNvPr id="2" name="Slide Number Placeholder 1">
            <a:extLst>
              <a:ext uri="{FF2B5EF4-FFF2-40B4-BE49-F238E27FC236}">
                <a16:creationId xmlns:a16="http://schemas.microsoft.com/office/drawing/2014/main" id="{3E458844-F57D-6F7F-794A-8C27EFE28F5B}"/>
              </a:ext>
            </a:extLst>
          </p:cNvPr>
          <p:cNvSpPr>
            <a:spLocks noGrp="1"/>
          </p:cNvSpPr>
          <p:nvPr>
            <p:ph type="sldNum" sz="quarter" idx="4"/>
          </p:nvPr>
        </p:nvSpPr>
        <p:spPr/>
        <p:txBody>
          <a:bodyPr/>
          <a:lstStyle/>
          <a:p>
            <a:fld id="{C094185C-1F9E-4EDB-A688-258533A03247}" type="slidenum">
              <a:rPr lang="en-US" smtClean="0"/>
              <a:pPr/>
              <a:t>28</a:t>
            </a:fld>
            <a:endParaRPr lang="en-US" dirty="0"/>
          </a:p>
        </p:txBody>
      </p:sp>
      <p:sp>
        <p:nvSpPr>
          <p:cNvPr id="3" name="TextBox 2"/>
          <p:cNvSpPr txBox="1"/>
          <p:nvPr/>
        </p:nvSpPr>
        <p:spPr>
          <a:xfrm>
            <a:off x="160020" y="603504"/>
            <a:ext cx="8823960" cy="1572768"/>
          </a:xfrm>
          <a:prstGeom prst="rect">
            <a:avLst/>
          </a:prstGeom>
          <a:noFill/>
        </p:spPr>
        <p:txBody>
          <a:bodyPr wrap="square" anchor="t" lIns="36576" rIns="36576" tIns="18288" bIns="18288">
            <a:spAutoFit/>
          </a:bodyPr>
          <a:lstStyle/>
          <a:p>
            <a:pPr algn="just" marL="171450" indent="-171450">
              <a:spcBef>
                <a:spcPts val="300"/>
              </a:spcBef>
              <a:spcAft>
                <a:spcPts val="300"/>
              </a:spcAft>
              <a:buClr>
                <a:srgbClr val="9AA0A8"/>
              </a:buClr>
              <a:buFont typeface="Arial"/>
              <a:buChar char="•"/>
            </a:pPr>
            <a:r>
              <a:rPr sz="1000" b="1" i="0">
                <a:solidFill>
                  <a:srgbClr val="080808"/>
                </a:solidFill>
                <a:latin typeface="Calibri"/>
              </a:rPr>
              <a:t>Scale: </a:t>
            </a:r>
            <a:r>
              <a:rPr sz="1000" b="0" i="0">
                <a:solidFill>
                  <a:srgbClr val="080808"/>
                </a:solidFill>
                <a:latin typeface="Calibri"/>
              </a:rPr>
              <a:t>Greater Houston generated an estimated $758.3B of GDP in 2024 (GHP estimate), up from $697B in 2023, and added 3.8% to its population to reach ~7.8M residents in the year to July 2024.</a:t>
            </a:r>
          </a:p>
          <a:p>
            <a:pPr algn="just" marL="171450" indent="-171450">
              <a:spcBef>
                <a:spcPts val="300"/>
              </a:spcBef>
              <a:spcAft>
                <a:spcPts val="300"/>
              </a:spcAft>
              <a:buClr>
                <a:srgbClr val="9AA0A8"/>
              </a:buClr>
              <a:buFont typeface="Arial"/>
              <a:buChar char="•"/>
            </a:pPr>
            <a:r>
              <a:rPr sz="1000" b="1" i="0">
                <a:solidFill>
                  <a:srgbClr val="080808"/>
                </a:solidFill>
                <a:latin typeface="Calibri"/>
              </a:rPr>
              <a:t>Growth Moderating: </a:t>
            </a:r>
            <a:r>
              <a:rPr sz="1000" b="0" i="0">
                <a:solidFill>
                  <a:srgbClr val="080808"/>
                </a:solidFill>
                <a:latin typeface="Calibri"/>
              </a:rPr>
              <a:t>Houston MSA job growth is forecast at ~30,900 jobs (+0.9%) in 2026 versus a recent average of ~50,000 jobs per year, as health care (+14,000), construction (+6,100), and public education (+5,800) offset losses in administrative support, manufacturing, and oil and gas extraction.</a:t>
            </a:r>
          </a:p>
          <a:p>
            <a:pPr algn="just" marL="171450" indent="-171450">
              <a:spcBef>
                <a:spcPts val="300"/>
              </a:spcBef>
              <a:spcAft>
                <a:spcPts val="300"/>
              </a:spcAft>
              <a:buClr>
                <a:srgbClr val="9AA0A8"/>
              </a:buClr>
              <a:buFont typeface="Arial"/>
              <a:buChar char="•"/>
            </a:pPr>
            <a:r>
              <a:rPr sz="1000" b="1" i="0">
                <a:solidFill>
                  <a:srgbClr val="080808"/>
                </a:solidFill>
                <a:latin typeface="Calibri"/>
              </a:rPr>
              <a:t>Local Employer Base: </a:t>
            </a:r>
            <a:r>
              <a:rPr sz="1000" b="0" i="0">
                <a:solidFill>
                  <a:srgbClr val="080808"/>
                </a:solidFill>
                <a:latin typeface="Calibri"/>
              </a:rPr>
              <a:t>The Woodlands major employer base declined 2.0% to 40,358 jobs in the 2026 EDP report on chemicals restructuring, yet remains 33% above its level ten years ago, with health care representing 32.5% of the workforce.</a:t>
            </a:r>
          </a:p>
          <a:p>
            <a:pPr algn="just" marL="171450" indent="-171450">
              <a:spcBef>
                <a:spcPts val="300"/>
              </a:spcBef>
              <a:spcAft>
                <a:spcPts val="300"/>
              </a:spcAft>
              <a:buClr>
                <a:srgbClr val="9AA0A8"/>
              </a:buClr>
              <a:buFont typeface="Arial"/>
              <a:buChar char="•"/>
            </a:pPr>
            <a:r>
              <a:rPr sz="1000" b="1" i="0">
                <a:solidFill>
                  <a:srgbClr val="080808"/>
                </a:solidFill>
                <a:latin typeface="Calibri"/>
              </a:rPr>
              <a:t>Consumer Spending: </a:t>
            </a:r>
            <a:r>
              <a:rPr sz="1000" b="0" i="0">
                <a:solidFill>
                  <a:srgbClr val="080808"/>
                </a:solidFill>
                <a:latin typeface="Calibri"/>
              </a:rPr>
              <a:t>Township sales tax collections increased 9.7% YoY to $41.3M through Q2 2025, indicating resilient local spending despite the "pause" in hiring the EDP described entering 2026.</a:t>
            </a:r>
          </a:p>
        </p:txBody>
      </p:sp>
      <p:sp>
        <p:nvSpPr>
          <p:cNvPr id="4" name="Rectangle 3"/>
          <p:cNvSpPr/>
          <p:nvPr/>
        </p:nvSpPr>
        <p:spPr>
          <a:xfrm>
            <a:off x="160020" y="2286000"/>
            <a:ext cx="498348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Macro Snapshot</a:t>
            </a:r>
          </a:p>
        </p:txBody>
      </p:sp>
      <p:graphicFrame>
        <p:nvGraphicFramePr>
          <p:cNvPr id="5" name="Table 4"/>
          <p:cNvGraphicFramePr>
            <a:graphicFrameLocks noGrp="1"/>
          </p:cNvGraphicFramePr>
          <p:nvPr/>
        </p:nvGraphicFramePr>
        <p:xfrm>
          <a:off x="160020" y="2505456"/>
          <a:ext cx="4983479" cy="3621024"/>
        </p:xfrm>
        <a:graphic>
          <a:graphicData uri="http://schemas.openxmlformats.org/drawingml/2006/table">
            <a:tbl>
              <a:tblPr firstRow="0" bandRow="0"/>
              <a:tblGrid>
                <a:gridCol w="1733384"/>
                <a:gridCol w="1256703"/>
                <a:gridCol w="1993392"/>
              </a:tblGrid>
              <a:tr h="402336">
                <a:tc>
                  <a:txBody>
                    <a:bodyPr wrap="square"/>
                    <a:lstStyle/>
                    <a:p>
                      <a:pPr algn="ctr"/>
                      <a:r>
                        <a:rPr sz="900" b="1" i="0">
                          <a:solidFill>
                            <a:srgbClr val="FFFFFF"/>
                          </a:solidFill>
                          <a:latin typeface="Calibri"/>
                        </a:rPr>
                        <a:t>Metric</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Latest</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Context</a:t>
                      </a:r>
                    </a:p>
                  </a:txBody>
                  <a:tcPr marL="45720" marR="45720" marT="18288" marB="18288" anchor="ctr">
                    <a:lnL w="0">
                      <a:noFill/>
                    </a:lnL>
                    <a:lnR w="0">
                      <a:noFill/>
                    </a:lnR>
                    <a:lnT w="0">
                      <a:noFill/>
                    </a:lnT>
                    <a:lnB w="0">
                      <a:noFill/>
                    </a:lnB>
                    <a:solidFill>
                      <a:srgbClr val="858D97"/>
                    </a:solidFill>
                  </a:tcPr>
                </a:tc>
              </a:tr>
              <a:tr h="402336">
                <a:tc>
                  <a:txBody>
                    <a:bodyPr wrap="square"/>
                    <a:lstStyle/>
                    <a:p>
                      <a:pPr algn="ctr"/>
                      <a:r>
                        <a:rPr sz="900" b="0" i="0">
                          <a:solidFill>
                            <a:srgbClr val="080808"/>
                          </a:solidFill>
                          <a:latin typeface="Calibri"/>
                        </a:rPr>
                        <a:t>Houston MSA GDP</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$758.3B (2024E)</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vs. $697B in 2023 (GHP estimate)</a:t>
                      </a:r>
                    </a:p>
                  </a:txBody>
                  <a:tcPr marL="45720" marR="45720" marT="18288" marB="18288" anchor="ctr">
                    <a:lnL w="0">
                      <a:noFill/>
                    </a:lnL>
                    <a:lnR w="0">
                      <a:noFill/>
                    </a:lnR>
                    <a:lnT w="0">
                      <a:noFill/>
                    </a:lnT>
                    <a:lnB w="0">
                      <a:noFill/>
                    </a:lnB>
                    <a:noFill/>
                  </a:tcPr>
                </a:tc>
              </a:tr>
              <a:tr h="402336">
                <a:tc>
                  <a:txBody>
                    <a:bodyPr wrap="square"/>
                    <a:lstStyle/>
                    <a:p>
                      <a:pPr algn="ctr"/>
                      <a:r>
                        <a:rPr sz="900" b="0" i="0">
                          <a:solidFill>
                            <a:srgbClr val="080808"/>
                          </a:solidFill>
                          <a:latin typeface="Calibri"/>
                        </a:rPr>
                        <a:t>Houston MSA population</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~7.8M (Jul 2024)</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+3.8% vs. 2023</a:t>
                      </a:r>
                    </a:p>
                  </a:txBody>
                  <a:tcPr marL="45720" marR="45720" marT="18288" marB="18288" anchor="ctr">
                    <a:lnL w="0">
                      <a:noFill/>
                    </a:lnL>
                    <a:lnR w="0">
                      <a:noFill/>
                    </a:lnR>
                    <a:lnT w="0">
                      <a:noFill/>
                    </a:lnT>
                    <a:lnB w="0">
                      <a:noFill/>
                    </a:lnB>
                    <a:solidFill>
                      <a:srgbClr val="ECEEF0"/>
                    </a:solidFill>
                  </a:tcPr>
                </a:tc>
              </a:tr>
              <a:tr h="402336">
                <a:tc>
                  <a:txBody>
                    <a:bodyPr wrap="square"/>
                    <a:lstStyle/>
                    <a:p>
                      <a:pPr algn="ctr"/>
                      <a:r>
                        <a:rPr sz="900" b="0" i="0">
                          <a:solidFill>
                            <a:srgbClr val="080808"/>
                          </a:solidFill>
                          <a:latin typeface="Calibri"/>
                        </a:rPr>
                        <a:t>Houston MSA job growth (2026E)</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+30,900 jobs (+0.9%)</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vs. ~50,000 jobs per year recently</a:t>
                      </a:r>
                    </a:p>
                  </a:txBody>
                  <a:tcPr marL="45720" marR="45720" marT="18288" marB="18288" anchor="ctr">
                    <a:lnL w="0">
                      <a:noFill/>
                    </a:lnL>
                    <a:lnR w="0">
                      <a:noFill/>
                    </a:lnR>
                    <a:lnT w="0">
                      <a:noFill/>
                    </a:lnT>
                    <a:lnB w="0">
                      <a:noFill/>
                    </a:lnB>
                    <a:noFill/>
                  </a:tcPr>
                </a:tc>
              </a:tr>
              <a:tr h="402336">
                <a:tc>
                  <a:txBody>
                    <a:bodyPr wrap="square"/>
                    <a:lstStyle/>
                    <a:p>
                      <a:pPr algn="ctr"/>
                      <a:r>
                        <a:rPr sz="900" b="0" i="0">
                          <a:solidFill>
                            <a:srgbClr val="080808"/>
                          </a:solidFill>
                          <a:latin typeface="Calibri"/>
                        </a:rPr>
                        <a:t>Dallas Fed Houston outlook</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~1.2% job growth</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2026 outlook</a:t>
                      </a:r>
                    </a:p>
                  </a:txBody>
                  <a:tcPr marL="45720" marR="45720" marT="18288" marB="18288" anchor="ctr">
                    <a:lnL w="0">
                      <a:noFill/>
                    </a:lnL>
                    <a:lnR w="0">
                      <a:noFill/>
                    </a:lnR>
                    <a:lnT w="0">
                      <a:noFill/>
                    </a:lnT>
                    <a:lnB w="0">
                      <a:noFill/>
                    </a:lnB>
                    <a:solidFill>
                      <a:srgbClr val="ECEEF0"/>
                    </a:solidFill>
                  </a:tcPr>
                </a:tc>
              </a:tr>
              <a:tr h="402336">
                <a:tc>
                  <a:txBody>
                    <a:bodyPr wrap="square"/>
                    <a:lstStyle/>
                    <a:p>
                      <a:pPr algn="ctr"/>
                      <a:r>
                        <a:rPr sz="900" b="0" i="0">
                          <a:solidFill>
                            <a:srgbClr val="080808"/>
                          </a:solidFill>
                          <a:latin typeface="Calibri"/>
                        </a:rPr>
                        <a:t>Township major employer jobs</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40,358</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(2.0%) vs. 41,103; +33% in 10 years</a:t>
                      </a:r>
                    </a:p>
                  </a:txBody>
                  <a:tcPr marL="45720" marR="45720" marT="18288" marB="18288" anchor="ctr">
                    <a:lnL w="0">
                      <a:noFill/>
                    </a:lnL>
                    <a:lnR w="0">
                      <a:noFill/>
                    </a:lnR>
                    <a:lnT w="0">
                      <a:noFill/>
                    </a:lnT>
                    <a:lnB w="0">
                      <a:noFill/>
                    </a:lnB>
                    <a:noFill/>
                  </a:tcPr>
                </a:tc>
              </a:tr>
              <a:tr h="402336">
                <a:tc>
                  <a:txBody>
                    <a:bodyPr wrap="square"/>
                    <a:lstStyle/>
                    <a:p>
                      <a:pPr algn="ctr"/>
                      <a:r>
                        <a:rPr sz="900" b="0" i="0">
                          <a:solidFill>
                            <a:srgbClr val="080808"/>
                          </a:solidFill>
                          <a:latin typeface="Calibri"/>
                        </a:rPr>
                        <a:t>Office / commercial vacancy</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12% to 14%</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vs. ~26% in Houston CBD</a:t>
                      </a:r>
                    </a:p>
                  </a:txBody>
                  <a:tcPr marL="45720" marR="45720" marT="18288" marB="18288" anchor="ctr">
                    <a:lnL w="0">
                      <a:noFill/>
                    </a:lnL>
                    <a:lnR w="0">
                      <a:noFill/>
                    </a:lnR>
                    <a:lnT w="0">
                      <a:noFill/>
                    </a:lnT>
                    <a:lnB w="0">
                      <a:noFill/>
                    </a:lnB>
                    <a:solidFill>
                      <a:srgbClr val="ECEEF0"/>
                    </a:solidFill>
                  </a:tcPr>
                </a:tc>
              </a:tr>
              <a:tr h="402336">
                <a:tc>
                  <a:txBody>
                    <a:bodyPr wrap="square"/>
                    <a:lstStyle/>
                    <a:p>
                      <a:pPr algn="ctr"/>
                      <a:r>
                        <a:rPr sz="900" b="0" i="0">
                          <a:solidFill>
                            <a:srgbClr val="080808"/>
                          </a:solidFill>
                          <a:latin typeface="Calibri"/>
                        </a:rPr>
                        <a:t>Township sales tax (Q2 2025 YTD)</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$41.3M</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+9.7% YoY</a:t>
                      </a:r>
                    </a:p>
                  </a:txBody>
                  <a:tcPr marL="45720" marR="45720" marT="18288" marB="18288" anchor="ctr">
                    <a:lnL w="0">
                      <a:noFill/>
                    </a:lnL>
                    <a:lnR w="0">
                      <a:noFill/>
                    </a:lnR>
                    <a:lnT w="0">
                      <a:noFill/>
                    </a:lnT>
                    <a:lnB w="0">
                      <a:noFill/>
                    </a:lnB>
                    <a:noFill/>
                  </a:tcPr>
                </a:tc>
              </a:tr>
              <a:tr h="402336">
                <a:tc>
                  <a:txBody>
                    <a:bodyPr wrap="square"/>
                    <a:lstStyle/>
                    <a:p>
                      <a:pPr algn="ctr"/>
                      <a:r>
                        <a:rPr sz="900" b="0" i="0">
                          <a:solidFill>
                            <a:srgbClr val="080808"/>
                          </a:solidFill>
                          <a:latin typeface="Calibri"/>
                        </a:rPr>
                        <a:t>Township hotel tax (Q2 2025 YTD)</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$5.2M</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+2.7% YoY; FY2025 over $10.3M</a:t>
                      </a:r>
                    </a:p>
                  </a:txBody>
                  <a:tcPr marL="45720" marR="45720" marT="18288" marB="18288" anchor="ctr">
                    <a:lnL w="0">
                      <a:noFill/>
                    </a:lnL>
                    <a:lnR w="0">
                      <a:noFill/>
                    </a:lnR>
                    <a:lnT w="0">
                      <a:noFill/>
                    </a:lnT>
                    <a:lnB w="0">
                      <a:noFill/>
                    </a:lnB>
                    <a:solidFill>
                      <a:srgbClr val="ECEEF0"/>
                    </a:solidFill>
                  </a:tcPr>
                </a:tc>
              </a:tr>
            </a:tbl>
          </a:graphicData>
        </a:graphic>
      </p:graphicFrame>
      <p:sp>
        <p:nvSpPr>
          <p:cNvPr id="6" name="Rectangle 5"/>
          <p:cNvSpPr/>
          <p:nvPr/>
        </p:nvSpPr>
        <p:spPr>
          <a:xfrm>
            <a:off x="5303520" y="2286000"/>
            <a:ext cx="368046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Houston MSA 2026E Job Growth by Sector (000s)</a:t>
            </a:r>
          </a:p>
        </p:txBody>
      </p:sp>
      <p:graphicFrame>
        <p:nvGraphicFramePr>
          <p:cNvPr id="7" name="Chart 6"/>
          <p:cNvGraphicFramePr>
            <a:graphicFrameLocks noGrp="1"/>
          </p:cNvGraphicFramePr>
          <p:nvPr/>
        </p:nvGraphicFramePr>
        <p:xfrm>
          <a:off x="5303520" y="2523744"/>
          <a:ext cx="3680460" cy="3611880"/>
        </p:xfrm>
        <a:graphic>
          <a:graphicData uri="http://schemas.openxmlformats.org/drawingml/2006/chart">
            <c:chart xmlns:c="http://schemas.openxmlformats.org/drawingml/2006/chart" r:id="rId2"/>
          </a:graphicData>
        </a:graphic>
      </p:graphicFrame>
      <p:sp>
        <p:nvSpPr>
          <p:cNvPr id="8" name="TextBox 7"/>
          <p:cNvSpPr txBox="1"/>
          <p:nvPr/>
        </p:nvSpPr>
        <p:spPr>
          <a:xfrm>
            <a:off x="160020" y="6199632"/>
            <a:ext cx="8823960" cy="274320"/>
          </a:xfrm>
          <a:prstGeom prst="rect">
            <a:avLst/>
          </a:prstGeom>
          <a:noFill/>
        </p:spPr>
        <p:txBody>
          <a:bodyPr wrap="square" anchor="b" lIns="36576" rIns="36576" tIns="18288" bIns="18288">
            <a:spAutoFit/>
          </a:bodyPr>
          <a:lstStyle/>
          <a:p>
            <a:pPr algn="l">
              <a:spcBef>
                <a:spcPts val="300"/>
              </a:spcBef>
              <a:spcAft>
                <a:spcPts val="300"/>
              </a:spcAft>
              <a:buNone/>
            </a:pPr>
            <a:r>
              <a:rPr sz="700" b="0" i="1">
                <a:solidFill>
                  <a:srgbClr val="9AA0A8"/>
                </a:solidFill>
                <a:latin typeface="Calibri"/>
              </a:rPr>
              <a:t>Source: Greater Houston Partnership (Houston Facts 2025; 2026 forecast published Dec. 2025), Federal Reserve Bank of Dallas, The Woodlands Area EDP 2026 Major Employers Report, Visit The Woodlands Q2 2025 Report. Note: GHP 2024 GDP is a county based estimate; forecasts are as published and have not been updated for 2026 results to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Calibri"/>
              </a:rPr>
              <a:t>DEMOGRAPHICS &amp; POPULATION GROWTH</a:t>
            </a:r>
          </a:p>
        </p:txBody>
      </p:sp>
      <p:sp>
        <p:nvSpPr>
          <p:cNvPr id="2" name="Slide Number Placeholder 1">
            <a:extLst>
              <a:ext uri="{FF2B5EF4-FFF2-40B4-BE49-F238E27FC236}">
                <a16:creationId xmlns:a16="http://schemas.microsoft.com/office/drawing/2014/main" id="{3E458844-F57D-6F7F-794A-8C27EFE28F5B}"/>
              </a:ext>
            </a:extLst>
          </p:cNvPr>
          <p:cNvSpPr>
            <a:spLocks noGrp="1"/>
          </p:cNvSpPr>
          <p:nvPr>
            <p:ph type="sldNum" sz="quarter" idx="4"/>
          </p:nvPr>
        </p:nvSpPr>
        <p:spPr/>
        <p:txBody>
          <a:bodyPr/>
          <a:lstStyle/>
          <a:p>
            <a:fld id="{C094185C-1F9E-4EDB-A688-258533A03247}" type="slidenum">
              <a:rPr lang="en-US" smtClean="0"/>
              <a:pPr/>
              <a:t>28</a:t>
            </a:fld>
            <a:endParaRPr lang="en-US" dirty="0"/>
          </a:p>
        </p:txBody>
      </p:sp>
      <p:sp>
        <p:nvSpPr>
          <p:cNvPr id="3" name="TextBox 2"/>
          <p:cNvSpPr txBox="1"/>
          <p:nvPr/>
        </p:nvSpPr>
        <p:spPr>
          <a:xfrm>
            <a:off x="160020" y="603504"/>
            <a:ext cx="8823960" cy="1188720"/>
          </a:xfrm>
          <a:prstGeom prst="rect">
            <a:avLst/>
          </a:prstGeom>
          <a:noFill/>
        </p:spPr>
        <p:txBody>
          <a:bodyPr wrap="square" anchor="t" lIns="36576" rIns="36576" tIns="18288" bIns="18288">
            <a:spAutoFit/>
          </a:bodyPr>
          <a:lstStyle/>
          <a:p>
            <a:pPr algn="just" marL="171450" indent="-171450">
              <a:spcBef>
                <a:spcPts val="300"/>
              </a:spcBef>
              <a:spcAft>
                <a:spcPts val="300"/>
              </a:spcAft>
              <a:buClr>
                <a:srgbClr val="9AA0A8"/>
              </a:buClr>
              <a:buFont typeface="Arial"/>
              <a:buChar char="•"/>
            </a:pPr>
            <a:r>
              <a:rPr sz="1000" b="1" i="0">
                <a:solidFill>
                  <a:srgbClr val="080808"/>
                </a:solidFill>
                <a:latin typeface="Calibri"/>
              </a:rPr>
              <a:t>Population: </a:t>
            </a:r>
            <a:r>
              <a:rPr sz="1000" b="0" i="0">
                <a:solidFill>
                  <a:srgbClr val="080808"/>
                </a:solidFill>
                <a:latin typeface="Calibri"/>
              </a:rPr>
              <a:t>Montgomery County reached 781,194 residents in July 2025, growing 4.2% in the past year and 25.9% since April 2020, while The Woodlands has grown ~45% over ten years to an estimated ~122,000 residents.</a:t>
            </a:r>
          </a:p>
          <a:p>
            <a:pPr algn="just" marL="171450" indent="-171450">
              <a:spcBef>
                <a:spcPts val="300"/>
              </a:spcBef>
              <a:spcAft>
                <a:spcPts val="300"/>
              </a:spcAft>
              <a:buClr>
                <a:srgbClr val="9AA0A8"/>
              </a:buClr>
              <a:buFont typeface="Arial"/>
              <a:buChar char="•"/>
            </a:pPr>
            <a:r>
              <a:rPr sz="1000" b="1" i="0">
                <a:solidFill>
                  <a:srgbClr val="080808"/>
                </a:solidFill>
                <a:latin typeface="Calibri"/>
              </a:rPr>
              <a:t>Affluence: </a:t>
            </a:r>
            <a:r>
              <a:rPr sz="1000" b="0" i="0">
                <a:solidFill>
                  <a:srgbClr val="080808"/>
                </a:solidFill>
                <a:latin typeface="Calibri"/>
              </a:rPr>
              <a:t>Median household income of $141,353 in The Woodlands CDP (2019 to 2023) is well above the national median, with average household income of $174,215 within a 3 mile radius.</a:t>
            </a:r>
          </a:p>
          <a:p>
            <a:pPr algn="just" marL="171450" indent="-171450">
              <a:spcBef>
                <a:spcPts val="300"/>
              </a:spcBef>
              <a:spcAft>
                <a:spcPts val="300"/>
              </a:spcAft>
              <a:buClr>
                <a:srgbClr val="9AA0A8"/>
              </a:buClr>
              <a:buFont typeface="Arial"/>
              <a:buChar char="•"/>
            </a:pPr>
            <a:r>
              <a:rPr sz="1000" b="1" i="0">
                <a:solidFill>
                  <a:srgbClr val="080808"/>
                </a:solidFill>
                <a:latin typeface="Calibri"/>
              </a:rPr>
              <a:t>Workforce: </a:t>
            </a:r>
            <a:r>
              <a:rPr sz="1000" b="0" i="0">
                <a:solidFill>
                  <a:srgbClr val="080808"/>
                </a:solidFill>
                <a:latin typeface="Calibri"/>
              </a:rPr>
              <a:t>Health care represents 32.5% of major employer jobs, education ranks second, and the EDP cites capacity for 4M SF of office and commercial space supporting 15,000 to 20,000 additional jobs.</a:t>
            </a:r>
          </a:p>
        </p:txBody>
      </p:sp>
      <p:sp>
        <p:nvSpPr>
          <p:cNvPr id="4" name="Rectangle 3"/>
          <p:cNvSpPr/>
          <p:nvPr/>
        </p:nvSpPr>
        <p:spPr>
          <a:xfrm>
            <a:off x="160020" y="1874519"/>
            <a:ext cx="434340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Population &amp; Growth</a:t>
            </a:r>
          </a:p>
        </p:txBody>
      </p:sp>
      <p:graphicFrame>
        <p:nvGraphicFramePr>
          <p:cNvPr id="5" name="Table 4"/>
          <p:cNvGraphicFramePr>
            <a:graphicFrameLocks noGrp="1"/>
          </p:cNvGraphicFramePr>
          <p:nvPr/>
        </p:nvGraphicFramePr>
        <p:xfrm>
          <a:off x="160020" y="2093976"/>
          <a:ext cx="4343399" cy="2487168"/>
        </p:xfrm>
        <a:graphic>
          <a:graphicData uri="http://schemas.openxmlformats.org/drawingml/2006/table">
            <a:tbl>
              <a:tblPr firstRow="0" bandRow="0"/>
              <a:tblGrid>
                <a:gridCol w="1958788"/>
                <a:gridCol w="1021976"/>
                <a:gridCol w="1362635"/>
              </a:tblGrid>
              <a:tr h="310896">
                <a:tc>
                  <a:txBody>
                    <a:bodyPr wrap="square"/>
                    <a:lstStyle/>
                    <a:p>
                      <a:pPr algn="ctr"/>
                      <a:r>
                        <a:rPr sz="900" b="1" i="0">
                          <a:solidFill>
                            <a:srgbClr val="FFFFFF"/>
                          </a:solidFill>
                          <a:latin typeface="Calibri"/>
                        </a:rPr>
                        <a:t>Metric</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Value</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Source / Note</a:t>
                      </a:r>
                    </a:p>
                  </a:txBody>
                  <a:tcPr marL="45720" marR="45720" marT="18288" marB="18288" anchor="ctr">
                    <a:lnL w="0">
                      <a:noFill/>
                    </a:lnL>
                    <a:lnR w="0">
                      <a:noFill/>
                    </a:lnR>
                    <a:lnT w="0">
                      <a:noFill/>
                    </a:lnT>
                    <a:lnB w="0">
                      <a:noFill/>
                    </a:lnB>
                    <a:solidFill>
                      <a:srgbClr val="858D97"/>
                    </a:solidFill>
                  </a:tcPr>
                </a:tc>
              </a:tr>
              <a:tr h="310896">
                <a:tc>
                  <a:txBody>
                    <a:bodyPr wrap="square"/>
                    <a:lstStyle/>
                    <a:p>
                      <a:pPr algn="ctr"/>
                      <a:r>
                        <a:rPr sz="900" b="0" i="0">
                          <a:solidFill>
                            <a:srgbClr val="080808"/>
                          </a:solidFill>
                          <a:latin typeface="Calibri"/>
                        </a:rPr>
                        <a:t>Montgomery County pop. (Jul 2025)</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781,194</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Census Bureau</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County growth, Jul 2024 to Jul 2025</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4.2%</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Census (calculated)</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County growth since Apr 2020</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25.9%</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Census Bureau</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Houston MSA population (Jul 2024)</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~7.8M</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GHP; +3.8% YoY</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The Woodlands population (2026E)</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~122,240</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Third party estimate</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The Woodlands growth, 10 years</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45%</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Woodlands EDP</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The Woodlands annual growth (2026E)</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1.5%</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Third party estimate</a:t>
                      </a:r>
                    </a:p>
                  </a:txBody>
                  <a:tcPr marL="45720" marR="45720" marT="18288" marB="18288" anchor="ctr">
                    <a:lnL w="0">
                      <a:noFill/>
                    </a:lnL>
                    <a:lnR w="0">
                      <a:noFill/>
                    </a:lnR>
                    <a:lnT w="0">
                      <a:noFill/>
                    </a:lnT>
                    <a:lnB w="0">
                      <a:noFill/>
                    </a:lnB>
                    <a:noFill/>
                  </a:tcPr>
                </a:tc>
              </a:tr>
            </a:tbl>
          </a:graphicData>
        </a:graphic>
      </p:graphicFrame>
      <p:sp>
        <p:nvSpPr>
          <p:cNvPr id="6" name="Rectangle 5"/>
          <p:cNvSpPr/>
          <p:nvPr/>
        </p:nvSpPr>
        <p:spPr>
          <a:xfrm>
            <a:off x="4640580" y="1874519"/>
            <a:ext cx="434340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Income &amp; Workforce</a:t>
            </a:r>
          </a:p>
        </p:txBody>
      </p:sp>
      <p:graphicFrame>
        <p:nvGraphicFramePr>
          <p:cNvPr id="7" name="Table 6"/>
          <p:cNvGraphicFramePr>
            <a:graphicFrameLocks noGrp="1"/>
          </p:cNvGraphicFramePr>
          <p:nvPr/>
        </p:nvGraphicFramePr>
        <p:xfrm>
          <a:off x="4640580" y="2093976"/>
          <a:ext cx="4343398" cy="2487168"/>
        </p:xfrm>
        <a:graphic>
          <a:graphicData uri="http://schemas.openxmlformats.org/drawingml/2006/table">
            <a:tbl>
              <a:tblPr firstRow="0" bandRow="0"/>
              <a:tblGrid>
                <a:gridCol w="1958788"/>
                <a:gridCol w="1064558"/>
                <a:gridCol w="1320052"/>
              </a:tblGrid>
              <a:tr h="310896">
                <a:tc>
                  <a:txBody>
                    <a:bodyPr wrap="square"/>
                    <a:lstStyle/>
                    <a:p>
                      <a:pPr algn="ctr"/>
                      <a:r>
                        <a:rPr sz="900" b="1" i="0">
                          <a:solidFill>
                            <a:srgbClr val="FFFFFF"/>
                          </a:solidFill>
                          <a:latin typeface="Calibri"/>
                        </a:rPr>
                        <a:t>Metric</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Value</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Source / Note</a:t>
                      </a:r>
                    </a:p>
                  </a:txBody>
                  <a:tcPr marL="45720" marR="45720" marT="18288" marB="18288" anchor="ctr">
                    <a:lnL w="0">
                      <a:noFill/>
                    </a:lnL>
                    <a:lnR w="0">
                      <a:noFill/>
                    </a:lnR>
                    <a:lnT w="0">
                      <a:noFill/>
                    </a:lnT>
                    <a:lnB w="0">
                      <a:noFill/>
                    </a:lnB>
                    <a:solidFill>
                      <a:srgbClr val="858D97"/>
                    </a:solidFill>
                  </a:tcPr>
                </a:tc>
              </a:tr>
              <a:tr h="310896">
                <a:tc>
                  <a:txBody>
                    <a:bodyPr wrap="square"/>
                    <a:lstStyle/>
                    <a:p>
                      <a:pPr algn="ctr"/>
                      <a:r>
                        <a:rPr sz="900" b="0" i="0">
                          <a:solidFill>
                            <a:srgbClr val="080808"/>
                          </a:solidFill>
                          <a:latin typeface="Calibri"/>
                        </a:rPr>
                        <a:t>Median HH income, CDP (2019 to 2023)</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$141,353</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Census Bureau</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Median HH income, 3 mi / 5 mi</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$138,200 / $141,660</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Brixmor, Q1 2026</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Average HH income, 3 mi radius</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$174,215</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Brixmor, Q1 2026</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Major employer jobs (2026 report)</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40,358</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EDP; (2.0%) YoY</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Major employers tracked</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84 companies</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Woodlands EDP</a:t>
                      </a:r>
                    </a:p>
                  </a:txBody>
                  <a:tcPr marL="45720" marR="45720" marT="18288" marB="18288" anchor="ctr">
                    <a:lnL w="0">
                      <a:noFill/>
                    </a:lnL>
                    <a:lnR w="0">
                      <a:noFill/>
                    </a:lnR>
                    <a:lnT w="0">
                      <a:noFill/>
                    </a:lnT>
                    <a:lnB w="0">
                      <a:noFill/>
                    </a:lnB>
                    <a:noFill/>
                  </a:tcPr>
                </a:tc>
              </a:tr>
              <a:tr h="310896">
                <a:tc>
                  <a:txBody>
                    <a:bodyPr wrap="square"/>
                    <a:lstStyle/>
                    <a:p>
                      <a:pPr algn="ctr"/>
                      <a:r>
                        <a:rPr sz="900" b="0" i="0">
                          <a:solidFill>
                            <a:srgbClr val="080808"/>
                          </a:solidFill>
                          <a:latin typeface="Calibri"/>
                        </a:rPr>
                        <a:t>Health care share of workforce</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32.5%</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Woodlands EDP</a:t>
                      </a:r>
                    </a:p>
                  </a:txBody>
                  <a:tcPr marL="45720" marR="45720" marT="18288" marB="18288" anchor="ctr">
                    <a:lnL w="0">
                      <a:noFill/>
                    </a:lnL>
                    <a:lnR w="0">
                      <a:noFill/>
                    </a:lnR>
                    <a:lnT w="0">
                      <a:noFill/>
                    </a:lnT>
                    <a:lnB w="0">
                      <a:noFill/>
                    </a:lnB>
                    <a:solidFill>
                      <a:srgbClr val="ECEEF0"/>
                    </a:solidFill>
                  </a:tcPr>
                </a:tc>
              </a:tr>
              <a:tr h="310896">
                <a:tc>
                  <a:txBody>
                    <a:bodyPr wrap="square"/>
                    <a:lstStyle/>
                    <a:p>
                      <a:pPr algn="ctr"/>
                      <a:r>
                        <a:rPr sz="900" b="0" i="0">
                          <a:solidFill>
                            <a:srgbClr val="080808"/>
                          </a:solidFill>
                          <a:latin typeface="Calibri"/>
                        </a:rPr>
                        <a:t>Commercial capacity</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15K to 20K jobs</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Woodlands EDP</a:t>
                      </a:r>
                    </a:p>
                  </a:txBody>
                  <a:tcPr marL="45720" marR="45720" marT="18288" marB="18288" anchor="ctr">
                    <a:lnL w="0">
                      <a:noFill/>
                    </a:lnL>
                    <a:lnR w="0">
                      <a:noFill/>
                    </a:lnR>
                    <a:lnT w="0">
                      <a:noFill/>
                    </a:lnT>
                    <a:lnB w="0">
                      <a:noFill/>
                    </a:lnB>
                    <a:noFill/>
                  </a:tcPr>
                </a:tc>
              </a:tr>
            </a:tbl>
          </a:graphicData>
        </a:graphic>
      </p:graphicFrame>
      <p:sp>
        <p:nvSpPr>
          <p:cNvPr id="8" name="Rectangle 7"/>
          <p:cNvSpPr/>
          <p:nvPr/>
        </p:nvSpPr>
        <p:spPr>
          <a:xfrm>
            <a:off x="160020" y="4846320"/>
            <a:ext cx="8823960" cy="822960"/>
          </a:xfrm>
          <a:prstGeom prst="rect">
            <a:avLst/>
          </a:prstGeom>
          <a:solidFill>
            <a:srgbClr val="0F2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just"/>
            <a:r>
              <a:rPr sz="1000" b="1" i="0">
                <a:solidFill>
                  <a:srgbClr val="FFFFFF"/>
                </a:solidFill>
                <a:latin typeface="Calibri"/>
              </a:rPr>
              <a:t>Key Takeaway: </a:t>
            </a:r>
            <a:r>
              <a:rPr sz="1000" b="0" i="0">
                <a:solidFill>
                  <a:srgbClr val="FFFFFF"/>
                </a:solidFill>
                <a:latin typeface="Calibri"/>
              </a:rPr>
              <a:t>The Woodlands combines high household incomes with sustained population inflows, supporting a leisure, retail, and health care driven demand base that is less cyclical than a pure energy market. Population growth of ~45% over ten years has outpaced major employer job growth of 33%, a structural support for retail and leisure room demand.</a:t>
            </a:r>
          </a:p>
        </p:txBody>
      </p:sp>
      <p:sp>
        <p:nvSpPr>
          <p:cNvPr id="9" name="TextBox 8"/>
          <p:cNvSpPr txBox="1"/>
          <p:nvPr/>
        </p:nvSpPr>
        <p:spPr>
          <a:xfrm>
            <a:off x="160020" y="6199632"/>
            <a:ext cx="8823960" cy="274320"/>
          </a:xfrm>
          <a:prstGeom prst="rect">
            <a:avLst/>
          </a:prstGeom>
          <a:noFill/>
        </p:spPr>
        <p:txBody>
          <a:bodyPr wrap="square" anchor="b" lIns="36576" rIns="36576" tIns="18288" bIns="18288">
            <a:spAutoFit/>
          </a:bodyPr>
          <a:lstStyle/>
          <a:p>
            <a:pPr algn="l">
              <a:spcBef>
                <a:spcPts val="300"/>
              </a:spcBef>
              <a:spcAft>
                <a:spcPts val="300"/>
              </a:spcAft>
              <a:buNone/>
            </a:pPr>
            <a:r>
              <a:rPr sz="700" b="0" i="1">
                <a:solidFill>
                  <a:srgbClr val="9AA0A8"/>
                </a:solidFill>
                <a:latin typeface="Calibri"/>
              </a:rPr>
              <a:t>Source: U.S. Census Bureau (QuickFacts; population estimates V2025), Greater Houston Partnership, The Woodlands Area EDP, Brixmor Windvale Center demographic summary (Q1 2026). Note: The Woodlands population and growth figures are from third party summaries and differ by source; verify against CoStar or Esri before underwriting.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Calibri"/>
              </a:rPr>
              <a:t>TRAVEL DEMAND DRIVERS</a:t>
            </a:r>
          </a:p>
        </p:txBody>
      </p:sp>
      <p:sp>
        <p:nvSpPr>
          <p:cNvPr id="2" name="Slide Number Placeholder 1">
            <a:extLst>
              <a:ext uri="{FF2B5EF4-FFF2-40B4-BE49-F238E27FC236}">
                <a16:creationId xmlns:a16="http://schemas.microsoft.com/office/drawing/2014/main" id="{3E458844-F57D-6F7F-794A-8C27EFE28F5B}"/>
              </a:ext>
            </a:extLst>
          </p:cNvPr>
          <p:cNvSpPr>
            <a:spLocks noGrp="1"/>
          </p:cNvSpPr>
          <p:nvPr>
            <p:ph type="sldNum" sz="quarter" idx="4"/>
          </p:nvPr>
        </p:nvSpPr>
        <p:spPr/>
        <p:txBody>
          <a:bodyPr/>
          <a:lstStyle/>
          <a:p>
            <a:fld id="{C094185C-1F9E-4EDB-A688-258533A03247}" type="slidenum">
              <a:rPr lang="en-US" smtClean="0"/>
              <a:pPr/>
              <a:t>28</a:t>
            </a:fld>
            <a:endParaRPr lang="en-US" dirty="0"/>
          </a:p>
        </p:txBody>
      </p:sp>
      <p:graphicFrame>
        <p:nvGraphicFramePr>
          <p:cNvPr id="3" name="Table 2"/>
          <p:cNvGraphicFramePr>
            <a:graphicFrameLocks noGrp="1"/>
          </p:cNvGraphicFramePr>
          <p:nvPr/>
        </p:nvGraphicFramePr>
        <p:xfrm>
          <a:off x="160020" y="603504"/>
          <a:ext cx="8823960" cy="5577840"/>
        </p:xfrm>
        <a:graphic>
          <a:graphicData uri="http://schemas.openxmlformats.org/drawingml/2006/table">
            <a:tbl>
              <a:tblPr firstRow="0" bandRow="0"/>
              <a:tblGrid>
                <a:gridCol w="1323594"/>
                <a:gridCol w="7500366"/>
              </a:tblGrid>
              <a:tr h="1115568">
                <a:tc>
                  <a:txBody>
                    <a:bodyPr wrap="square"/>
                    <a:lstStyle/>
                    <a:p>
                      <a:pPr algn="ctr"/>
                      <a:r>
                        <a:rPr sz="1000" b="1" i="0">
                          <a:solidFill>
                            <a:srgbClr val="080808"/>
                          </a:solidFill>
                          <a:latin typeface="Calibri"/>
                        </a:rPr>
                        <a:t>CORPORATE &amp; ENERGY</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900" b="1" i="0">
                          <a:solidFill>
                            <a:srgbClr val="080808"/>
                          </a:solidFill>
                          <a:latin typeface="Calibri"/>
                        </a:rPr>
                        <a:t>Employer Base: </a:t>
                      </a:r>
                      <a:r>
                        <a:rPr sz="900" b="0" i="0">
                          <a:solidFill>
                            <a:srgbClr val="080808"/>
                          </a:solidFill>
                          <a:latin typeface="Calibri"/>
                        </a:rPr>
                        <a:t>ExxonMobil's Springwoods Village campus was planned for ~10,000 employees (2013 to 2015 reporting), with Southwestern Energy and other energy tenants nearby, anchoring weekday commercial transient demand.</a:t>
                      </a:r>
                    </a:p>
                    <a:p>
                      <a:pPr algn="just" marL="171450" indent="-171450">
                        <a:spcBef>
                          <a:spcPts val="300"/>
                        </a:spcBef>
                        <a:spcAft>
                          <a:spcPts val="300"/>
                        </a:spcAft>
                        <a:buClr>
                          <a:srgbClr val="9AA0A8"/>
                        </a:buClr>
                        <a:buFont typeface="Arial"/>
                        <a:buChar char="•"/>
                      </a:pPr>
                      <a:r>
                        <a:rPr sz="900" b="1" i="0">
                          <a:solidFill>
                            <a:srgbClr val="080808"/>
                          </a:solidFill>
                          <a:latin typeface="Calibri"/>
                        </a:rPr>
                        <a:t>Diversification: </a:t>
                      </a:r>
                      <a:r>
                        <a:rPr sz="900" b="0" i="0">
                          <a:solidFill>
                            <a:srgbClr val="080808"/>
                          </a:solidFill>
                          <a:latin typeface="Calibri"/>
                        </a:rPr>
                        <a:t>Health care (32.5% of major employer jobs) and education are the primary growth engines, while chemicals restructuring reduced 2026 employer headcount by 2.0%.</a:t>
                      </a:r>
                    </a:p>
                    <a:p>
                      <a:pPr algn="just" marL="171450" indent="-171450">
                        <a:spcBef>
                          <a:spcPts val="300"/>
                        </a:spcBef>
                        <a:spcAft>
                          <a:spcPts val="300"/>
                        </a:spcAft>
                        <a:buClr>
                          <a:srgbClr val="9AA0A8"/>
                        </a:buClr>
                        <a:buFont typeface="Arial"/>
                        <a:buChar char="•"/>
                      </a:pPr>
                      <a:r>
                        <a:rPr sz="900" b="1" i="0">
                          <a:solidFill>
                            <a:srgbClr val="080808"/>
                          </a:solidFill>
                          <a:latin typeface="Calibri"/>
                        </a:rPr>
                        <a:t>Rate Impact: </a:t>
                      </a:r>
                      <a:r>
                        <a:rPr sz="900" b="0" i="0">
                          <a:solidFill>
                            <a:srgbClr val="080808"/>
                          </a:solidFill>
                          <a:latin typeface="Calibri"/>
                        </a:rPr>
                        <a:t>RevPAR International cites long term energy sector travel spending patterns as a headwind to ADR growth.</a:t>
                      </a:r>
                    </a:p>
                  </a:txBody>
                  <a:tcPr marL="45720" marR="45720" anchor="ctr">
                    <a:lnL w="0">
                      <a:noFill/>
                    </a:lnL>
                    <a:lnR w="0">
                      <a:noFill/>
                    </a:lnR>
                    <a:lnT w="6350">
                      <a:solidFill>
                        <a:srgbClr val="9AA0A8"/>
                      </a:solidFill>
                    </a:lnT>
                    <a:lnB w="6350">
                      <a:solidFill>
                        <a:srgbClr val="9AA0A8"/>
                      </a:solidFill>
                    </a:lnB>
                    <a:noFill/>
                  </a:tcPr>
                </a:tc>
              </a:tr>
              <a:tr h="1115568">
                <a:tc>
                  <a:txBody>
                    <a:bodyPr wrap="square"/>
                    <a:lstStyle/>
                    <a:p>
                      <a:pPr algn="ctr"/>
                      <a:r>
                        <a:rPr sz="1000" b="1" i="0">
                          <a:solidFill>
                            <a:srgbClr val="080808"/>
                          </a:solidFill>
                          <a:latin typeface="Calibri"/>
                        </a:rPr>
                        <a:t>GROUP &amp; MEETINGS</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900" b="1" i="0">
                          <a:solidFill>
                            <a:srgbClr val="080808"/>
                          </a:solidFill>
                          <a:latin typeface="Calibri"/>
                        </a:rPr>
                        <a:t>Inventory: </a:t>
                      </a:r>
                      <a:r>
                        <a:rPr sz="900" b="0" i="0">
                          <a:solidFill>
                            <a:srgbClr val="080808"/>
                          </a:solidFill>
                          <a:latin typeface="Calibri"/>
                        </a:rPr>
                        <a:t>The Township holds 1,329 full service rooms in five hotels, led by the Waterway Marriott (348 rooms, 66,532 SF meeting space) and The Woodlands Resort (402 rooms, 70,000 SF).</a:t>
                      </a:r>
                    </a:p>
                    <a:p>
                      <a:pPr algn="just" marL="171450" indent="-171450">
                        <a:spcBef>
                          <a:spcPts val="300"/>
                        </a:spcBef>
                        <a:spcAft>
                          <a:spcPts val="300"/>
                        </a:spcAft>
                        <a:buClr>
                          <a:srgbClr val="9AA0A8"/>
                        </a:buClr>
                        <a:buFont typeface="Arial"/>
                        <a:buChar char="•"/>
                      </a:pPr>
                      <a:r>
                        <a:rPr sz="900" b="1" i="0">
                          <a:solidFill>
                            <a:srgbClr val="080808"/>
                          </a:solidFill>
                          <a:latin typeface="Calibri"/>
                        </a:rPr>
                        <a:t>Activity: </a:t>
                      </a:r>
                      <a:r>
                        <a:rPr sz="900" b="0" i="0">
                          <a:solidFill>
                            <a:srgbClr val="080808"/>
                          </a:solidFill>
                          <a:latin typeface="Calibri"/>
                        </a:rPr>
                        <a:t>Visit The Woodlands booked 18 meetings, ~5,000 attendees, and 7,105 room nights ($6.2M economic impact) in Q2 2025, and worked 102 leads representing 85,340 rooms.</a:t>
                      </a:r>
                    </a:p>
                    <a:p>
                      <a:pPr algn="just" marL="171450" indent="-171450">
                        <a:spcBef>
                          <a:spcPts val="300"/>
                        </a:spcBef>
                        <a:spcAft>
                          <a:spcPts val="300"/>
                        </a:spcAft>
                        <a:buClr>
                          <a:srgbClr val="9AA0A8"/>
                        </a:buClr>
                        <a:buFont typeface="Arial"/>
                        <a:buChar char="•"/>
                      </a:pPr>
                      <a:r>
                        <a:rPr sz="900" b="1" i="0">
                          <a:solidFill>
                            <a:srgbClr val="080808"/>
                          </a:solidFill>
                          <a:latin typeface="Calibri"/>
                        </a:rPr>
                        <a:t>Leakage: </a:t>
                      </a:r>
                      <a:r>
                        <a:rPr sz="900" b="0" i="0">
                          <a:solidFill>
                            <a:srgbClr val="080808"/>
                          </a:solidFill>
                          <a:latin typeface="Calibri"/>
                        </a:rPr>
                        <a:t>A RevPAR International study tracked 651 qualified leads that booked outside the Township and estimates $174M of missed room revenue from 2021 to 2030.</a:t>
                      </a:r>
                    </a:p>
                  </a:txBody>
                  <a:tcPr marL="45720" marR="45720" anchor="ctr">
                    <a:lnL w="0">
                      <a:noFill/>
                    </a:lnL>
                    <a:lnR w="0">
                      <a:noFill/>
                    </a:lnR>
                    <a:lnT w="6350">
                      <a:solidFill>
                        <a:srgbClr val="9AA0A8"/>
                      </a:solidFill>
                    </a:lnT>
                    <a:lnB w="6350">
                      <a:solidFill>
                        <a:srgbClr val="9AA0A8"/>
                      </a:solidFill>
                    </a:lnB>
                    <a:noFill/>
                  </a:tcPr>
                </a:tc>
              </a:tr>
              <a:tr h="1115568">
                <a:tc>
                  <a:txBody>
                    <a:bodyPr wrap="square"/>
                    <a:lstStyle/>
                    <a:p>
                      <a:pPr algn="ctr"/>
                      <a:r>
                        <a:rPr sz="1000" b="1" i="0">
                          <a:solidFill>
                            <a:srgbClr val="080808"/>
                          </a:solidFill>
                          <a:latin typeface="Calibri"/>
                        </a:rPr>
                        <a:t>SPORTS &amp; EVENTS</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900" b="1" i="0">
                          <a:solidFill>
                            <a:srgbClr val="080808"/>
                          </a:solidFill>
                          <a:latin typeface="Calibri"/>
                        </a:rPr>
                        <a:t>Recurring Events: </a:t>
                      </a:r>
                      <a:r>
                        <a:rPr sz="900" b="0" i="0">
                          <a:solidFill>
                            <a:srgbClr val="080808"/>
                          </a:solidFill>
                          <a:latin typeface="Calibri"/>
                        </a:rPr>
                        <a:t>Memorial Hermann IRONMAN Texas draws 8,000+ visitors annually (~$13M regional impact cited), and the PGA Tour Champions Insperity Invitational reports ~40,000 attendees and $18M to $20M of impact (organizer figures).</a:t>
                      </a:r>
                    </a:p>
                    <a:p>
                      <a:pPr algn="just" marL="171450" indent="-171450">
                        <a:spcBef>
                          <a:spcPts val="300"/>
                        </a:spcBef>
                        <a:spcAft>
                          <a:spcPts val="300"/>
                        </a:spcAft>
                        <a:buClr>
                          <a:srgbClr val="9AA0A8"/>
                        </a:buClr>
                        <a:buFont typeface="Arial"/>
                        <a:buChar char="•"/>
                      </a:pPr>
                      <a:r>
                        <a:rPr sz="900" b="1" i="0">
                          <a:solidFill>
                            <a:srgbClr val="080808"/>
                          </a:solidFill>
                          <a:latin typeface="Calibri"/>
                        </a:rPr>
                        <a:t>Venue: </a:t>
                      </a:r>
                      <a:r>
                        <a:rPr sz="900" b="0" i="0">
                          <a:solidFill>
                            <a:srgbClr val="080808"/>
                          </a:solidFill>
                          <a:latin typeface="Calibri"/>
                        </a:rPr>
                        <a:t>The Cynthia Woods Mitchell Pavilion (Live Nation) hosts a summer concert season that drives overnight leisure demand.</a:t>
                      </a:r>
                    </a:p>
                    <a:p>
                      <a:pPr algn="just" marL="171450" indent="-171450">
                        <a:spcBef>
                          <a:spcPts val="300"/>
                        </a:spcBef>
                        <a:spcAft>
                          <a:spcPts val="300"/>
                        </a:spcAft>
                        <a:buClr>
                          <a:srgbClr val="9AA0A8"/>
                        </a:buClr>
                        <a:buFont typeface="Arial"/>
                        <a:buChar char="•"/>
                      </a:pPr>
                      <a:r>
                        <a:rPr sz="900" b="1" i="0">
                          <a:solidFill>
                            <a:srgbClr val="080808"/>
                          </a:solidFill>
                          <a:latin typeface="Calibri"/>
                        </a:rPr>
                        <a:t>Headwind: </a:t>
                      </a:r>
                      <a:r>
                        <a:rPr sz="900" b="0" i="0">
                          <a:solidFill>
                            <a:srgbClr val="080808"/>
                          </a:solidFill>
                          <a:latin typeface="Calibri"/>
                        </a:rPr>
                        <a:t>The Chevron Championship (LPGA major) moves from Carlton Woods to Memorial Park in Houston in April 2026.</a:t>
                      </a:r>
                    </a:p>
                  </a:txBody>
                  <a:tcPr marL="45720" marR="45720" anchor="ctr">
                    <a:lnL w="0">
                      <a:noFill/>
                    </a:lnL>
                    <a:lnR w="0">
                      <a:noFill/>
                    </a:lnR>
                    <a:lnT w="6350">
                      <a:solidFill>
                        <a:srgbClr val="9AA0A8"/>
                      </a:solidFill>
                    </a:lnT>
                    <a:lnB w="6350">
                      <a:solidFill>
                        <a:srgbClr val="9AA0A8"/>
                      </a:solidFill>
                    </a:lnB>
                    <a:noFill/>
                  </a:tcPr>
                </a:tc>
              </a:tr>
              <a:tr h="1115568">
                <a:tc>
                  <a:txBody>
                    <a:bodyPr wrap="square"/>
                    <a:lstStyle/>
                    <a:p>
                      <a:pPr algn="ctr"/>
                      <a:r>
                        <a:rPr sz="1000" b="1" i="0">
                          <a:solidFill>
                            <a:srgbClr val="080808"/>
                          </a:solidFill>
                          <a:latin typeface="Calibri"/>
                        </a:rPr>
                        <a:t>LEISURE &amp; RETAIL</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900" b="1" i="0">
                          <a:solidFill>
                            <a:srgbClr val="080808"/>
                          </a:solidFill>
                          <a:latin typeface="Calibri"/>
                        </a:rPr>
                        <a:t>Destination Assets: </a:t>
                      </a:r>
                      <a:r>
                        <a:rPr sz="900" b="0" i="0">
                          <a:solidFill>
                            <a:srgbClr val="080808"/>
                          </a:solidFill>
                          <a:latin typeface="Calibri"/>
                        </a:rPr>
                        <a:t>Waterway, Market Street, The Woodlands Mall, and Topgolf anchor a drive to leisure market, with Visit The Woodlands directing 74% of advertising spend to leisure audiences.</a:t>
                      </a:r>
                    </a:p>
                    <a:p>
                      <a:pPr algn="just" marL="171450" indent="-171450">
                        <a:spcBef>
                          <a:spcPts val="300"/>
                        </a:spcBef>
                        <a:spcAft>
                          <a:spcPts val="300"/>
                        </a:spcAft>
                        <a:buClr>
                          <a:srgbClr val="9AA0A8"/>
                        </a:buClr>
                        <a:buFont typeface="Arial"/>
                        <a:buChar char="•"/>
                      </a:pPr>
                      <a:r>
                        <a:rPr sz="900" b="1" i="0">
                          <a:solidFill>
                            <a:srgbClr val="080808"/>
                          </a:solidFill>
                          <a:latin typeface="Calibri"/>
                        </a:rPr>
                        <a:t>Feeder Markets: </a:t>
                      </a:r>
                      <a:r>
                        <a:rPr sz="900" b="0" i="0">
                          <a:solidFill>
                            <a:srgbClr val="080808"/>
                          </a:solidFill>
                          <a:latin typeface="Calibri"/>
                        </a:rPr>
                        <a:t>Paid social clicks originate from Houston (28%), Dallas Fort Worth (23%), Louisiana (11%), and San Antonio (10%), a proxy for the regional drive market.</a:t>
                      </a:r>
                    </a:p>
                    <a:p>
                      <a:pPr algn="just" marL="171450" indent="-171450">
                        <a:spcBef>
                          <a:spcPts val="300"/>
                        </a:spcBef>
                        <a:spcAft>
                          <a:spcPts val="300"/>
                        </a:spcAft>
                        <a:buClr>
                          <a:srgbClr val="9AA0A8"/>
                        </a:buClr>
                        <a:buFont typeface="Arial"/>
                        <a:buChar char="•"/>
                      </a:pPr>
                      <a:r>
                        <a:rPr sz="900" b="1" i="0">
                          <a:solidFill>
                            <a:srgbClr val="080808"/>
                          </a:solidFill>
                          <a:latin typeface="Calibri"/>
                        </a:rPr>
                        <a:t>Spending: </a:t>
                      </a:r>
                      <a:r>
                        <a:rPr sz="900" b="0" i="0">
                          <a:solidFill>
                            <a:srgbClr val="080808"/>
                          </a:solidFill>
                          <a:latin typeface="Calibri"/>
                        </a:rPr>
                        <a:t>Sales tax up 9.7% YoY and hotel tax up 2.7% YoY through Q2 2025 ($5.2M); FY2025 hotel tax exceeded $10.3M, the second largest year on record.</a:t>
                      </a:r>
                    </a:p>
                  </a:txBody>
                  <a:tcPr marL="45720" marR="45720" anchor="ctr">
                    <a:lnL w="0">
                      <a:noFill/>
                    </a:lnL>
                    <a:lnR w="0">
                      <a:noFill/>
                    </a:lnR>
                    <a:lnT w="6350">
                      <a:solidFill>
                        <a:srgbClr val="9AA0A8"/>
                      </a:solidFill>
                    </a:lnT>
                    <a:lnB w="6350">
                      <a:solidFill>
                        <a:srgbClr val="9AA0A8"/>
                      </a:solidFill>
                    </a:lnB>
                    <a:noFill/>
                  </a:tcPr>
                </a:tc>
              </a:tr>
              <a:tr h="1115568">
                <a:tc>
                  <a:txBody>
                    <a:bodyPr wrap="square"/>
                    <a:lstStyle/>
                    <a:p>
                      <a:pPr algn="ctr"/>
                      <a:r>
                        <a:rPr sz="1000" b="1" i="0">
                          <a:solidFill>
                            <a:srgbClr val="080808"/>
                          </a:solidFill>
                          <a:latin typeface="Calibri"/>
                        </a:rPr>
                        <a:t>SUPPLY CONTEXT</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900" b="1" i="0">
                          <a:solidFill>
                            <a:srgbClr val="080808"/>
                          </a:solidFill>
                          <a:latin typeface="Calibri"/>
                        </a:rPr>
                        <a:t>Constrained Inventory: </a:t>
                      </a:r>
                      <a:r>
                        <a:rPr sz="900" b="0" i="0">
                          <a:solidFill>
                            <a:srgbClr val="080808"/>
                          </a:solidFill>
                          <a:latin typeface="Calibri"/>
                        </a:rPr>
                        <a:t>No new hotel supply has opened in the Township since the Westin (2016), and the market could absorb ~400 additional rooms without materially weakening existing hotels.</a:t>
                      </a:r>
                    </a:p>
                    <a:p>
                      <a:pPr algn="just" marL="171450" indent="-171450">
                        <a:spcBef>
                          <a:spcPts val="300"/>
                        </a:spcBef>
                        <a:spcAft>
                          <a:spcPts val="300"/>
                        </a:spcAft>
                        <a:buClr>
                          <a:srgbClr val="9AA0A8"/>
                        </a:buClr>
                        <a:buFont typeface="Arial"/>
                        <a:buChar char="•"/>
                      </a:pPr>
                      <a:r>
                        <a:rPr sz="900" b="1" i="0">
                          <a:solidFill>
                            <a:srgbClr val="080808"/>
                          </a:solidFill>
                          <a:latin typeface="Calibri"/>
                        </a:rPr>
                        <a:t>Competitive Pipeline: </a:t>
                      </a:r>
                      <a:r>
                        <a:rPr sz="900" b="0" i="0">
                          <a:solidFill>
                            <a:srgbClr val="080808"/>
                          </a:solidFill>
                          <a:latin typeface="Calibri"/>
                        </a:rPr>
                        <a:t>Conroe opened a 250 room Hyatt Regency and conference center in May 2023, and Valley Ranch near New Caney began a $130M, 210,000 SF convention center in February 2025.</a:t>
                      </a:r>
                    </a:p>
                  </a:txBody>
                  <a:tcPr marL="45720" marR="45720" anchor="ctr">
                    <a:lnL w="0">
                      <a:noFill/>
                    </a:lnL>
                    <a:lnR w="0">
                      <a:noFill/>
                    </a:lnR>
                    <a:lnT w="6350">
                      <a:solidFill>
                        <a:srgbClr val="9AA0A8"/>
                      </a:solidFill>
                    </a:lnT>
                    <a:lnB w="6350">
                      <a:solidFill>
                        <a:srgbClr val="9AA0A8"/>
                      </a:solidFill>
                    </a:lnB>
                    <a:noFill/>
                  </a:tcPr>
                </a:tc>
              </a:tr>
            </a:tbl>
          </a:graphicData>
        </a:graphic>
      </p:graphicFrame>
      <p:sp>
        <p:nvSpPr>
          <p:cNvPr id="4" name="TextBox 3"/>
          <p:cNvSpPr txBox="1"/>
          <p:nvPr/>
        </p:nvSpPr>
        <p:spPr>
          <a:xfrm>
            <a:off x="160020" y="6217920"/>
            <a:ext cx="8823960" cy="256032"/>
          </a:xfrm>
          <a:prstGeom prst="rect">
            <a:avLst/>
          </a:prstGeom>
          <a:noFill/>
        </p:spPr>
        <p:txBody>
          <a:bodyPr wrap="square" anchor="b" lIns="36576" rIns="36576" tIns="18288" bIns="18288">
            <a:spAutoFit/>
          </a:bodyPr>
          <a:lstStyle/>
          <a:p>
            <a:pPr algn="l">
              <a:spcBef>
                <a:spcPts val="300"/>
              </a:spcBef>
              <a:spcAft>
                <a:spcPts val="300"/>
              </a:spcAft>
              <a:buNone/>
            </a:pPr>
            <a:r>
              <a:rPr sz="700" b="0" i="1">
                <a:solidFill>
                  <a:srgbClr val="9AA0A8"/>
                </a:solidFill>
                <a:latin typeface="Calibri"/>
              </a:rPr>
              <a:t>Source: Visit The Woodlands (Q2 2025 Report; Dec. 2025 lodging presentation by RevPAR International), Houston Chronicle, Community Impact, Bisnow, The Woodlands Area EDP. Note: ExxonMobil figures are from 2013 to 2015 reporting and Springwoods Village sits outside Township limits; event impact figures are organizer or DMO estimates.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Calibri"/>
              </a:rPr>
              <a:t>HOTEL MARKET PERFORMANCE &amp; SUPPLY</a:t>
            </a:r>
          </a:p>
        </p:txBody>
      </p:sp>
      <p:sp>
        <p:nvSpPr>
          <p:cNvPr id="2" name="Slide Number Placeholder 1">
            <a:extLst>
              <a:ext uri="{FF2B5EF4-FFF2-40B4-BE49-F238E27FC236}">
                <a16:creationId xmlns:a16="http://schemas.microsoft.com/office/drawing/2014/main" id="{3E458844-F57D-6F7F-794A-8C27EFE28F5B}"/>
              </a:ext>
            </a:extLst>
          </p:cNvPr>
          <p:cNvSpPr>
            <a:spLocks noGrp="1"/>
          </p:cNvSpPr>
          <p:nvPr>
            <p:ph type="sldNum" sz="quarter" idx="4"/>
          </p:nvPr>
        </p:nvSpPr>
        <p:spPr/>
        <p:txBody>
          <a:bodyPr/>
          <a:lstStyle/>
          <a:p>
            <a:fld id="{C094185C-1F9E-4EDB-A688-258533A03247}" type="slidenum">
              <a:rPr lang="en-US" smtClean="0"/>
              <a:pPr/>
              <a:t>28</a:t>
            </a:fld>
            <a:endParaRPr lang="en-US" dirty="0"/>
          </a:p>
        </p:txBody>
      </p:sp>
      <p:sp>
        <p:nvSpPr>
          <p:cNvPr id="3" name="TextBox 2"/>
          <p:cNvSpPr txBox="1"/>
          <p:nvPr/>
        </p:nvSpPr>
        <p:spPr>
          <a:xfrm>
            <a:off x="160020" y="603504"/>
            <a:ext cx="8823960" cy="1188720"/>
          </a:xfrm>
          <a:prstGeom prst="rect">
            <a:avLst/>
          </a:prstGeom>
          <a:noFill/>
        </p:spPr>
        <p:txBody>
          <a:bodyPr wrap="square" anchor="t" lIns="36576" rIns="36576" tIns="18288" bIns="18288">
            <a:spAutoFit/>
          </a:bodyPr>
          <a:lstStyle/>
          <a:p>
            <a:pPr algn="just" marL="171450" indent="-171450">
              <a:spcBef>
                <a:spcPts val="300"/>
              </a:spcBef>
              <a:spcAft>
                <a:spcPts val="300"/>
              </a:spcAft>
              <a:buClr>
                <a:srgbClr val="9AA0A8"/>
              </a:buClr>
              <a:buFont typeface="Arial"/>
              <a:buChar char="•"/>
            </a:pPr>
            <a:r>
              <a:rPr sz="1000" b="1" i="0">
                <a:solidFill>
                  <a:srgbClr val="080808"/>
                </a:solidFill>
                <a:latin typeface="Calibri"/>
              </a:rPr>
              <a:t>2024 Peak: </a:t>
            </a:r>
            <a:r>
              <a:rPr sz="1000" b="0" i="0">
                <a:solidFill>
                  <a:srgbClr val="080808"/>
                </a:solidFill>
                <a:latin typeface="Calibri"/>
              </a:rPr>
              <a:t>Market RevPAR reached $138.03 in 2024, the highest level since 2015, up 13.3% from $121.81 in 2019 as occupancy recovered to 69.8% and ADR increased 10.9% to $197.85.</a:t>
            </a:r>
          </a:p>
          <a:p>
            <a:pPr algn="just" marL="171450" indent="-171450">
              <a:spcBef>
                <a:spcPts val="300"/>
              </a:spcBef>
              <a:spcAft>
                <a:spcPts val="300"/>
              </a:spcAft>
              <a:buClr>
                <a:srgbClr val="9AA0A8"/>
              </a:buClr>
              <a:buFont typeface="Arial"/>
              <a:buChar char="•"/>
            </a:pPr>
            <a:r>
              <a:rPr sz="1000" b="1" i="0">
                <a:solidFill>
                  <a:srgbClr val="080808"/>
                </a:solidFill>
                <a:latin typeface="Calibri"/>
              </a:rPr>
              <a:t>2025 Softening: </a:t>
            </a:r>
            <a:r>
              <a:rPr sz="1000" b="0" i="0">
                <a:solidFill>
                  <a:srgbClr val="080808"/>
                </a:solidFill>
                <a:latin typeface="Calibri"/>
              </a:rPr>
              <a:t>Through October 2025, RevPAR declined 12.6% to $125.76 on ADR down 8.5% to $184.50 and occupancy down 3.2 pts to 68.2%, with occupied room nights down 4.6%.</a:t>
            </a:r>
          </a:p>
          <a:p>
            <a:pPr algn="just" marL="171450" indent="-171450">
              <a:spcBef>
                <a:spcPts val="300"/>
              </a:spcBef>
              <a:spcAft>
                <a:spcPts val="300"/>
              </a:spcAft>
              <a:buClr>
                <a:srgbClr val="9AA0A8"/>
              </a:buClr>
              <a:buFont typeface="Arial"/>
              <a:buChar char="•"/>
            </a:pPr>
            <a:r>
              <a:rPr sz="1000" b="1" i="0">
                <a:solidFill>
                  <a:srgbClr val="080808"/>
                </a:solidFill>
                <a:latin typeface="Calibri"/>
              </a:rPr>
              <a:t>Constrained Supply: </a:t>
            </a:r>
            <a:r>
              <a:rPr sz="1000" b="0" i="0">
                <a:solidFill>
                  <a:srgbClr val="080808"/>
                </a:solidFill>
                <a:latin typeface="Calibri"/>
              </a:rPr>
              <a:t>Supply is unchanged at 2,254 rooms across 14 hotels, and 2024 occupancy exceeded 70% in eight months and on 199 nights (55% of the year), indicating unaccommodated peak demand.</a:t>
            </a:r>
          </a:p>
        </p:txBody>
      </p:sp>
      <p:sp>
        <p:nvSpPr>
          <p:cNvPr id="4" name="Rectangle 3"/>
          <p:cNvSpPr/>
          <p:nvPr/>
        </p:nvSpPr>
        <p:spPr>
          <a:xfrm>
            <a:off x="160020" y="1874519"/>
            <a:ext cx="443484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Township Hotel Market Performance (CoStar)</a:t>
            </a:r>
          </a:p>
        </p:txBody>
      </p:sp>
      <p:graphicFrame>
        <p:nvGraphicFramePr>
          <p:cNvPr id="5" name="Table 4"/>
          <p:cNvGraphicFramePr>
            <a:graphicFrameLocks noGrp="1"/>
          </p:cNvGraphicFramePr>
          <p:nvPr/>
        </p:nvGraphicFramePr>
        <p:xfrm>
          <a:off x="160020" y="2093976"/>
          <a:ext cx="4434839" cy="3291840"/>
        </p:xfrm>
        <a:graphic>
          <a:graphicData uri="http://schemas.openxmlformats.org/drawingml/2006/table">
            <a:tbl>
              <a:tblPr firstRow="0" bandRow="0"/>
              <a:tblGrid>
                <a:gridCol w="1411085"/>
                <a:gridCol w="1007918"/>
                <a:gridCol w="1007918"/>
                <a:gridCol w="1007918"/>
              </a:tblGrid>
              <a:tr h="274320">
                <a:tc>
                  <a:txBody>
                    <a:bodyPr wrap="square"/>
                    <a:lstStyle/>
                    <a:p>
                      <a:pPr algn="ctr"/>
                      <a:r>
                        <a:rPr sz="900" b="1" i="0">
                          <a:solidFill>
                            <a:srgbClr val="FFFFFF"/>
                          </a:solidFill>
                          <a:latin typeface="Calibri"/>
                        </a:rPr>
                        <a:t>Period</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Occupancy</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ADR</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RevPAR</a:t>
                      </a:r>
                    </a:p>
                  </a:txBody>
                  <a:tcPr marL="45720" marR="45720" marT="18288" marB="18288" anchor="ctr">
                    <a:lnL w="0">
                      <a:noFill/>
                    </a:lnL>
                    <a:lnR w="0">
                      <a:noFill/>
                    </a:lnR>
                    <a:lnT w="0">
                      <a:noFill/>
                    </a:lnT>
                    <a:lnB w="0">
                      <a:noFill/>
                    </a:lnB>
                    <a:solidFill>
                      <a:srgbClr val="858D97"/>
                    </a:solidFill>
                  </a:tcPr>
                </a:tc>
              </a:tr>
              <a:tr h="274320">
                <a:tc>
                  <a:txBody>
                    <a:bodyPr wrap="square"/>
                    <a:lstStyle/>
                    <a:p>
                      <a:pPr algn="ctr"/>
                      <a:r>
                        <a:rPr sz="900" b="0" i="0">
                          <a:solidFill>
                            <a:srgbClr val="080808"/>
                          </a:solidFill>
                          <a:latin typeface="Calibri"/>
                        </a:rPr>
                        <a:t>2017</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69.4%</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$173.26</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$120.32</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2018</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67.0%</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$179.44</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$120.14</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0" i="0">
                          <a:solidFill>
                            <a:srgbClr val="080808"/>
                          </a:solidFill>
                          <a:latin typeface="Calibri"/>
                        </a:rPr>
                        <a:t>2019</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68.3%</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$178.37</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$121.81</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2020</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n/a</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n/a</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n/a</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0" i="0">
                          <a:solidFill>
                            <a:srgbClr val="080808"/>
                          </a:solidFill>
                          <a:latin typeface="Calibri"/>
                        </a:rPr>
                        <a:t>2021</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58.2%</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$150.10</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$87.34</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2022</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62.7%</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$181.86</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$114.11</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0" i="0">
                          <a:solidFill>
                            <a:srgbClr val="080808"/>
                          </a:solidFill>
                          <a:latin typeface="Calibri"/>
                        </a:rPr>
                        <a:t>2023</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65.6%</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$193.17</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$126.65</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2024</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69.8%</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$197.85</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$138.03</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0" i="0">
                          <a:solidFill>
                            <a:srgbClr val="080808"/>
                          </a:solidFill>
                          <a:latin typeface="Calibri"/>
                        </a:rPr>
                        <a:t>YTD Oct. 2024</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71.4%</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$201.54</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$143.96</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YTD Oct. 2025</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68.2%</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$184.50</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$125.76</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1" i="0">
                          <a:solidFill>
                            <a:srgbClr val="080808"/>
                          </a:solidFill>
                          <a:latin typeface="Calibri"/>
                        </a:rPr>
                        <a:t>% Change</a:t>
                      </a:r>
                    </a:p>
                  </a:txBody>
                  <a:tcPr marL="45720" marR="45720" marT="18288" marB="18288" anchor="ctr">
                    <a:lnL w="0">
                      <a:noFill/>
                    </a:lnL>
                    <a:lnR w="0">
                      <a:noFill/>
                    </a:lnR>
                    <a:lnT w="0">
                      <a:noFill/>
                    </a:lnT>
                    <a:lnB w="0">
                      <a:noFill/>
                    </a:lnB>
                    <a:noFill/>
                  </a:tcPr>
                </a:tc>
                <a:tc>
                  <a:txBody>
                    <a:bodyPr wrap="square"/>
                    <a:lstStyle/>
                    <a:p>
                      <a:pPr algn="ctr"/>
                      <a:r>
                        <a:rPr sz="900" b="1" i="0">
                          <a:solidFill>
                            <a:srgbClr val="080808"/>
                          </a:solidFill>
                          <a:latin typeface="Calibri"/>
                        </a:rPr>
                        <a:t>(3.2) pts</a:t>
                      </a:r>
                    </a:p>
                  </a:txBody>
                  <a:tcPr marL="45720" marR="45720" marT="18288" marB="18288" anchor="ctr">
                    <a:lnL w="0">
                      <a:noFill/>
                    </a:lnL>
                    <a:lnR w="0">
                      <a:noFill/>
                    </a:lnR>
                    <a:lnT w="0">
                      <a:noFill/>
                    </a:lnT>
                    <a:lnB w="0">
                      <a:noFill/>
                    </a:lnB>
                    <a:noFill/>
                  </a:tcPr>
                </a:tc>
                <a:tc>
                  <a:txBody>
                    <a:bodyPr wrap="square"/>
                    <a:lstStyle/>
                    <a:p>
                      <a:pPr algn="ctr"/>
                      <a:r>
                        <a:rPr sz="900" b="1" i="0">
                          <a:solidFill>
                            <a:srgbClr val="080808"/>
                          </a:solidFill>
                          <a:latin typeface="Calibri"/>
                        </a:rPr>
                        <a:t>(8.5%)</a:t>
                      </a:r>
                    </a:p>
                  </a:txBody>
                  <a:tcPr marL="45720" marR="45720" marT="18288" marB="18288" anchor="ctr">
                    <a:lnL w="0">
                      <a:noFill/>
                    </a:lnL>
                    <a:lnR w="0">
                      <a:noFill/>
                    </a:lnR>
                    <a:lnT w="0">
                      <a:noFill/>
                    </a:lnT>
                    <a:lnB w="0">
                      <a:noFill/>
                    </a:lnB>
                    <a:noFill/>
                  </a:tcPr>
                </a:tc>
                <a:tc>
                  <a:txBody>
                    <a:bodyPr wrap="square"/>
                    <a:lstStyle/>
                    <a:p>
                      <a:pPr algn="ctr"/>
                      <a:r>
                        <a:rPr sz="900" b="1" i="0">
                          <a:solidFill>
                            <a:srgbClr val="080808"/>
                          </a:solidFill>
                          <a:latin typeface="Calibri"/>
                        </a:rPr>
                        <a:t>(12.6%)</a:t>
                      </a:r>
                    </a:p>
                  </a:txBody>
                  <a:tcPr marL="45720" marR="45720" marT="18288" marB="18288" anchor="ctr">
                    <a:lnL w="0">
                      <a:noFill/>
                    </a:lnL>
                    <a:lnR w="0">
                      <a:noFill/>
                    </a:lnR>
                    <a:lnT w="0">
                      <a:noFill/>
                    </a:lnT>
                    <a:lnB w="0">
                      <a:noFill/>
                    </a:lnB>
                    <a:noFill/>
                  </a:tcPr>
                </a:tc>
              </a:tr>
            </a:tbl>
          </a:graphicData>
        </a:graphic>
      </p:graphicFrame>
      <p:sp>
        <p:nvSpPr>
          <p:cNvPr id="6" name="Rectangle 5"/>
          <p:cNvSpPr/>
          <p:nvPr/>
        </p:nvSpPr>
        <p:spPr>
          <a:xfrm>
            <a:off x="4754880" y="1874519"/>
            <a:ext cx="422910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RevPAR by Year ($)</a:t>
            </a:r>
          </a:p>
        </p:txBody>
      </p:sp>
      <p:graphicFrame>
        <p:nvGraphicFramePr>
          <p:cNvPr id="7" name="Chart 6"/>
          <p:cNvGraphicFramePr>
            <a:graphicFrameLocks noGrp="1"/>
          </p:cNvGraphicFramePr>
          <p:nvPr/>
        </p:nvGraphicFramePr>
        <p:xfrm>
          <a:off x="4754880" y="2103120"/>
          <a:ext cx="4229100" cy="1965960"/>
        </p:xfrm>
        <a:graphic>
          <a:graphicData uri="http://schemas.openxmlformats.org/drawingml/2006/chart">
            <c:chart xmlns:c="http://schemas.openxmlformats.org/drawingml/2006/chart" r:id="rId2"/>
          </a:graphicData>
        </a:graphic>
      </p:graphicFrame>
      <p:sp>
        <p:nvSpPr>
          <p:cNvPr id="8" name="Rectangle 7"/>
          <p:cNvSpPr/>
          <p:nvPr/>
        </p:nvSpPr>
        <p:spPr>
          <a:xfrm>
            <a:off x="4754880" y="4160520"/>
            <a:ext cx="4229100" cy="219456"/>
          </a:xfrm>
          <a:prstGeom prst="rect">
            <a:avLst/>
          </a:prstGeom>
          <a:solidFill>
            <a:srgbClr val="0E2E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i="0">
                <a:solidFill>
                  <a:srgbClr val="FFFFFF"/>
                </a:solidFill>
                <a:latin typeface="Calibri"/>
              </a:rPr>
              <a:t>Lodging Supply (Rooms)</a:t>
            </a:r>
          </a:p>
        </p:txBody>
      </p:sp>
      <p:graphicFrame>
        <p:nvGraphicFramePr>
          <p:cNvPr id="9" name="Table 8"/>
          <p:cNvGraphicFramePr>
            <a:graphicFrameLocks noGrp="1"/>
          </p:cNvGraphicFramePr>
          <p:nvPr/>
        </p:nvGraphicFramePr>
        <p:xfrm>
          <a:off x="4754880" y="4379976"/>
          <a:ext cx="4229099" cy="1371600"/>
        </p:xfrm>
        <a:graphic>
          <a:graphicData uri="http://schemas.openxmlformats.org/drawingml/2006/table">
            <a:tbl>
              <a:tblPr firstRow="0" bandRow="0"/>
              <a:tblGrid>
                <a:gridCol w="2385646"/>
                <a:gridCol w="867507"/>
                <a:gridCol w="975946"/>
              </a:tblGrid>
              <a:tr h="274320">
                <a:tc>
                  <a:txBody>
                    <a:bodyPr wrap="square"/>
                    <a:lstStyle/>
                    <a:p>
                      <a:pPr algn="ctr"/>
                      <a:r>
                        <a:rPr sz="900" b="1" i="0">
                          <a:solidFill>
                            <a:srgbClr val="FFFFFF"/>
                          </a:solidFill>
                          <a:latin typeface="Calibri"/>
                        </a:rPr>
                        <a:t>Segment</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Hotels</a:t>
                      </a:r>
                    </a:p>
                  </a:txBody>
                  <a:tcPr marL="45720" marR="45720" marT="18288" marB="18288" anchor="ctr">
                    <a:lnL w="0">
                      <a:noFill/>
                    </a:lnL>
                    <a:lnR w="0">
                      <a:noFill/>
                    </a:lnR>
                    <a:lnT w="0">
                      <a:noFill/>
                    </a:lnT>
                    <a:lnB w="0">
                      <a:noFill/>
                    </a:lnB>
                    <a:solidFill>
                      <a:srgbClr val="858D97"/>
                    </a:solidFill>
                  </a:tcPr>
                </a:tc>
                <a:tc>
                  <a:txBody>
                    <a:bodyPr wrap="square"/>
                    <a:lstStyle/>
                    <a:p>
                      <a:pPr algn="ctr"/>
                      <a:r>
                        <a:rPr sz="900" b="1" i="0">
                          <a:solidFill>
                            <a:srgbClr val="FFFFFF"/>
                          </a:solidFill>
                          <a:latin typeface="Calibri"/>
                        </a:rPr>
                        <a:t>Rooms</a:t>
                      </a:r>
                    </a:p>
                  </a:txBody>
                  <a:tcPr marL="45720" marR="45720" marT="18288" marB="18288" anchor="ctr">
                    <a:lnL w="0">
                      <a:noFill/>
                    </a:lnL>
                    <a:lnR w="0">
                      <a:noFill/>
                    </a:lnR>
                    <a:lnT w="0">
                      <a:noFill/>
                    </a:lnT>
                    <a:lnB w="0">
                      <a:noFill/>
                    </a:lnB>
                    <a:solidFill>
                      <a:srgbClr val="858D97"/>
                    </a:solidFill>
                  </a:tcPr>
                </a:tc>
              </a:tr>
              <a:tr h="274320">
                <a:tc>
                  <a:txBody>
                    <a:bodyPr wrap="square"/>
                    <a:lstStyle/>
                    <a:p>
                      <a:pPr algn="ctr"/>
                      <a:r>
                        <a:rPr sz="900" b="0" i="0">
                          <a:solidFill>
                            <a:srgbClr val="080808"/>
                          </a:solidFill>
                          <a:latin typeface="Calibri"/>
                        </a:rPr>
                        <a:t>Full service (Township)</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5</a:t>
                      </a:r>
                    </a:p>
                  </a:txBody>
                  <a:tcPr marL="45720" marR="45720" marT="18288" marB="18288" anchor="ctr">
                    <a:lnL w="0">
                      <a:noFill/>
                    </a:lnL>
                    <a:lnR w="0">
                      <a:noFill/>
                    </a:lnR>
                    <a:lnT w="0">
                      <a:noFill/>
                    </a:lnT>
                    <a:lnB w="0">
                      <a:noFill/>
                    </a:lnB>
                    <a:noFill/>
                  </a:tcPr>
                </a:tc>
                <a:tc>
                  <a:txBody>
                    <a:bodyPr wrap="square"/>
                    <a:lstStyle/>
                    <a:p>
                      <a:pPr algn="ctr"/>
                      <a:r>
                        <a:rPr sz="900" b="0" i="0">
                          <a:solidFill>
                            <a:srgbClr val="080808"/>
                          </a:solidFill>
                          <a:latin typeface="Calibri"/>
                        </a:rPr>
                        <a:t>1,329</a:t>
                      </a:r>
                    </a:p>
                  </a:txBody>
                  <a:tcPr marL="45720" marR="45720" marT="18288" marB="18288" anchor="ctr">
                    <a:lnL w="0">
                      <a:noFill/>
                    </a:lnL>
                    <a:lnR w="0">
                      <a:noFill/>
                    </a:lnR>
                    <a:lnT w="0">
                      <a:noFill/>
                    </a:lnT>
                    <a:lnB w="0">
                      <a:noFill/>
                    </a:lnB>
                    <a:noFill/>
                  </a:tcPr>
                </a:tc>
              </a:tr>
              <a:tr h="274320">
                <a:tc>
                  <a:txBody>
                    <a:bodyPr wrap="square"/>
                    <a:lstStyle/>
                    <a:p>
                      <a:pPr algn="ctr"/>
                      <a:r>
                        <a:rPr sz="900" b="0" i="0">
                          <a:solidFill>
                            <a:srgbClr val="080808"/>
                          </a:solidFill>
                          <a:latin typeface="Calibri"/>
                        </a:rPr>
                        <a:t>Select service (Township)</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9</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925</a:t>
                      </a:r>
                    </a:p>
                  </a:txBody>
                  <a:tcPr marL="45720" marR="45720" marT="18288" marB="18288" anchor="ctr">
                    <a:lnL w="0">
                      <a:noFill/>
                    </a:lnL>
                    <a:lnR w="0">
                      <a:noFill/>
                    </a:lnR>
                    <a:lnT w="0">
                      <a:noFill/>
                    </a:lnT>
                    <a:lnB w="0">
                      <a:noFill/>
                    </a:lnB>
                    <a:solidFill>
                      <a:srgbClr val="ECEEF0"/>
                    </a:solidFill>
                  </a:tcPr>
                </a:tc>
              </a:tr>
              <a:tr h="274320">
                <a:tc>
                  <a:txBody>
                    <a:bodyPr wrap="square"/>
                    <a:lstStyle/>
                    <a:p>
                      <a:pPr algn="ctr"/>
                      <a:r>
                        <a:rPr sz="900" b="0" i="0">
                          <a:solidFill>
                            <a:srgbClr val="080808"/>
                          </a:solidFill>
                          <a:latin typeface="Calibri"/>
                        </a:rPr>
                        <a:t>Total Township</a:t>
                      </a:r>
                    </a:p>
                  </a:txBody>
                  <a:tcPr marL="45720" marR="45720" marT="18288" marB="18288" anchor="ctr">
                    <a:lnL w="0">
                      <a:noFill/>
                    </a:lnL>
                    <a:lnR w="0">
                      <a:noFill/>
                    </a:lnR>
                    <a:lnT w="0">
                      <a:noFill/>
                    </a:lnT>
                    <a:lnB w="0">
                      <a:noFill/>
                    </a:lnB>
                    <a:solidFill>
                      <a:srgbClr val="D9E1F2"/>
                    </a:solidFill>
                  </a:tcPr>
                </a:tc>
                <a:tc>
                  <a:txBody>
                    <a:bodyPr wrap="square"/>
                    <a:lstStyle/>
                    <a:p>
                      <a:pPr algn="ctr"/>
                      <a:r>
                        <a:rPr sz="900" b="0" i="0">
                          <a:solidFill>
                            <a:srgbClr val="080808"/>
                          </a:solidFill>
                          <a:latin typeface="Calibri"/>
                        </a:rPr>
                        <a:t>14</a:t>
                      </a:r>
                    </a:p>
                  </a:txBody>
                  <a:tcPr marL="45720" marR="45720" marT="18288" marB="18288" anchor="ctr">
                    <a:lnL w="0">
                      <a:noFill/>
                    </a:lnL>
                    <a:lnR w="0">
                      <a:noFill/>
                    </a:lnR>
                    <a:lnT w="0">
                      <a:noFill/>
                    </a:lnT>
                    <a:lnB w="0">
                      <a:noFill/>
                    </a:lnB>
                    <a:solidFill>
                      <a:srgbClr val="D9E1F2"/>
                    </a:solidFill>
                  </a:tcPr>
                </a:tc>
                <a:tc>
                  <a:txBody>
                    <a:bodyPr wrap="square"/>
                    <a:lstStyle/>
                    <a:p>
                      <a:pPr algn="ctr"/>
                      <a:r>
                        <a:rPr sz="900" b="0" i="0">
                          <a:solidFill>
                            <a:srgbClr val="080808"/>
                          </a:solidFill>
                          <a:latin typeface="Calibri"/>
                        </a:rPr>
                        <a:t>2,254</a:t>
                      </a:r>
                    </a:p>
                  </a:txBody>
                  <a:tcPr marL="45720" marR="45720" marT="18288" marB="18288" anchor="ctr">
                    <a:lnL w="0">
                      <a:noFill/>
                    </a:lnL>
                    <a:lnR w="0">
                      <a:noFill/>
                    </a:lnR>
                    <a:lnT w="0">
                      <a:noFill/>
                    </a:lnT>
                    <a:lnB w="0">
                      <a:noFill/>
                    </a:lnB>
                    <a:solidFill>
                      <a:srgbClr val="D9E1F2"/>
                    </a:solidFill>
                  </a:tcPr>
                </a:tc>
              </a:tr>
              <a:tr h="274320">
                <a:tc>
                  <a:txBody>
                    <a:bodyPr wrap="square"/>
                    <a:lstStyle/>
                    <a:p>
                      <a:pPr algn="ctr"/>
                      <a:r>
                        <a:rPr sz="900" b="0" i="0">
                          <a:solidFill>
                            <a:srgbClr val="080808"/>
                          </a:solidFill>
                          <a:latin typeface="Calibri"/>
                        </a:rPr>
                        <a:t>Competing, within 5 miles outside Township</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26</a:t>
                      </a:r>
                    </a:p>
                  </a:txBody>
                  <a:tcPr marL="45720" marR="45720" marT="18288" marB="18288" anchor="ctr">
                    <a:lnL w="0">
                      <a:noFill/>
                    </a:lnL>
                    <a:lnR w="0">
                      <a:noFill/>
                    </a:lnR>
                    <a:lnT w="0">
                      <a:noFill/>
                    </a:lnT>
                    <a:lnB w="0">
                      <a:noFill/>
                    </a:lnB>
                    <a:solidFill>
                      <a:srgbClr val="ECEEF0"/>
                    </a:solidFill>
                  </a:tcPr>
                </a:tc>
                <a:tc>
                  <a:txBody>
                    <a:bodyPr wrap="square"/>
                    <a:lstStyle/>
                    <a:p>
                      <a:pPr algn="ctr"/>
                      <a:r>
                        <a:rPr sz="900" b="0" i="0">
                          <a:solidFill>
                            <a:srgbClr val="080808"/>
                          </a:solidFill>
                          <a:latin typeface="Calibri"/>
                        </a:rPr>
                        <a:t>3,149</a:t>
                      </a:r>
                    </a:p>
                  </a:txBody>
                  <a:tcPr marL="45720" marR="45720" marT="18288" marB="18288" anchor="ctr">
                    <a:lnL w="0">
                      <a:noFill/>
                    </a:lnL>
                    <a:lnR w="0">
                      <a:noFill/>
                    </a:lnR>
                    <a:lnT w="0">
                      <a:noFill/>
                    </a:lnT>
                    <a:lnB w="0">
                      <a:noFill/>
                    </a:lnB>
                    <a:solidFill>
                      <a:srgbClr val="ECEEF0"/>
                    </a:solidFill>
                  </a:tcPr>
                </a:tc>
              </a:tr>
            </a:tbl>
          </a:graphicData>
        </a:graphic>
      </p:graphicFrame>
      <p:sp>
        <p:nvSpPr>
          <p:cNvPr id="10" name="TextBox 9"/>
          <p:cNvSpPr txBox="1"/>
          <p:nvPr/>
        </p:nvSpPr>
        <p:spPr>
          <a:xfrm>
            <a:off x="160020" y="6199632"/>
            <a:ext cx="8823960" cy="274320"/>
          </a:xfrm>
          <a:prstGeom prst="rect">
            <a:avLst/>
          </a:prstGeom>
          <a:noFill/>
        </p:spPr>
        <p:txBody>
          <a:bodyPr wrap="square" anchor="b" lIns="36576" rIns="36576" tIns="18288" bIns="18288">
            <a:spAutoFit/>
          </a:bodyPr>
          <a:lstStyle/>
          <a:p>
            <a:pPr algn="l">
              <a:spcBef>
                <a:spcPts val="300"/>
              </a:spcBef>
              <a:spcAft>
                <a:spcPts val="300"/>
              </a:spcAft>
              <a:buNone/>
            </a:pPr>
            <a:r>
              <a:rPr sz="700" b="0" i="1">
                <a:solidFill>
                  <a:srgbClr val="9AA0A8"/>
                </a:solidFill>
                <a:latin typeface="Calibri"/>
              </a:rPr>
              <a:t>Source: CoStar, VTW STR data; compiled by RevPAR International (Dec. 2025). Note: 2020 data unavailable due to COVID 19 reporting gaps. YTD 25 reflects January to October 2025 and is not seasonally comparable to full year figures. 2025 full year and 2026 YTD results should be obtained from CoStar before underwriting.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Calibri"/>
              </a:rPr>
              <a:t>KEY CONSIDERATIONS</a:t>
            </a:r>
          </a:p>
        </p:txBody>
      </p:sp>
      <p:sp>
        <p:nvSpPr>
          <p:cNvPr id="2" name="Slide Number Placeholder 1">
            <a:extLst>
              <a:ext uri="{FF2B5EF4-FFF2-40B4-BE49-F238E27FC236}">
                <a16:creationId xmlns:a16="http://schemas.microsoft.com/office/drawing/2014/main" id="{3E458844-F57D-6F7F-794A-8C27EFE28F5B}"/>
              </a:ext>
            </a:extLst>
          </p:cNvPr>
          <p:cNvSpPr>
            <a:spLocks noGrp="1"/>
          </p:cNvSpPr>
          <p:nvPr>
            <p:ph type="sldNum" sz="quarter" idx="4"/>
          </p:nvPr>
        </p:nvSpPr>
        <p:spPr/>
        <p:txBody>
          <a:bodyPr/>
          <a:lstStyle/>
          <a:p>
            <a:fld id="{C094185C-1F9E-4EDB-A688-258533A03247}" type="slidenum">
              <a:rPr lang="en-US" smtClean="0"/>
              <a:pPr/>
              <a:t>28</a:t>
            </a:fld>
            <a:endParaRPr lang="en-US" dirty="0"/>
          </a:p>
        </p:txBody>
      </p:sp>
      <p:graphicFrame>
        <p:nvGraphicFramePr>
          <p:cNvPr id="3" name="Table 2"/>
          <p:cNvGraphicFramePr>
            <a:graphicFrameLocks noGrp="1"/>
          </p:cNvGraphicFramePr>
          <p:nvPr/>
        </p:nvGraphicFramePr>
        <p:xfrm>
          <a:off x="160020" y="603504"/>
          <a:ext cx="8823959" cy="5577840"/>
        </p:xfrm>
        <a:graphic>
          <a:graphicData uri="http://schemas.openxmlformats.org/drawingml/2006/table">
            <a:tbl>
              <a:tblPr firstRow="0" bandRow="0"/>
              <a:tblGrid>
                <a:gridCol w="970635"/>
                <a:gridCol w="7853324"/>
              </a:tblGrid>
              <a:tr h="5577840">
                <a:tc>
                  <a:txBody>
                    <a:bodyPr wrap="square"/>
                    <a:lstStyle/>
                    <a:p>
                      <a:pPr algn="ctr"/>
                      <a:r>
                        <a:rPr sz="1000" b="1" i="0">
                          <a:solidFill>
                            <a:srgbClr val="080808"/>
                          </a:solidFill>
                          <a:latin typeface="Calibri"/>
                        </a:rPr>
                        <a:t>KEY CONCERNS</a:t>
                      </a:r>
                    </a:p>
                  </a:txBody>
                  <a:tcPr marL="45720" marR="45720" marT="18288" marB="18288" anchor="ctr">
                    <a:lnL w="0">
                      <a:noFill/>
                    </a:lnL>
                    <a:lnR w="0">
                      <a:noFill/>
                    </a:lnR>
                    <a:lnT w="6350">
                      <a:solidFill>
                        <a:srgbClr val="9AA0A8"/>
                      </a:solidFill>
                    </a:lnT>
                    <a:lnB w="6350">
                      <a:solidFill>
                        <a:srgbClr val="9AA0A8"/>
                      </a:solidFill>
                    </a:lnB>
                    <a:solidFill>
                      <a:srgbClr val="F2F2F2"/>
                    </a:solidFill>
                  </a:tcPr>
                </a:tc>
                <a:tc>
                  <a:txBody>
                    <a:bodyPr wrap="square"/>
                    <a:lstStyle/>
                    <a:p>
                      <a:pPr algn="just" marL="171450" indent="-171450">
                        <a:spcBef>
                          <a:spcPts val="300"/>
                        </a:spcBef>
                        <a:spcAft>
                          <a:spcPts val="300"/>
                        </a:spcAft>
                        <a:buClr>
                          <a:srgbClr val="9AA0A8"/>
                        </a:buClr>
                        <a:buFont typeface="Arial"/>
                        <a:buChar char="•"/>
                      </a:pPr>
                      <a:r>
                        <a:rPr sz="1000" b="1" i="0">
                          <a:solidFill>
                            <a:srgbClr val="080808"/>
                          </a:solidFill>
                          <a:latin typeface="Calibri"/>
                        </a:rPr>
                        <a:t>Energy and Chemicals Concentration: </a:t>
                      </a:r>
                      <a:r>
                        <a:rPr sz="1000" b="0" i="0">
                          <a:solidFill>
                            <a:srgbClr val="080808"/>
                          </a:solidFill>
                          <a:latin typeface="Calibri"/>
                        </a:rPr>
                        <a:t>We believe corporate demand remains tied to energy and chemicals, as major employer jobs fell 2.0% to 40,358 in the 2026 EDP report and GHP forecasts a loss of 3,200 oil and gas extraction jobs in Houston in 2026.</a:t>
                      </a:r>
                    </a:p>
                    <a:p>
                      <a:pPr algn="just" marL="285750" indent="-171450">
                        <a:spcBef>
                          <a:spcPts val="300"/>
                        </a:spcBef>
                        <a:spcAft>
                          <a:spcPts val="300"/>
                        </a:spcAft>
                        <a:buClr>
                          <a:srgbClr val="9AA0A8"/>
                        </a:buClr>
                        <a:buFont typeface="Arial"/>
                        <a:buChar char="–"/>
                      </a:pPr>
                      <a:r>
                        <a:rPr sz="1000" b="0" i="0" u="sng">
                          <a:solidFill>
                            <a:srgbClr val="080808"/>
                          </a:solidFill>
                          <a:latin typeface="Calibri"/>
                        </a:rPr>
                        <a:t>Mitigant: </a:t>
                      </a:r>
                      <a:r>
                        <a:rPr sz="1000" b="0" i="0">
                          <a:solidFill>
                            <a:srgbClr val="080808"/>
                          </a:solidFill>
                          <a:latin typeface="Calibri"/>
                        </a:rPr>
                        <a:t>Health care (32.5% of jobs) is forecast to add ~14,000 jobs in Houston in 2026, and the EDP cites land for 15,000 to 20,000 additional jobs and expects to announce a European manufacturer plus five smaller companies.</a:t>
                      </a:r>
                    </a:p>
                    <a:p>
                      <a:pPr algn="just" marL="171450" indent="-171450">
                        <a:spcBef>
                          <a:spcPts val="300"/>
                        </a:spcBef>
                        <a:spcAft>
                          <a:spcPts val="300"/>
                        </a:spcAft>
                        <a:buClr>
                          <a:srgbClr val="9AA0A8"/>
                        </a:buClr>
                        <a:buFont typeface="Arial"/>
                        <a:buChar char="•"/>
                      </a:pPr>
                      <a:r>
                        <a:rPr sz="1000" b="1" i="0">
                          <a:solidFill>
                            <a:srgbClr val="080808"/>
                          </a:solidFill>
                          <a:latin typeface="Calibri"/>
                        </a:rPr>
                        <a:t>ADR and RevPAR Softness: </a:t>
                      </a:r>
                      <a:r>
                        <a:rPr sz="1000" b="0" i="0">
                          <a:solidFill>
                            <a:srgbClr val="080808"/>
                          </a:solidFill>
                          <a:latin typeface="Calibri"/>
                        </a:rPr>
                        <a:t>We think the 2025 decline is the most important near term data point, with YTD October ADR down 8.5% to $184.50 and RevPAR down 12.6% to $125.76 against a 2024 peak of $138.03.</a:t>
                      </a:r>
                    </a:p>
                    <a:p>
                      <a:pPr algn="just" marL="285750" indent="-171450">
                        <a:spcBef>
                          <a:spcPts val="300"/>
                        </a:spcBef>
                        <a:spcAft>
                          <a:spcPts val="300"/>
                        </a:spcAft>
                        <a:buClr>
                          <a:srgbClr val="9AA0A8"/>
                        </a:buClr>
                        <a:buFont typeface="Arial"/>
                        <a:buChar char="–"/>
                      </a:pPr>
                      <a:r>
                        <a:rPr sz="1000" b="0" i="0" u="sng">
                          <a:solidFill>
                            <a:srgbClr val="080808"/>
                          </a:solidFill>
                          <a:latin typeface="Calibri"/>
                        </a:rPr>
                        <a:t>Mitigant: </a:t>
                      </a:r>
                      <a:r>
                        <a:rPr sz="1000" b="0" i="0">
                          <a:solidFill>
                            <a:srgbClr val="080808"/>
                          </a:solidFill>
                          <a:latin typeface="Calibri"/>
                        </a:rPr>
                        <a:t>YTD 2025 RevPAR remains above the 2019 level of $121.81, 2025 hotel tax collections of over $10.3M were the second highest on record, and CoStar and Tourism Economics have raised their 2026 U.S. forecast twice (June and August 2026), with the latest occupancy forecast at 63.1%.</a:t>
                      </a:r>
                    </a:p>
                    <a:p>
                      <a:pPr algn="just" marL="171450" indent="-171450">
                        <a:spcBef>
                          <a:spcPts val="300"/>
                        </a:spcBef>
                        <a:spcAft>
                          <a:spcPts val="300"/>
                        </a:spcAft>
                        <a:buClr>
                          <a:srgbClr val="9AA0A8"/>
                        </a:buClr>
                        <a:buFont typeface="Arial"/>
                        <a:buChar char="•"/>
                      </a:pPr>
                      <a:r>
                        <a:rPr sz="1000" b="1" i="0">
                          <a:solidFill>
                            <a:srgbClr val="080808"/>
                          </a:solidFill>
                          <a:latin typeface="Calibri"/>
                        </a:rPr>
                        <a:t>Loss of Marquee Event: </a:t>
                      </a:r>
                      <a:r>
                        <a:rPr sz="1000" b="0" i="0">
                          <a:solidFill>
                            <a:srgbClr val="080808"/>
                          </a:solidFill>
                          <a:latin typeface="Calibri"/>
                        </a:rPr>
                        <a:t>We view the relocation of the Chevron Championship to Memorial Park in Houston (April 2026) as a loss of a signature spring compression event.</a:t>
                      </a:r>
                    </a:p>
                    <a:p>
                      <a:pPr algn="just" marL="285750" indent="-171450">
                        <a:spcBef>
                          <a:spcPts val="300"/>
                        </a:spcBef>
                        <a:spcAft>
                          <a:spcPts val="300"/>
                        </a:spcAft>
                        <a:buClr>
                          <a:srgbClr val="9AA0A8"/>
                        </a:buClr>
                        <a:buFont typeface="Arial"/>
                        <a:buChar char="–"/>
                      </a:pPr>
                      <a:r>
                        <a:rPr sz="1000" b="0" i="0" u="sng">
                          <a:solidFill>
                            <a:srgbClr val="080808"/>
                          </a:solidFill>
                          <a:latin typeface="Calibri"/>
                        </a:rPr>
                        <a:t>Mitigant: </a:t>
                      </a:r>
                      <a:r>
                        <a:rPr sz="1000" b="0" i="0">
                          <a:solidFill>
                            <a:srgbClr val="080808"/>
                          </a:solidFill>
                          <a:latin typeface="Calibri"/>
                        </a:rPr>
                        <a:t>IRONMAN Texas and the Pavilion concert season remain, and 2024 demand was diversified enough that seasonality was limited, with eight months above 70% occupancy.</a:t>
                      </a:r>
                    </a:p>
                    <a:p>
                      <a:pPr algn="just" marL="171450" indent="-171450">
                        <a:spcBef>
                          <a:spcPts val="300"/>
                        </a:spcBef>
                        <a:spcAft>
                          <a:spcPts val="300"/>
                        </a:spcAft>
                        <a:buClr>
                          <a:srgbClr val="9AA0A8"/>
                        </a:buClr>
                        <a:buFont typeface="Arial"/>
                        <a:buChar char="•"/>
                      </a:pPr>
                      <a:r>
                        <a:rPr sz="1000" b="1" i="0">
                          <a:solidFill>
                            <a:srgbClr val="080808"/>
                          </a:solidFill>
                          <a:latin typeface="Calibri"/>
                        </a:rPr>
                        <a:t>New Supply and Competition: </a:t>
                      </a:r>
                      <a:r>
                        <a:rPr sz="1000" b="0" i="0">
                          <a:solidFill>
                            <a:srgbClr val="080808"/>
                          </a:solidFill>
                          <a:latin typeface="Calibri"/>
                        </a:rPr>
                        <a:t>We believe new upscale supply is likely given RevPAR International's recommendation of a 175 to 225 room upper upscale hotel and a 125 to 175 room upscale hotel, while Conroe and Valley Ranch add regional meeting competition.</a:t>
                      </a:r>
                    </a:p>
                    <a:p>
                      <a:pPr algn="just" marL="285750" indent="-171450">
                        <a:spcBef>
                          <a:spcPts val="300"/>
                        </a:spcBef>
                        <a:spcAft>
                          <a:spcPts val="300"/>
                        </a:spcAft>
                        <a:buClr>
                          <a:srgbClr val="9AA0A8"/>
                        </a:buClr>
                        <a:buFont typeface="Arial"/>
                        <a:buChar char="–"/>
                      </a:pPr>
                      <a:r>
                        <a:rPr sz="1000" b="0" i="0" u="sng">
                          <a:solidFill>
                            <a:srgbClr val="080808"/>
                          </a:solidFill>
                          <a:latin typeface="Calibri"/>
                        </a:rPr>
                        <a:t>Mitigant: </a:t>
                      </a:r>
                      <a:r>
                        <a:rPr sz="1000" b="0" i="0">
                          <a:solidFill>
                            <a:srgbClr val="080808"/>
                          </a:solidFill>
                          <a:latin typeface="Calibri"/>
                        </a:rPr>
                        <a:t>No new Township supply has opened since 2016, the market is estimated to absorb ~400 rooms, and RevPAR International estimates 180 to 360 room nights per night of recoverable demand from fill nights alone.</a:t>
                      </a:r>
                    </a:p>
                    <a:p>
                      <a:pPr algn="just" marL="171450" indent="-171450">
                        <a:spcBef>
                          <a:spcPts val="300"/>
                        </a:spcBef>
                        <a:spcAft>
                          <a:spcPts val="300"/>
                        </a:spcAft>
                        <a:buClr>
                          <a:srgbClr val="9AA0A8"/>
                        </a:buClr>
                        <a:buFont typeface="Arial"/>
                        <a:buChar char="•"/>
                      </a:pPr>
                      <a:r>
                        <a:rPr sz="1000" b="1" i="0">
                          <a:solidFill>
                            <a:srgbClr val="080808"/>
                          </a:solidFill>
                          <a:latin typeface="Calibri"/>
                        </a:rPr>
                        <a:t>Macro Uncertainty: </a:t>
                      </a:r>
                      <a:r>
                        <a:rPr sz="1000" b="0" i="0">
                          <a:solidFill>
                            <a:srgbClr val="080808"/>
                          </a:solidFill>
                          <a:latin typeface="Calibri"/>
                        </a:rPr>
                        <a:t>We view the EDP characterization of a "pause" and Houston job growth of only ~0.9% in 2026 as a risk to corporate group and transient demand.</a:t>
                      </a:r>
                    </a:p>
                    <a:p>
                      <a:pPr algn="just" marL="285750" indent="-171450">
                        <a:spcBef>
                          <a:spcPts val="300"/>
                        </a:spcBef>
                        <a:spcAft>
                          <a:spcPts val="300"/>
                        </a:spcAft>
                        <a:buClr>
                          <a:srgbClr val="9AA0A8"/>
                        </a:buClr>
                        <a:buFont typeface="Arial"/>
                        <a:buChar char="–"/>
                      </a:pPr>
                      <a:r>
                        <a:rPr sz="1000" b="0" i="0" u="sng">
                          <a:solidFill>
                            <a:srgbClr val="080808"/>
                          </a:solidFill>
                          <a:latin typeface="Calibri"/>
                        </a:rPr>
                        <a:t>Mitigant: </a:t>
                      </a:r>
                      <a:r>
                        <a:rPr sz="1000" b="0" i="0">
                          <a:solidFill>
                            <a:srgbClr val="080808"/>
                          </a:solidFill>
                          <a:latin typeface="Calibri"/>
                        </a:rPr>
                        <a:t>Montgomery County grew 4.2% in the past year and The Woodlands has grown 45% in ten years, supporting leisure, retail, and health care driven demand.</a:t>
                      </a:r>
                    </a:p>
                  </a:txBody>
                  <a:tcPr marL="45720" marR="45720" anchor="ctr">
                    <a:lnL w="0">
                      <a:noFill/>
                    </a:lnL>
                    <a:lnR w="0">
                      <a:noFill/>
                    </a:lnR>
                    <a:lnT w="6350">
                      <a:solidFill>
                        <a:srgbClr val="9AA0A8"/>
                      </a:solidFill>
                    </a:lnT>
                    <a:lnB w="6350">
                      <a:solidFill>
                        <a:srgbClr val="9AA0A8"/>
                      </a:solidFill>
                    </a:lnB>
                    <a:noFill/>
                  </a:tcPr>
                </a:tc>
              </a:tr>
            </a:tbl>
          </a:graphicData>
        </a:graphic>
      </p:graphicFrame>
      <p:sp>
        <p:nvSpPr>
          <p:cNvPr id="4" name="TextBox 3"/>
          <p:cNvSpPr txBox="1"/>
          <p:nvPr/>
        </p:nvSpPr>
        <p:spPr>
          <a:xfrm>
            <a:off x="160020" y="6217920"/>
            <a:ext cx="8823960" cy="256032"/>
          </a:xfrm>
          <a:prstGeom prst="rect">
            <a:avLst/>
          </a:prstGeom>
          <a:noFill/>
        </p:spPr>
        <p:txBody>
          <a:bodyPr wrap="square" anchor="b" lIns="36576" rIns="36576" tIns="18288" bIns="18288">
            <a:spAutoFit/>
          </a:bodyPr>
          <a:lstStyle/>
          <a:p>
            <a:pPr algn="l">
              <a:spcBef>
                <a:spcPts val="300"/>
              </a:spcBef>
              <a:spcAft>
                <a:spcPts val="300"/>
              </a:spcAft>
              <a:buNone/>
            </a:pPr>
            <a:r>
              <a:rPr sz="700" b="0" i="1">
                <a:solidFill>
                  <a:srgbClr val="9AA0A8"/>
                </a:solidFill>
                <a:latin typeface="Calibri"/>
              </a:rPr>
              <a:t>Source: Greater Houston Partnership, The Woodlands Area EDP, CoStar, Tourism Economics, Visit The Woodlands, RevPAR International, Community Impact. Note: forecasts are as published at the dates cited; 2025 YTD figures reflect January to October 2025.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3QjBn36IlmakLOydlmrMU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xaPe389JG4wDjX42A4sX5A"/>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gyq5JShXR3_QAH6U7hol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__210501_Sixth Street PRINT">
  <a:themeElements>
    <a:clrScheme name="Sixth Street and TSLX_PRINT">
      <a:dk1>
        <a:srgbClr val="080808"/>
      </a:dk1>
      <a:lt1>
        <a:srgbClr val="FEFEFE"/>
      </a:lt1>
      <a:dk2>
        <a:srgbClr val="D9DDE1"/>
      </a:dk2>
      <a:lt2>
        <a:srgbClr val="ECEEF0"/>
      </a:lt2>
      <a:accent1>
        <a:srgbClr val="005587"/>
      </a:accent1>
      <a:accent2>
        <a:srgbClr val="9AA0A8"/>
      </a:accent2>
      <a:accent3>
        <a:srgbClr val="004E59"/>
      </a:accent3>
      <a:accent4>
        <a:srgbClr val="44797B"/>
      </a:accent4>
      <a:accent5>
        <a:srgbClr val="4CA585"/>
      </a:accent5>
      <a:accent6>
        <a:srgbClr val="6595AD"/>
      </a:accent6>
      <a:hlink>
        <a:srgbClr val="15C2FF"/>
      </a:hlink>
      <a:folHlink>
        <a:srgbClr val="CC6601"/>
      </a:folHlink>
    </a:clrScheme>
    <a:fontScheme name="Sixth Street and TSLX">
      <a:majorFont>
        <a:latin typeface="Calibri"/>
        <a:ea typeface=""/>
        <a:cs typeface=""/>
      </a:majorFont>
      <a:minorFont>
        <a:latin typeface="Calibri"/>
        <a:ea typeface=""/>
        <a:cs typeface=""/>
      </a:minorFont>
    </a:fontScheme>
    <a:fmtScheme name="Screen">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lin ang="5400000" scaled="0"/>
        </a:gradFill>
        <a:gradFill rotWithShape="1">
          <a:gsLst>
            <a:gs pos="0">
              <a:schemeClr val="phClr">
                <a:shade val="10000"/>
                <a:hueMod val="100000"/>
                <a:satMod val="100000"/>
                <a:lumMod val="125000"/>
              </a:schemeClr>
            </a:gs>
            <a:gs pos="50000">
              <a:schemeClr val="phClr">
                <a:tint val="100000"/>
                <a:shade val="100000"/>
                <a:hueMod val="99000"/>
                <a:satMod val="120000"/>
                <a:lumMod val="100000"/>
              </a:schemeClr>
            </a:gs>
            <a:gs pos="100000">
              <a:schemeClr val="phClr">
                <a:tint val="100000"/>
                <a:shade val="10000"/>
                <a:hueMod val="100000"/>
                <a:satMod val="100000"/>
                <a:lumMod val="125000"/>
              </a:schemeClr>
            </a:gs>
          </a:gsLst>
          <a:lin ang="18900000" scaled="0"/>
        </a:gradFill>
      </a:fillStyleLst>
      <a:lnStyleLst>
        <a:ln w="12700" cap="sq" cmpd="sng" algn="ctr">
          <a:solidFill>
            <a:schemeClr val="phClr">
              <a:tint val="95000"/>
              <a:satMod val="150000"/>
              <a:lumMod val="150000"/>
            </a:schemeClr>
          </a:solidFill>
          <a:prstDash val="solid"/>
        </a:ln>
        <a:ln w="12700" cap="sq" cmpd="sng" algn="ctr">
          <a:solidFill>
            <a:schemeClr val="phClr">
              <a:tint val="92000"/>
              <a:satMod val="250000"/>
              <a:lumMod val="165000"/>
            </a:schemeClr>
          </a:solidFill>
          <a:prstDash val="solid"/>
        </a:ln>
        <a:ln w="28575" cap="sq" cmpd="sng" algn="ctr">
          <a:solidFill>
            <a:schemeClr val="phClr">
              <a:satMod val="115000"/>
              <a:lumMod val="150000"/>
            </a:schemeClr>
          </a:solidFill>
          <a:prstDash val="solid"/>
        </a:ln>
      </a:lnStyleLst>
      <a:effectStyleLst>
        <a:effectStyle>
          <a:effectLst/>
        </a:effectStyle>
        <a:effectStyle>
          <a:effectLst/>
        </a:effectStyle>
        <a:effectStyle>
          <a:effectLst>
            <a:outerShdw blurRad="38100" dist="25400" dir="2700000" algn="br" rotWithShape="0">
              <a:srgbClr val="000000">
                <a:alpha val="60000"/>
              </a:srgbClr>
            </a:outerShdw>
          </a:effectLst>
        </a:effectStyle>
      </a:effectStyleLst>
      <a:bgFillStyleLst>
        <a:solidFill>
          <a:schemeClr val="phClr"/>
        </a:solidFill>
        <a:gradFill>
          <a:gsLst>
            <a:gs pos="0">
              <a:schemeClr val="phClr">
                <a:tint val="100000"/>
                <a:shade val="100000"/>
                <a:hueMod val="100000"/>
                <a:satMod val="100000"/>
                <a:lumMod val="100000"/>
              </a:schemeClr>
            </a:gs>
            <a:gs pos="25000">
              <a:schemeClr val="phClr">
                <a:tint val="100000"/>
                <a:shade val="75000"/>
                <a:satMod val="100000"/>
              </a:schemeClr>
            </a:gs>
            <a:gs pos="100000">
              <a:schemeClr val="phClr">
                <a:shade val="50000"/>
                <a:satMod val="175000"/>
              </a:schemeClr>
            </a:gs>
            <a:gs pos="100000">
              <a:schemeClr val="phClr">
                <a:shade val="25000"/>
                <a:satMod val="175000"/>
              </a:schemeClr>
            </a:gs>
          </a:gsLst>
          <a:lin ang="600000" scaled="0"/>
        </a:gradFill>
        <a:blipFill rotWithShape="1">
          <a:blip xmlns:r="http://schemas.openxmlformats.org/officeDocument/2006/relationships" r:embed="rId1"/>
          <a:stretch/>
        </a:blipFill>
      </a:bgFillStyleLst>
    </a:fmtScheme>
  </a:themeElements>
  <a:objectDefaults>
    <a:spDef>
      <a:spPr>
        <a:solidFill>
          <a:schemeClr val="bg2"/>
        </a:solidFill>
        <a:ln w="9525">
          <a:solidFill>
            <a:srgbClr val="C33154"/>
          </a:solidFill>
        </a:ln>
      </a:spPr>
      <a:bodyPr lIns="45720" rIns="45720" rtlCol="0" anchor="ctr"/>
      <a:lstStyle>
        <a:defPPr algn="ctr">
          <a:defRPr kern="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sq">
          <a:solidFill>
            <a:srgbClr val="969695"/>
          </a:solidFill>
          <a:prstDash val="solid"/>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nSpc>
            <a:spcPct val="90000"/>
          </a:lnSpc>
          <a:spcAft>
            <a:spcPts val="200"/>
          </a:spcAft>
          <a:defRPr sz="1600" spc="0" dirty="0" smtClean="0"/>
        </a:defPPr>
      </a:lstStyle>
    </a:txDef>
  </a:objectDefaults>
  <a:extraClrSchemeLst/>
  <a:custClrLst>
    <a:custClr name="Absolute White">
      <a:srgbClr val="FEFFFF"/>
    </a:custClr>
    <a:custClr name="Active Tab PRINT">
      <a:srgbClr val="0E2E51"/>
    </a:custClr>
    <a:custClr name="Table Main Border">
      <a:srgbClr val="A0ABB4"/>
    </a:custClr>
    <a:custClr name="Text Over Color">
      <a:srgbClr val="F8F8F8"/>
    </a:custClr>
    <a:custClr name="Line 1">
      <a:srgbClr val="006AA9"/>
    </a:custClr>
    <a:custClr name="Line 2">
      <a:srgbClr val="858D97"/>
    </a:custClr>
    <a:custClr name="Line 3">
      <a:srgbClr val="006573"/>
    </a:custClr>
    <a:custClr name="Line 4">
      <a:srgbClr val="9CB9BB"/>
    </a:custClr>
    <a:custClr name="Line 5">
      <a:srgbClr val="77C3A8"/>
    </a:custClr>
    <a:custClr name="Line 6">
      <a:srgbClr val="96BDCF"/>
    </a:custClr>
    <a:custClr name="Absolute Black">
      <a:srgbClr val="050000"/>
    </a:custClr>
    <a:custClr name="Active Tab SCREEN">
      <a:srgbClr val="005688"/>
    </a:custClr>
    <a:custClr name="Conclusion Box">
      <a:srgbClr val="0F2F51"/>
    </a:custClr>
    <a:custClr name="Red 1">
      <a:srgbClr val="A82800"/>
    </a:custClr>
    <a:custClr name="Accent Blue">
      <a:srgbClr val="003E64"/>
    </a:custClr>
    <a:custClr name="Accent Gray">
      <a:srgbClr val="4C5158"/>
    </a:custClr>
    <a:custClr name="Accent Cyprus">
      <a:srgbClr val="00353C"/>
    </a:custClr>
    <a:custClr name="Accent Casal">
      <a:srgbClr val="296366"/>
    </a:custClr>
    <a:custClr name="Accent Sea Green">
      <a:srgbClr val="2F8E6D"/>
    </a:custClr>
    <a:custClr name="Accent Ocean Deep">
      <a:srgbClr val="417791"/>
    </a:custClr>
    <a:custClr name="Highlight PRINT">
      <a:srgbClr val="4179BD"/>
    </a:custClr>
    <a:custClr name="Highlight SCREEN">
      <a:srgbClr val="C58C3E"/>
    </a:custClr>
    <a:custClr name="Highlight Purple">
      <a:srgbClr val="595378"/>
    </a:custClr>
    <a:custClr name="Red 2">
      <a:srgbClr val="771D00"/>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Lst>
  <a:extLst>
    <a:ext uri="{05A4C25C-085E-4340-85A3-A5531E510DB2}">
      <thm15:themeFamily xmlns:thm15="http://schemas.microsoft.com/office/thememl/2012/main" name="__210501_Sixth Street PRINT" id="{A50BB74A-157F-457E-B35D-FD9C6365CD38}" vid="{6A10F1F2-40AF-4DC0-8CCC-0A8078FC6F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39085</TotalTime>
  <Words>16380</Words>
  <Application>Microsoft Office PowerPoint</Application>
  <PresentationFormat>On-screen Show (4:3)</PresentationFormat>
  <Paragraphs>1519</Paragraphs>
  <Slides>64</Slides>
  <Notes>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Arial</vt:lpstr>
      <vt:lpstr>Calibri</vt:lpstr>
      <vt:lpstr>Cambria Math</vt:lpstr>
      <vt:lpstr>Georgia</vt:lpstr>
      <vt:lpstr>Wingdings</vt:lpstr>
      <vt:lpstr>Wingdings 3</vt:lpstr>
      <vt:lpstr>__210501_Sixth Street PRINT</vt:lpstr>
      <vt:lpstr>think-cell Slide</vt:lpstr>
      <vt:lpstr>Crystal springs resort</vt:lpstr>
      <vt:lpstr>Executive summary (1 of 2)</vt:lpstr>
      <vt:lpstr>Executive summary (2 of 2)</vt:lpstr>
      <vt:lpstr>Investment Highlights &amp; Concerns (1 of 3)</vt:lpstr>
      <vt:lpstr>Investment Highlights &amp; Concerns (2 of 3)</vt:lpstr>
      <vt:lpstr>Investment Highlights &amp; Concerns (3 of 3)</vt:lpstr>
      <vt:lpstr>Key loan terms</vt:lpstr>
      <vt:lpstr>Key intercreditor agreement terms</vt:lpstr>
      <vt:lpstr>Sources &amp; uses</vt:lpstr>
      <vt:lpstr>Sponsorship summary</vt:lpstr>
      <vt:lpstr>Asset overview</vt:lpstr>
      <vt:lpstr>Asset location</vt:lpstr>
      <vt:lpstr>site map</vt:lpstr>
      <vt:lpstr>Grand cascade lodge photos</vt:lpstr>
      <vt:lpstr>Minerals hotel lodge photos</vt:lpstr>
      <vt:lpstr>Property Amenity photos</vt:lpstr>
      <vt:lpstr>Condo hotel overview</vt:lpstr>
      <vt:lpstr>Condo owner unit economics</vt:lpstr>
      <vt:lpstr>Condo structure quick Hits (1 of 2)</vt:lpstr>
      <vt:lpstr>Condo structure Quick hits (2 of 2)</vt:lpstr>
      <vt:lpstr>Hotel operator Ability to Influence</vt:lpstr>
      <vt:lpstr>Rental management agreement key terms</vt:lpstr>
      <vt:lpstr>Hoa governing documents key terms</vt:lpstr>
      <vt:lpstr>Management agreement rollover schedule</vt:lpstr>
      <vt:lpstr>Food &amp; beverage outlet overview</vt:lpstr>
      <vt:lpstr>Golf course overview</vt:lpstr>
      <vt:lpstr>Northern new jersey Market overview</vt:lpstr>
      <vt:lpstr>Hotel market overview</vt:lpstr>
      <vt:lpstr>Drive to leisure demand trends</vt:lpstr>
      <vt:lpstr>Competitive set analysis – Grand Cascades Lodge</vt:lpstr>
      <vt:lpstr>Competitive set analysis – Minerals Hotel</vt:lpstr>
      <vt:lpstr>New jersey golf course market overview</vt:lpstr>
      <vt:lpstr>Sixth street underwritten noi multiple build-up</vt:lpstr>
      <vt:lpstr>Historical cash flows</vt:lpstr>
      <vt:lpstr>Historical cash flows &amp; sixth street proforma</vt:lpstr>
      <vt:lpstr>Aggregate Hotel historical financials &amp; proforma</vt:lpstr>
      <vt:lpstr>F&amp;B historical financials &amp; proforma </vt:lpstr>
      <vt:lpstr>Golf course historical financials &amp; proforma </vt:lpstr>
      <vt:lpstr>Hotel Sensitivity analyses</vt:lpstr>
      <vt:lpstr>F&amp;B sensitivity analysis</vt:lpstr>
      <vt:lpstr>Golf sensitivity analysis</vt:lpstr>
      <vt:lpstr>property sensitivity analyses</vt:lpstr>
      <vt:lpstr>On the books revenue comparison</vt:lpstr>
      <vt:lpstr>Hotel demand segment distribution</vt:lpstr>
      <vt:lpstr>golf course demand segment distribution</vt:lpstr>
      <vt:lpstr>Golf resort sale comparables</vt:lpstr>
      <vt:lpstr>Condo hotel sale comparables</vt:lpstr>
      <vt:lpstr>Golf course sale comparables</vt:lpstr>
      <vt:lpstr>Instrument CM rating</vt:lpstr>
      <vt:lpstr>Hospitality Pricing comparables</vt:lpstr>
      <vt:lpstr>Non-hospitality Pricing comparables</vt:lpstr>
      <vt:lpstr>Whole business securitization Pricing comparables</vt:lpstr>
      <vt:lpstr>Appendix a: Condo owner participation cash flow sweep analysis</vt:lpstr>
      <vt:lpstr>Appendix b: condo owner usage schedule</vt:lpstr>
      <vt:lpstr>Appendix c: annual cash flow - Base case</vt:lpstr>
      <vt:lpstr>Appendix c: annual cash flow - rental at 80%</vt:lpstr>
      <vt:lpstr>Appendix c: annual cash flow - rental participation at 75%</vt:lpstr>
      <vt:lpstr>Appendix d: Grand cascades historical financials &amp; proforma</vt:lpstr>
      <vt:lpstr>Appendix d: Minerals Hotel historical financials &amp; proforma</vt:lpstr>
      <vt:lpstr>appendix e: top group accounts</vt:lpstr>
      <vt:lpstr>appendix f: condo unit sales</vt:lpstr>
      <vt:lpstr>appendix g: condo unit concentration</vt:lpstr>
      <vt:lpstr>Appendix h: Planned Capital expenditure overview</vt:lpstr>
      <vt:lpstr>Appendix i: Ri Diligence – MaSH-3776991 / deal Code: 344498 </vt:lpstr>
    </vt:vector>
  </TitlesOfParts>
  <Company>Sixth Street Partners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Crystal Springs Resort_IC Memo</dc:title>
  <dc:creator>Steele, Jon</dc:creator>
  <cp:lastModifiedBy>Russell, Charlie</cp:lastModifiedBy>
  <cp:revision>915</cp:revision>
  <cp:lastPrinted>2026-04-10T00:11:56Z</cp:lastPrinted>
  <dcterms:created xsi:type="dcterms:W3CDTF">2023-08-21T21:38:38Z</dcterms:created>
  <dcterms:modified xsi:type="dcterms:W3CDTF">2026-05-12T00:29:43Z</dcterms:modified>
</cp:coreProperties>
</file>