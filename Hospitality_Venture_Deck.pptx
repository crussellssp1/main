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media/image3.svg" ContentType="image/svg+xml"/>
  <Override PartName="/ppt/media/image5.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6"/>
  </p:notesMasterIdLst>
  <p:sldIdLst>
    <p:sldId id="300" r:id="rId2"/>
    <p:sldId id="301" r:id="rId3"/>
    <p:sldId id="302" r:id="rId73"/>
    <p:sldId id="303" r:id="rId76"/>
    <p:sldId id="304" r:id="rId77"/>
    <p:sldId id="305" r:id="rId78"/>
    <p:sldId id="306" r:id="rId79"/>
    <p:sldId id="307" r:id="rId80"/>
    <p:sldId id="308" r:id="rId74"/>
    <p:sldId id="309" r:id="rId8"/>
    <p:sldId id="310" r:id="rId75"/>
  </p:sldIdLst>
  <p:sldSz cx="9144000" cy="6858000" type="screen4x3"/>
  <p:notesSz cx="6950075" cy="9236075"/>
  <p:custDataLst>
    <p:tags r:id="rId6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903102-605B-68EF-7B9A-7AE2C6BA7540}" name="Goldstein, Ace" initials="AG" userId="S::ace.goldstein@sixthstreet.com::eba7a8dc-62dc-47ad-a929-5bf4ded49a3f" providerId="AD"/>
  <p188:author id="{02D17110-0F20-E47B-BFB5-0A556483A25F}" name="Dustin Braham" initials="DB" userId="S::db@dwightmortgagetrust.com::69117461-9d3a-41f0-8bc9-ae81deb5b480" providerId="AD"/>
  <p188:author id="{D40C3420-B116-B179-DDCD-D21AFFB9F684}" name="Russell, Charlie" initials="CR" userId="S::crussell@sixthstreet.com::33e8a0f7-e167-4dc0-afa6-e3fb827ab654" providerId="AD"/>
  <p188:author id="{FBDFAE2C-C2B0-28D8-DBD6-AB0A56C5F440}" name="Grant Heilman" initials="GH" userId="S::gh@dwightmortgagetrust.com::b1bd96de-2e6c-49c1-9782-dd8f7e0e133d" providerId="AD"/>
  <p188:author id="{7E938D49-9057-6DE2-1093-14AF8E57C3A2}" name="JD Comeau" initials="JC" userId="S::jco@dwightmortgagetrust.com::9c23bc0d-0924-4e03-9722-f2bc5b5f9e79" providerId="AD"/>
  <p188:author id="{F955DB63-E972-F6C0-339F-278EE5DC0F76}" name="Cole Saenz" initials="CS" userId="S::cs@dwightmortgagetrust.com::30713fba-8b3d-448b-95ba-9dee6bb052e1" providerId="AD"/>
  <p188:author id="{C6235F71-A186-B23E-1A63-48E7C65AABD9}" name="Steele, Jon" initials="JS" userId="S::jsteele@sixthstreet.com::70cf78ff-47dc-4de3-ae54-7be2851cb611" providerId="AD"/>
  <p188:author id="{CF00A173-3AAD-548F-2949-C8DB5F70D4F5}" name="Liam Higgins" initials="LH" userId="S::lh@dwightmortgagetrust.com::d80d6c4f-5341-4e82-9800-befd9ddd0186" providerId="AD"/>
  <p188:author id="{F1D93C83-3748-5608-94B4-153EEBC93506}" name="Noah Breskin" initials="NB" userId="S::nb@dwightmortgagetrust.com::f87674ca-bf83-46cc-9fe7-1ea9fb645d6b" providerId="AD"/>
  <p188:author id="{C928A498-CE5A-E258-F912-5DE590065195}" name="Jack Baron" initials="JB" userId="S::jb@dwightmortgagetrust.com::6eca1c2f-e688-4004-890b-d1456642ce2a" providerId="AD"/>
  <p188:author id="{C10243BA-C78C-0021-A887-C97438ADA3CD}" name="Rachel Jones" initials="RJ" userId="S::rj@dwightmortgagetrust.com::f528490c-e884-4e2b-8a95-d947e7635e7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F51"/>
    <a:srgbClr val="E2EFDA"/>
    <a:srgbClr val="D9E1F2"/>
    <a:srgbClr val="9AA0A8"/>
    <a:srgbClr val="112950"/>
    <a:srgbClr val="D9DEF2"/>
    <a:srgbClr val="FFFF00"/>
    <a:srgbClr val="FFAB00"/>
    <a:srgbClr val="02FCFC"/>
    <a:srgbClr val="8585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7419" autoAdjust="0"/>
  </p:normalViewPr>
  <p:slideViewPr>
    <p:cSldViewPr snapToGrid="0" showGuides="1">
      <p:cViewPr varScale="1">
        <p:scale>
          <a:sx n="158" d="100"/>
          <a:sy n="158" d="100"/>
        </p:scale>
        <p:origin x="1708" y="8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8" Type="http://schemas.openxmlformats.org/officeDocument/2006/relationships/slide" Target="slides/slide10.xml"/><Relationship Id="rId66" Type="http://schemas.openxmlformats.org/officeDocument/2006/relationships/notesMaster" Target="notesMasters/notesMaster1.xml"/><Relationship Id="rId67" Type="http://schemas.openxmlformats.org/officeDocument/2006/relationships/tags" Target="tags/tag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microsoft.com/office/2018/10/relationships/authors" Target="authors.xml"/><Relationship Id="rId73" Type="http://schemas.openxmlformats.org/officeDocument/2006/relationships/slide" Target="slides/slide3.xml"/><Relationship Id="rId74" Type="http://schemas.openxmlformats.org/officeDocument/2006/relationships/slide" Target="slides/slide9.xml"/><Relationship Id="rId75" Type="http://schemas.openxmlformats.org/officeDocument/2006/relationships/slide" Target="slides/slide11.xml"/><Relationship Id="rId76" Type="http://schemas.openxmlformats.org/officeDocument/2006/relationships/slide" Target="slides/slide4.xml"/><Relationship Id="rId77" Type="http://schemas.openxmlformats.org/officeDocument/2006/relationships/slide" Target="slides/slide5.xml"/><Relationship Id="rId78" Type="http://schemas.openxmlformats.org/officeDocument/2006/relationships/slide" Target="slides/slide6.xml"/><Relationship Id="rId79" Type="http://schemas.openxmlformats.org/officeDocument/2006/relationships/slide" Target="slides/slide7.xml"/><Relationship Id="rId80"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2001" cy="462721"/>
          </a:xfrm>
          <a:prstGeom prst="rect">
            <a:avLst/>
          </a:prstGeom>
        </p:spPr>
        <p:txBody>
          <a:bodyPr vert="horz" lIns="87490" tIns="43745" rIns="87490" bIns="43745" rtlCol="0"/>
          <a:lstStyle>
            <a:lvl1pPr algn="l">
              <a:defRPr sz="1100"/>
            </a:lvl1pPr>
          </a:lstStyle>
          <a:p>
            <a:endParaRPr lang="en-US" dirty="0"/>
          </a:p>
        </p:txBody>
      </p:sp>
      <p:sp>
        <p:nvSpPr>
          <p:cNvPr id="3" name="Date Placeholder 2"/>
          <p:cNvSpPr>
            <a:spLocks noGrp="1"/>
          </p:cNvSpPr>
          <p:nvPr>
            <p:ph type="dt" idx="1"/>
          </p:nvPr>
        </p:nvSpPr>
        <p:spPr>
          <a:xfrm>
            <a:off x="3936566" y="0"/>
            <a:ext cx="3012001" cy="462721"/>
          </a:xfrm>
          <a:prstGeom prst="rect">
            <a:avLst/>
          </a:prstGeom>
        </p:spPr>
        <p:txBody>
          <a:bodyPr vert="horz" lIns="87490" tIns="43745" rIns="87490" bIns="43745" rtlCol="0"/>
          <a:lstStyle>
            <a:lvl1pPr algn="r">
              <a:defRPr sz="1100"/>
            </a:lvl1pPr>
          </a:lstStyle>
          <a:p>
            <a:fld id="{7963D64D-97CE-4A53-85A0-97FB91FF649B}" type="datetimeFigureOut">
              <a:rPr lang="en-US" smtClean="0"/>
              <a:t>5/11/2026</a:t>
            </a:fld>
            <a:endParaRPr lang="en-US" dirty="0"/>
          </a:p>
        </p:txBody>
      </p:sp>
      <p:sp>
        <p:nvSpPr>
          <p:cNvPr id="4" name="Slide Image Placeholder 3"/>
          <p:cNvSpPr>
            <a:spLocks noGrp="1" noRot="1" noChangeAspect="1"/>
          </p:cNvSpPr>
          <p:nvPr>
            <p:ph type="sldImg" idx="2"/>
          </p:nvPr>
        </p:nvSpPr>
        <p:spPr>
          <a:xfrm>
            <a:off x="1397000" y="1154113"/>
            <a:ext cx="4156075" cy="3117850"/>
          </a:xfrm>
          <a:prstGeom prst="rect">
            <a:avLst/>
          </a:prstGeom>
          <a:noFill/>
          <a:ln w="12700">
            <a:solidFill>
              <a:prstClr val="black"/>
            </a:solidFill>
          </a:ln>
        </p:spPr>
        <p:txBody>
          <a:bodyPr vert="horz" lIns="87490" tIns="43745" rIns="87490" bIns="43745" rtlCol="0" anchor="ctr"/>
          <a:lstStyle/>
          <a:p>
            <a:endParaRPr lang="en-US" dirty="0"/>
          </a:p>
        </p:txBody>
      </p:sp>
      <p:sp>
        <p:nvSpPr>
          <p:cNvPr id="5" name="Notes Placeholder 4"/>
          <p:cNvSpPr>
            <a:spLocks noGrp="1"/>
          </p:cNvSpPr>
          <p:nvPr>
            <p:ph type="body" sz="quarter" idx="3"/>
          </p:nvPr>
        </p:nvSpPr>
        <p:spPr>
          <a:xfrm>
            <a:off x="695310" y="4445473"/>
            <a:ext cx="5559457" cy="3636093"/>
          </a:xfrm>
          <a:prstGeom prst="rect">
            <a:avLst/>
          </a:prstGeom>
        </p:spPr>
        <p:txBody>
          <a:bodyPr vert="horz" lIns="87490" tIns="43745" rIns="87490" bIns="4374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3355"/>
            <a:ext cx="3012001" cy="462720"/>
          </a:xfrm>
          <a:prstGeom prst="rect">
            <a:avLst/>
          </a:prstGeom>
        </p:spPr>
        <p:txBody>
          <a:bodyPr vert="horz" lIns="87490" tIns="43745" rIns="87490" bIns="43745" rtlCol="0" anchor="b"/>
          <a:lstStyle>
            <a:lvl1pPr algn="l">
              <a:defRPr sz="1100"/>
            </a:lvl1pPr>
          </a:lstStyle>
          <a:p>
            <a:endParaRPr lang="en-US" dirty="0"/>
          </a:p>
        </p:txBody>
      </p:sp>
      <p:sp>
        <p:nvSpPr>
          <p:cNvPr id="7" name="Slide Number Placeholder 6"/>
          <p:cNvSpPr>
            <a:spLocks noGrp="1"/>
          </p:cNvSpPr>
          <p:nvPr>
            <p:ph type="sldNum" sz="quarter" idx="5"/>
          </p:nvPr>
        </p:nvSpPr>
        <p:spPr>
          <a:xfrm>
            <a:off x="3936566" y="8773355"/>
            <a:ext cx="3012001" cy="462720"/>
          </a:xfrm>
          <a:prstGeom prst="rect">
            <a:avLst/>
          </a:prstGeom>
        </p:spPr>
        <p:txBody>
          <a:bodyPr vert="horz" lIns="87490" tIns="43745" rIns="87490" bIns="43745" rtlCol="0" anchor="b"/>
          <a:lstStyle>
            <a:lvl1pPr algn="r">
              <a:defRPr sz="1100"/>
            </a:lvl1pPr>
          </a:lstStyle>
          <a:p>
            <a:fld id="{6A5E40A3-7AF7-4917-A8BC-5C21A2738C93}" type="slidenum">
              <a:rPr lang="en-US" smtClean="0"/>
              <a:t>‹#›</a:t>
            </a:fld>
            <a:endParaRPr lang="en-US" dirty="0"/>
          </a:p>
        </p:txBody>
      </p:sp>
    </p:spTree>
    <p:extLst>
      <p:ext uri="{BB962C8B-B14F-4D97-AF65-F5344CB8AC3E}">
        <p14:creationId xmlns:p14="http://schemas.microsoft.com/office/powerpoint/2010/main" val="2145928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slideMaster" Target="../slideMasters/slideMaster1.xml"/><Relationship Id="rId4" Type="http://schemas.openxmlformats.org/officeDocument/2006/relationships/oleObject" Target="../embeddings/oleObject2.bin"/><Relationship Id="rId5" Type="http://schemas.openxmlformats.org/officeDocument/2006/relationships/image" Target="../media/image4.emf"/><Relationship Id="rId6" Type="http://schemas.openxmlformats.org/officeDocument/2006/relationships/image" Target="../media/image5.svg"/><Relationship Id="rId7"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slideMaster" Target="../slideMasters/slideMaster1.xml"/><Relationship Id="rId5" Type="http://schemas.openxmlformats.org/officeDocument/2006/relationships/oleObject" Target="../embeddings/oleObject3.bin"/><Relationship Id="rId6"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1.xml"/><Relationship Id="rId4" Type="http://schemas.openxmlformats.org/officeDocument/2006/relationships/oleObject" Target="../embeddings/oleObject4.bin"/><Relationship Id="rId5"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slideMaster" Target="../slideMasters/slideMaster1.xml"/><Relationship Id="rId5" Type="http://schemas.openxmlformats.org/officeDocument/2006/relationships/oleObject" Target="../embeddings/oleObject6.bin"/><Relationship Id="rId6" Type="http://schemas.openxmlformats.org/officeDocument/2006/relationships/image" Target="../media/image7.emf"/><Relationship Id="rId7"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slideMaster" Target="../slideMasters/slideMaster1.xml"/><Relationship Id="rId4" Type="http://schemas.openxmlformats.org/officeDocument/2006/relationships/oleObject" Target="../embeddings/oleObject7.bin"/><Relationship Id="rId5" Type="http://schemas.openxmlformats.org/officeDocument/2006/relationships/image" Target="../media/image7.emf"/><Relationship Id="rId6"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tags" Target="../tags/tag19.xml"/><Relationship Id="rId3" Type="http://schemas.openxmlformats.org/officeDocument/2006/relationships/slideMaster" Target="../slideMasters/slideMaster1.xml"/><Relationship Id="rId4" Type="http://schemas.openxmlformats.org/officeDocument/2006/relationships/oleObject" Target="../embeddings/oleObject8.bin"/><Relationship Id="rId5" Type="http://schemas.openxmlformats.org/officeDocument/2006/relationships/image" Target="../media/image7.emf"/><Relationship Id="rId6"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tags" Target="../tags/tag21.xml"/><Relationship Id="rId3" Type="http://schemas.openxmlformats.org/officeDocument/2006/relationships/slideMaster" Target="../slideMasters/slideMaster1.xml"/><Relationship Id="rId4" Type="http://schemas.openxmlformats.org/officeDocument/2006/relationships/oleObject" Target="../embeddings/oleObject9.bin"/><Relationship Id="rId5" Type="http://schemas.openxmlformats.org/officeDocument/2006/relationships/image" Target="../media/image7.emf"/><Relationship Id="rId6"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tags" Target="../tags/tag23.xml"/><Relationship Id="rId3" Type="http://schemas.openxmlformats.org/officeDocument/2006/relationships/slideMaster" Target="../slideMasters/slideMaster1.xml"/><Relationship Id="rId4" Type="http://schemas.openxmlformats.org/officeDocument/2006/relationships/oleObject" Target="../embeddings/oleObject10.bin"/><Relationship Id="rId5" Type="http://schemas.openxmlformats.org/officeDocument/2006/relationships/image" Target="../media/image4.emf"/><Relationship Id="rId6" Type="http://schemas.openxmlformats.org/officeDocument/2006/relationships/image" Target="../media/image10.emf"/><Relationship Id="rId7" Type="http://schemas.openxmlformats.org/officeDocument/2006/relationships/image" Target="../media/image9.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0F2F5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DC724A0-4908-49D1-A19E-86572E2D7C3F}"/>
              </a:ext>
            </a:extLst>
          </p:cNvPr>
          <p:cNvGraphicFramePr>
            <a:graphicFrameLocks noChangeAspect="1"/>
          </p:cNvGraphicFramePr>
          <p:nvPr>
            <p:custDataLst>
              <p:tags r:id="rId1"/>
            </p:custDataLst>
            <p:extLst>
              <p:ext uri="{D42A27DB-BD31-4B8C-83A1-F6EECF244321}">
                <p14:modId xmlns:p14="http://schemas.microsoft.com/office/powerpoint/2010/main" val="34134968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0DC724A0-4908-49D1-A19E-86572E2D7C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A5FFD20-A9CB-47DB-8AC3-87A6D7FDDE5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8" name="Subtitle">
            <a:extLst>
              <a:ext uri="{FF2B5EF4-FFF2-40B4-BE49-F238E27FC236}">
                <a16:creationId xmlns:a16="http://schemas.microsoft.com/office/drawing/2014/main" id="{8995CACF-F3C9-49A7-85C2-734539286CD4}"/>
              </a:ext>
            </a:extLst>
          </p:cNvPr>
          <p:cNvSpPr>
            <a:spLocks noGrp="1"/>
          </p:cNvSpPr>
          <p:nvPr>
            <p:ph type="subTitle" idx="1" hasCustomPrompt="1"/>
          </p:nvPr>
        </p:nvSpPr>
        <p:spPr>
          <a:xfrm>
            <a:off x="3631978" y="5637778"/>
            <a:ext cx="5073603" cy="406265"/>
          </a:xfrm>
          <a:prstGeom prst="rect">
            <a:avLst/>
          </a:prstGeom>
          <a:noFill/>
        </p:spPr>
        <p:txBody>
          <a:bodyPr wrap="square" lIns="0" tIns="91440" rIns="0" bIns="91440" rtlCol="0" anchor="t" anchorCtr="0">
            <a:spAutoFit/>
          </a:bodyPr>
          <a:lstStyle>
            <a:lvl1pPr marL="0" indent="0" algn="r">
              <a:buNone/>
              <a:defRPr lang="en-US" sz="1600" kern="1200" spc="100" dirty="0">
                <a:solidFill>
                  <a:srgbClr val="FFFFFE"/>
                </a:solidFill>
                <a:latin typeface="+mn-lt"/>
              </a:defRPr>
            </a:lvl1pPr>
          </a:lstStyle>
          <a:p>
            <a:pPr marL="0" lvl="0" algn="r" defTabSz="914400">
              <a:lnSpc>
                <a:spcPct val="90000"/>
              </a:lnSpc>
              <a:spcAft>
                <a:spcPts val="200"/>
              </a:spcAft>
            </a:pPr>
            <a:r>
              <a:rPr lang="en-US" dirty="0"/>
              <a:t>Subtitle</a:t>
            </a:r>
          </a:p>
        </p:txBody>
      </p:sp>
      <p:sp>
        <p:nvSpPr>
          <p:cNvPr id="9" name="Title">
            <a:extLst>
              <a:ext uri="{FF2B5EF4-FFF2-40B4-BE49-F238E27FC236}">
                <a16:creationId xmlns:a16="http://schemas.microsoft.com/office/drawing/2014/main" id="{7397F5CA-CC20-4C50-A642-DA59D7226CD2}"/>
              </a:ext>
            </a:extLst>
          </p:cNvPr>
          <p:cNvSpPr>
            <a:spLocks noGrp="1"/>
          </p:cNvSpPr>
          <p:nvPr>
            <p:ph type="ctrTitle" hasCustomPrompt="1"/>
          </p:nvPr>
        </p:nvSpPr>
        <p:spPr bwMode="black">
          <a:xfrm>
            <a:off x="3630210" y="4883684"/>
            <a:ext cx="5075372" cy="710964"/>
          </a:xfrm>
          <a:prstGeom prst="rect">
            <a:avLst/>
          </a:prstGeom>
          <a:noFill/>
        </p:spPr>
        <p:txBody>
          <a:bodyPr vert="horz" wrap="square" lIns="0" tIns="91440" rIns="0" bIns="91440" rtlCol="0" anchor="b" anchorCtr="0">
            <a:spAutoFit/>
          </a:bodyPr>
          <a:lstStyle>
            <a:lvl1pPr algn="r">
              <a:defRPr lang="en-US" sz="3800" kern="1200" noProof="0" dirty="0">
                <a:solidFill>
                  <a:srgbClr val="FFFFFE"/>
                </a:solidFill>
                <a:ea typeface="+mn-ea"/>
              </a:defRPr>
            </a:lvl1pPr>
          </a:lstStyle>
          <a:p>
            <a:pPr marL="0" lvl="0" algn="r" defTabSz="914400">
              <a:lnSpc>
                <a:spcPct val="90000"/>
              </a:lnSpc>
              <a:spcAft>
                <a:spcPts val="200"/>
              </a:spcAft>
            </a:pPr>
            <a:r>
              <a:rPr lang="en-US" noProof="0" dirty="0"/>
              <a:t>Presentation Title</a:t>
            </a:r>
          </a:p>
        </p:txBody>
      </p:sp>
      <p:cxnSp>
        <p:nvCxnSpPr>
          <p:cNvPr id="10" name="Straight Connector 9">
            <a:extLst>
              <a:ext uri="{FF2B5EF4-FFF2-40B4-BE49-F238E27FC236}">
                <a16:creationId xmlns:a16="http://schemas.microsoft.com/office/drawing/2014/main" id="{1CD6D6C0-4B45-4820-B84E-B506C3F6623B}"/>
              </a:ext>
            </a:extLst>
          </p:cNvPr>
          <p:cNvCxnSpPr>
            <a:cxnSpLocks/>
          </p:cNvCxnSpPr>
          <p:nvPr/>
        </p:nvCxnSpPr>
        <p:spPr>
          <a:xfrm flipH="1">
            <a:off x="3634353" y="5592363"/>
            <a:ext cx="5075374"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4C262728-5A3E-4027-AA1F-EC54D61F9E97}"/>
              </a:ext>
            </a:extLst>
          </p:cNvPr>
          <p:cNvSpPr/>
          <p:nvPr/>
        </p:nvSpPr>
        <p:spPr>
          <a:xfrm rot="16200000">
            <a:off x="7038172" y="3250349"/>
            <a:ext cx="3793715" cy="357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spc="200" dirty="0" b="0">
                <a:solidFill>
                  <a:schemeClr val="accent2"/>
                </a:solidFill>
                <a:latin typeface="+mj-lt"/>
                <a:cs typeface="Times New Roman" panose="02020603050405020304" pitchFamily="18" charset="0"/>
              </a:rPr>
              <a:t>PRIVATE AND CONFIDENTIAL</a:t>
            </a:r>
          </a:p>
        </p:txBody>
      </p:sp>
    </p:spTree>
    <p:extLst>
      <p:ext uri="{BB962C8B-B14F-4D97-AF65-F5344CB8AC3E}">
        <p14:creationId xmlns:p14="http://schemas.microsoft.com/office/powerpoint/2010/main" val="2123342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ED1199D4-FD95-751E-A091-340AF2BAFEB1}"/>
              </a:ext>
            </a:extLst>
          </p:cNvPr>
          <p:cNvSpPr/>
          <p:nvPr userDrawn="1">
            <p:custDataLst>
              <p:tags r:id="rId1"/>
            </p:custDataLst>
          </p:nvPr>
        </p:nvSpPr>
        <p:spPr>
          <a:xfrm>
            <a:off x="0" y="0"/>
            <a:ext cx="12700" cy="12700"/>
          </a:xfrm>
          <a:prstGeom prst="octagon">
            <a:avLst/>
          </a:prstGeom>
          <a:noFill/>
          <a:ln w="9525" cap="sq" cmpd="sng" algn="ctr">
            <a:noFill/>
            <a:prstDash val="solid"/>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sq" cmpd="sng" algn="ctr">
                <a:solidFill>
                  <a:srgbClr val="C3315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2"/>
            </p:custDataLst>
            <p:extLst>
              <p:ext uri="{D42A27DB-BD31-4B8C-83A1-F6EECF244321}">
                <p14:modId xmlns:p14="http://schemas.microsoft.com/office/powerpoint/2010/main" val="25921978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3"/>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7" name="Slide Number Placeholder 2">
            <a:extLst>
              <a:ext uri="{FF2B5EF4-FFF2-40B4-BE49-F238E27FC236}">
                <a16:creationId xmlns:a16="http://schemas.microsoft.com/office/drawing/2014/main" id="{C4C29427-2723-4731-BABB-F965AC9851C1}"/>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8" name="Title Placeholder 1">
            <a:extLst>
              <a:ext uri="{FF2B5EF4-FFF2-40B4-BE49-F238E27FC236}">
                <a16:creationId xmlns:a16="http://schemas.microsoft.com/office/drawing/2014/main" id="{F4DFE88D-6504-4C33-99D8-07DBF523E022}"/>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15" name="Footer Placeholder 9">
            <a:extLst>
              <a:ext uri="{FF2B5EF4-FFF2-40B4-BE49-F238E27FC236}">
                <a16:creationId xmlns:a16="http://schemas.microsoft.com/office/drawing/2014/main" id="{8E61697F-7CC1-4F8C-879A-B738D1CB43E5}"/>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83517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Title (2 Lines)">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9713981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175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7" name="Slide Number Placeholder 2">
            <a:extLst>
              <a:ext uri="{FF2B5EF4-FFF2-40B4-BE49-F238E27FC236}">
                <a16:creationId xmlns:a16="http://schemas.microsoft.com/office/drawing/2014/main" id="{C4C29427-2723-4731-BABB-F965AC9851C1}"/>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8" name="Title Placeholder 1">
            <a:extLst>
              <a:ext uri="{FF2B5EF4-FFF2-40B4-BE49-F238E27FC236}">
                <a16:creationId xmlns:a16="http://schemas.microsoft.com/office/drawing/2014/main" id="{F4DFE88D-6504-4C33-99D8-07DBF523E022}"/>
              </a:ext>
            </a:extLst>
          </p:cNvPr>
          <p:cNvSpPr>
            <a:spLocks noGrp="1"/>
          </p:cNvSpPr>
          <p:nvPr>
            <p:ph type="title" hasCustomPrompt="1"/>
          </p:nvPr>
        </p:nvSpPr>
        <p:spPr>
          <a:xfrm>
            <a:off x="160020" y="58134"/>
            <a:ext cx="8823960" cy="476402"/>
          </a:xfrm>
          <a:prstGeom prst="rect">
            <a:avLst/>
          </a:prstGeom>
        </p:spPr>
        <p:txBody>
          <a:bodyPr vert="horz" lIns="0" tIns="45720" rIns="0" bIns="18288" rtlCol="0" anchor="ctr" anchorCtr="0">
            <a:noAutofit/>
          </a:bodyPr>
          <a:lstStyle>
            <a:lvl1pPr>
              <a:lnSpc>
                <a:spcPct val="90000"/>
              </a:lnSpc>
              <a:defRPr sz="1750"/>
            </a:lvl1pPr>
          </a:lstStyle>
          <a:p>
            <a:pPr marL="0" lvl="0"/>
            <a:r>
              <a:rPr lang="en-US" noProof="0" dirty="0"/>
              <a:t>SLIDE TITLE</a:t>
            </a:r>
            <a:br>
              <a:rPr lang="en-US" noProof="0" dirty="0"/>
            </a:br>
            <a:r>
              <a:rPr lang="en-US" noProof="0" dirty="0"/>
              <a:t>2 lines</a:t>
            </a:r>
          </a:p>
        </p:txBody>
      </p:sp>
      <p:sp>
        <p:nvSpPr>
          <p:cNvPr id="11" name="Footer Placeholder 9">
            <a:extLst>
              <a:ext uri="{FF2B5EF4-FFF2-40B4-BE49-F238E27FC236}">
                <a16:creationId xmlns:a16="http://schemas.microsoft.com/office/drawing/2014/main" id="{F71F00A5-3E59-4A3A-9881-5898E75B0B8B}"/>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3670754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27D79AA3-3B0C-4A07-9648-1AB9DB56D051}"/>
              </a:ext>
            </a:extLst>
          </p:cNvPr>
          <p:cNvGraphicFramePr>
            <a:graphicFrameLocks noChangeAspect="1"/>
          </p:cNvGraphicFramePr>
          <p:nvPr>
            <p:custDataLst>
              <p:tags r:id="rId1"/>
            </p:custDataLst>
            <p:extLst>
              <p:ext uri="{D42A27DB-BD31-4B8C-83A1-F6EECF244321}">
                <p14:modId xmlns:p14="http://schemas.microsoft.com/office/powerpoint/2010/main" val="33047923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13" name="Object 12" hidden="1">
                        <a:extLst>
                          <a:ext uri="{FF2B5EF4-FFF2-40B4-BE49-F238E27FC236}">
                            <a16:creationId xmlns:a16="http://schemas.microsoft.com/office/drawing/2014/main" id="{27D79AA3-3B0C-4A07-9648-1AB9DB56D05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34F5919A-F141-44F8-A255-B20CFCCB05F8}"/>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8" name="Slide Number Placeholder 2">
            <a:extLst>
              <a:ext uri="{FF2B5EF4-FFF2-40B4-BE49-F238E27FC236}">
                <a16:creationId xmlns:a16="http://schemas.microsoft.com/office/drawing/2014/main" id="{E3D18900-A64B-4092-AD63-6E442E6AB4FA}"/>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10" name="Text Placeholder 6">
            <a:extLst>
              <a:ext uri="{FF2B5EF4-FFF2-40B4-BE49-F238E27FC236}">
                <a16:creationId xmlns:a16="http://schemas.microsoft.com/office/drawing/2014/main" id="{60BA4139-C552-4581-BC79-BE8ECF9A6F01}"/>
              </a:ext>
            </a:extLst>
          </p:cNvPr>
          <p:cNvSpPr>
            <a:spLocks noGrp="1"/>
          </p:cNvSpPr>
          <p:nvPr>
            <p:ph type="body" sz="quarter" idx="13" hasCustomPrompt="1"/>
          </p:nvPr>
        </p:nvSpPr>
        <p:spPr>
          <a:xfrm>
            <a:off x="160020" y="1048286"/>
            <a:ext cx="8823960" cy="1574790"/>
          </a:xfrm>
          <a:prstGeom prst="rect">
            <a:avLst/>
          </a:prstGeom>
        </p:spPr>
        <p:txBody>
          <a:bodyPr>
            <a:spAutoFit/>
          </a:bodyPr>
          <a:lstStyle>
            <a:lvl1pPr marL="152400" indent="-152400">
              <a:lnSpc>
                <a:spcPct val="90000"/>
              </a:lnSpc>
              <a:spcAft>
                <a:spcPts val="1000"/>
              </a:spcAft>
              <a:buClr>
                <a:schemeClr val="accent2"/>
              </a:buClr>
              <a:buSzPct val="90000"/>
              <a:buFont typeface="Calibri" panose="020F0502020204030204" pitchFamily="34" charset="0"/>
              <a:buChar char="•"/>
              <a:defRPr sz="1400">
                <a:solidFill>
                  <a:schemeClr val="tx1"/>
                </a:solidFill>
                <a:latin typeface="+mn-lt"/>
              </a:defRPr>
            </a:lvl1pPr>
            <a:lvl2pPr marL="381000"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2pPr>
            <a:lvl3pPr marL="571500"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3pPr>
            <a:lvl4pPr marL="808038"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4pPr>
            <a:lvl5pPr marL="1012825" indent="-171450">
              <a:lnSpc>
                <a:spcPct val="90000"/>
              </a:lnSpc>
              <a:spcAft>
                <a:spcPts val="1000"/>
              </a:spcAft>
              <a:buClr>
                <a:schemeClr val="accent2"/>
              </a:buClr>
              <a:buFont typeface="Calibri" panose="020F0502020204030204" pitchFamily="34" charset="0"/>
              <a:buChar char="◦"/>
              <a:defRPr sz="1400">
                <a:solidFill>
                  <a:schemeClr val="tx1"/>
                </a:solidFill>
                <a:latin typeface="+mn-lt"/>
              </a:defRPr>
            </a:lvl5pPr>
          </a:lstStyle>
          <a:p>
            <a:pPr lvl="0"/>
            <a:r>
              <a:rPr lang="en-US" dirty="0"/>
              <a:t>Primary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Placeholder 1">
            <a:extLst>
              <a:ext uri="{FF2B5EF4-FFF2-40B4-BE49-F238E27FC236}">
                <a16:creationId xmlns:a16="http://schemas.microsoft.com/office/drawing/2014/main" id="{A33B111F-F2B3-4B09-A620-646ADA823462}"/>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12" name="Footer Placeholder 9">
            <a:extLst>
              <a:ext uri="{FF2B5EF4-FFF2-40B4-BE49-F238E27FC236}">
                <a16:creationId xmlns:a16="http://schemas.microsoft.com/office/drawing/2014/main" id="{495BA40B-7C37-42F1-B7C1-7B99D09A7869}"/>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726129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Conclusio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10FCADA2-9A2F-DEC7-02A8-24E45BDD9186}"/>
              </a:ext>
            </a:extLst>
          </p:cNvPr>
          <p:cNvSpPr/>
          <p:nvPr userDrawn="1">
            <p:custDataLst>
              <p:tags r:id="rId1"/>
            </p:custDataLst>
          </p:nvPr>
        </p:nvSpPr>
        <p:spPr>
          <a:xfrm>
            <a:off x="0" y="0"/>
            <a:ext cx="12700" cy="12700"/>
          </a:xfrm>
          <a:prstGeom prst="octagon">
            <a:avLst/>
          </a:prstGeom>
          <a:noFill/>
          <a:ln w="9525" cap="sq" cmpd="sng" algn="ctr">
            <a:noFill/>
            <a:prstDash val="solid"/>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cap="sq" cmpd="sng" algn="ctr">
                <a:solidFill>
                  <a:srgbClr val="C33154"/>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2"/>
            </p:custDataLst>
            <p:extLst>
              <p:ext uri="{D42A27DB-BD31-4B8C-83A1-F6EECF244321}">
                <p14:modId xmlns:p14="http://schemas.microsoft.com/office/powerpoint/2010/main" val="5909280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08" imgH="408" progId="TCLayout.ActiveDocument.1">
                  <p:embed/>
                </p:oleObj>
              </mc:Choice>
              <mc:Fallback>
                <p:oleObj name="think-cell Slide" r:id="rId5"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3"/>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b="0">
                <a:solidFill>
                  <a:schemeClr val="accent2"/>
                </a:solidFill>
                <a:latin typeface="+mn-lt"/>
                <a:cs typeface="Times New Roman" panose="02020603050405020304" pitchFamily="18" charset="0"/>
              </a:rPr>
              <a:t>PRIVATE AND CONFIDENTIAL</a:t>
            </a:r>
          </a:p>
        </p:txBody>
      </p:sp>
      <p:sp>
        <p:nvSpPr>
          <p:cNvPr id="24" name="Slide Number Placeholder 2">
            <a:extLst>
              <a:ext uri="{FF2B5EF4-FFF2-40B4-BE49-F238E27FC236}">
                <a16:creationId xmlns:a16="http://schemas.microsoft.com/office/drawing/2014/main" id="{EA387558-41B9-446B-AFBC-648C8F81751F}"/>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n-lt"/>
              </a:defRPr>
            </a:lvl1pPr>
          </a:lstStyle>
          <a:p>
            <a:fld id="{C094185C-1F9E-4EDB-A688-258533A03247}" type="slidenum">
              <a:rPr lang="en-US" smtClean="0"/>
              <a:pPr/>
              <a:t>‹#›</a:t>
            </a:fld>
            <a:endParaRPr lang="en-US" dirty="0"/>
          </a:p>
        </p:txBody>
      </p:sp>
      <p:cxnSp>
        <p:nvCxnSpPr>
          <p:cNvPr id="14" name="Straight Connector 13">
            <a:extLst>
              <a:ext uri="{FF2B5EF4-FFF2-40B4-BE49-F238E27FC236}">
                <a16:creationId xmlns:a16="http://schemas.microsoft.com/office/drawing/2014/main" id="{8ADA7C9D-063D-4D7A-91F8-241098ED80BA}"/>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5" name="Title Placeholder 1">
            <a:extLst>
              <a:ext uri="{FF2B5EF4-FFF2-40B4-BE49-F238E27FC236}">
                <a16:creationId xmlns:a16="http://schemas.microsoft.com/office/drawing/2014/main" id="{BB657700-0CB6-440E-9C04-9D8877EB4173}"/>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5" name="Text Placeholder 4">
            <a:extLst>
              <a:ext uri="{FF2B5EF4-FFF2-40B4-BE49-F238E27FC236}">
                <a16:creationId xmlns:a16="http://schemas.microsoft.com/office/drawing/2014/main" id="{C85131DA-BEA8-4FF1-9A89-369072119795}"/>
              </a:ext>
            </a:extLst>
          </p:cNvPr>
          <p:cNvSpPr>
            <a:spLocks noGrp="1"/>
          </p:cNvSpPr>
          <p:nvPr>
            <p:ph type="body" sz="quarter" idx="13" hasCustomPrompt="1"/>
          </p:nvPr>
        </p:nvSpPr>
        <p:spPr>
          <a:xfrm>
            <a:off x="0" y="6012375"/>
            <a:ext cx="9144000" cy="387798"/>
          </a:xfrm>
          <a:prstGeom prst="rect">
            <a:avLst/>
          </a:prstGeom>
          <a:solidFill>
            <a:srgbClr val="0F2F51"/>
          </a:solidFill>
        </p:spPr>
        <p:txBody>
          <a:bodyPr tIns="91440" anchor="ctr" anchorCtr="0">
            <a:noAutofit/>
          </a:bodyPr>
          <a:lstStyle>
            <a:lvl1pPr marL="0" indent="0" algn="ctr">
              <a:lnSpc>
                <a:spcPct val="100000"/>
              </a:lnSpc>
              <a:spcAft>
                <a:spcPts val="0"/>
              </a:spcAft>
              <a:buNone/>
              <a:defRPr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(1 Line)</a:t>
            </a:r>
          </a:p>
        </p:txBody>
      </p:sp>
      <p:sp>
        <p:nvSpPr>
          <p:cNvPr id="17" name="Footer Placeholder 9">
            <a:extLst>
              <a:ext uri="{FF2B5EF4-FFF2-40B4-BE49-F238E27FC236}">
                <a16:creationId xmlns:a16="http://schemas.microsoft.com/office/drawing/2014/main" id="{93F0BEE6-6287-497F-8F23-56B983264FA0}"/>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75947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Conclusion 2 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29774989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b="0">
                <a:solidFill>
                  <a:schemeClr val="accent2"/>
                </a:solidFill>
                <a:latin typeface="+mn-lt"/>
                <a:cs typeface="Times New Roman" panose="02020603050405020304" pitchFamily="18" charset="0"/>
              </a:rPr>
              <a:t>PRIVATE AND CONFIDENTIAL</a:t>
            </a:r>
          </a:p>
        </p:txBody>
      </p:sp>
      <p:sp>
        <p:nvSpPr>
          <p:cNvPr id="24" name="Slide Number Placeholder 2">
            <a:extLst>
              <a:ext uri="{FF2B5EF4-FFF2-40B4-BE49-F238E27FC236}">
                <a16:creationId xmlns:a16="http://schemas.microsoft.com/office/drawing/2014/main" id="{EA387558-41B9-446B-AFBC-648C8F81751F}"/>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j-lt"/>
              </a:defRPr>
            </a:lvl1pPr>
          </a:lstStyle>
          <a:p>
            <a:fld id="{C094185C-1F9E-4EDB-A688-258533A03247}" type="slidenum">
              <a:rPr lang="en-US" smtClean="0"/>
              <a:pPr/>
              <a:t>‹#›</a:t>
            </a:fld>
            <a:endParaRPr lang="en-US" dirty="0"/>
          </a:p>
        </p:txBody>
      </p:sp>
      <p:cxnSp>
        <p:nvCxnSpPr>
          <p:cNvPr id="14" name="Straight Connector 13">
            <a:extLst>
              <a:ext uri="{FF2B5EF4-FFF2-40B4-BE49-F238E27FC236}">
                <a16:creationId xmlns:a16="http://schemas.microsoft.com/office/drawing/2014/main" id="{8ADA7C9D-063D-4D7A-91F8-241098ED80BA}"/>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5" name="Title Placeholder 1">
            <a:extLst>
              <a:ext uri="{FF2B5EF4-FFF2-40B4-BE49-F238E27FC236}">
                <a16:creationId xmlns:a16="http://schemas.microsoft.com/office/drawing/2014/main" id="{BB657700-0CB6-440E-9C04-9D8877EB4173}"/>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5" name="Text Placeholder 4">
            <a:extLst>
              <a:ext uri="{FF2B5EF4-FFF2-40B4-BE49-F238E27FC236}">
                <a16:creationId xmlns:a16="http://schemas.microsoft.com/office/drawing/2014/main" id="{C85131DA-BEA8-4FF1-9A89-369072119795}"/>
              </a:ext>
            </a:extLst>
          </p:cNvPr>
          <p:cNvSpPr>
            <a:spLocks noGrp="1"/>
          </p:cNvSpPr>
          <p:nvPr>
            <p:ph type="body" sz="quarter" idx="13" hasCustomPrompt="1"/>
          </p:nvPr>
        </p:nvSpPr>
        <p:spPr>
          <a:xfrm>
            <a:off x="0" y="5763076"/>
            <a:ext cx="9144000" cy="637097"/>
          </a:xfrm>
          <a:prstGeom prst="rect">
            <a:avLst/>
          </a:prstGeom>
          <a:solidFill>
            <a:srgbClr val="0F2F51"/>
          </a:solidFill>
        </p:spPr>
        <p:txBody>
          <a:bodyPr tIns="91440" anchor="ctr" anchorCtr="0">
            <a:noAutofit/>
          </a:bodyPr>
          <a:lstStyle>
            <a:lvl1pPr marL="0" indent="0" algn="ctr">
              <a:lnSpc>
                <a:spcPct val="100000"/>
              </a:lnSpc>
              <a:spcAft>
                <a:spcPts val="0"/>
              </a:spcAft>
              <a:buNone/>
              <a:defRPr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(2 Lines)</a:t>
            </a:r>
          </a:p>
        </p:txBody>
      </p:sp>
      <p:sp>
        <p:nvSpPr>
          <p:cNvPr id="16" name="Footer Placeholder 9">
            <a:extLst>
              <a:ext uri="{FF2B5EF4-FFF2-40B4-BE49-F238E27FC236}">
                <a16:creationId xmlns:a16="http://schemas.microsoft.com/office/drawing/2014/main" id="{951A21E2-CBFB-478C-97E6-1DF85619A1CA}"/>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174447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mp; Conclusion 3 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5A56A947-3C39-45D5-9FAC-5B637E3C7358}"/>
              </a:ext>
            </a:extLst>
          </p:cNvPr>
          <p:cNvGraphicFramePr>
            <a:graphicFrameLocks noChangeAspect="1"/>
          </p:cNvGraphicFramePr>
          <p:nvPr>
            <p:custDataLst>
              <p:tags r:id="rId1"/>
            </p:custDataLst>
            <p:extLst>
              <p:ext uri="{D42A27DB-BD31-4B8C-83A1-F6EECF244321}">
                <p14:modId xmlns:p14="http://schemas.microsoft.com/office/powerpoint/2010/main" val="3497496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5A56A947-3C39-45D5-9FAC-5B637E3C73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459AFFF-1A7B-4F22-AA21-9E24D47C0B07}"/>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sp>
        <p:nvSpPr>
          <p:cNvPr id="20" name="Rectangle 19">
            <a:extLst>
              <a:ext uri="{FF2B5EF4-FFF2-40B4-BE49-F238E27FC236}">
                <a16:creationId xmlns:a16="http://schemas.microsoft.com/office/drawing/2014/main" id="{9B6AD864-0D52-46E9-AEC8-9B60B940974A}"/>
              </a:ext>
            </a:extLst>
          </p:cNvPr>
          <p:cNvSpPr/>
          <p:nvPr/>
        </p:nvSpPr>
        <p:spPr>
          <a:xfrm>
            <a:off x="0" y="6400800"/>
            <a:ext cx="9144000" cy="457200"/>
          </a:xfrm>
          <a:prstGeom prst="rect">
            <a:avLst/>
          </a:prstGeom>
          <a:solidFill>
            <a:srgbClr val="0F2F5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
        <p:nvSpPr>
          <p:cNvPr id="23" name="Rectangle 22">
            <a:extLst>
              <a:ext uri="{FF2B5EF4-FFF2-40B4-BE49-F238E27FC236}">
                <a16:creationId xmlns:a16="http://schemas.microsoft.com/office/drawing/2014/main" id="{08A7F88E-F3CA-4AEC-B310-6F480D4CBCFC}"/>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b="0">
                <a:solidFill>
                  <a:schemeClr val="accent2"/>
                </a:solidFill>
                <a:latin typeface="+mj-lt"/>
                <a:cs typeface="Times New Roman" panose="02020603050405020304" pitchFamily="18" charset="0"/>
              </a:rPr>
              <a:t>PRIVATE AND CONFIDENTIAL</a:t>
            </a:r>
          </a:p>
        </p:txBody>
      </p:sp>
      <p:cxnSp>
        <p:nvCxnSpPr>
          <p:cNvPr id="13" name="Straight Connector 12">
            <a:extLst>
              <a:ext uri="{FF2B5EF4-FFF2-40B4-BE49-F238E27FC236}">
                <a16:creationId xmlns:a16="http://schemas.microsoft.com/office/drawing/2014/main" id="{C52B61BF-428D-4935-80AF-D4AF69F54312}"/>
              </a:ext>
            </a:extLst>
          </p:cNvPr>
          <p:cNvCxnSpPr>
            <a:cxnSpLocks/>
          </p:cNvCxnSpPr>
          <p:nvPr/>
        </p:nvCxnSpPr>
        <p:spPr>
          <a:xfrm>
            <a:off x="454491" y="6598136"/>
            <a:ext cx="8275320" cy="0"/>
          </a:xfrm>
          <a:prstGeom prst="line">
            <a:avLst/>
          </a:prstGeom>
          <a:ln w="9525">
            <a:solidFill>
              <a:schemeClr val="accent2">
                <a:lumMod val="75000"/>
              </a:schemeClr>
            </a:solidFill>
            <a:miter lim="800000"/>
          </a:ln>
        </p:spPr>
        <p:style>
          <a:lnRef idx="1">
            <a:schemeClr val="accent1"/>
          </a:lnRef>
          <a:fillRef idx="0">
            <a:schemeClr val="accent1"/>
          </a:fillRef>
          <a:effectRef idx="0">
            <a:schemeClr val="accent1"/>
          </a:effectRef>
          <a:fontRef idx="minor">
            <a:schemeClr val="tx1"/>
          </a:fontRef>
        </p:style>
      </p:cxnSp>
      <p:sp>
        <p:nvSpPr>
          <p:cNvPr id="14" name="Slide Number Placeholder 2">
            <a:extLst>
              <a:ext uri="{FF2B5EF4-FFF2-40B4-BE49-F238E27FC236}">
                <a16:creationId xmlns:a16="http://schemas.microsoft.com/office/drawing/2014/main" id="{F59A2AFC-BF60-4FC5-892A-34473E7FD8BB}"/>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solidFill>
                <a:latin typeface="+mj-lt"/>
              </a:defRPr>
            </a:lvl1pPr>
          </a:lstStyle>
          <a:p>
            <a:fld id="{C094185C-1F9E-4EDB-A688-258533A03247}" type="slidenum">
              <a:rPr lang="en-US" smtClean="0"/>
              <a:pPr/>
              <a:t>‹#›</a:t>
            </a:fld>
            <a:endParaRPr lang="en-US" dirty="0"/>
          </a:p>
        </p:txBody>
      </p:sp>
      <p:sp>
        <p:nvSpPr>
          <p:cNvPr id="16" name="Title Placeholder 1">
            <a:extLst>
              <a:ext uri="{FF2B5EF4-FFF2-40B4-BE49-F238E27FC236}">
                <a16:creationId xmlns:a16="http://schemas.microsoft.com/office/drawing/2014/main" id="{E991F92D-64B8-402A-AAF3-8FC50FF9921D}"/>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a:t>Click to edit Master title style</a:t>
            </a:r>
            <a:endParaRPr lang="en-US" noProof="0" dirty="0"/>
          </a:p>
        </p:txBody>
      </p:sp>
      <p:sp>
        <p:nvSpPr>
          <p:cNvPr id="21" name="Text Placeholder 4">
            <a:extLst>
              <a:ext uri="{FF2B5EF4-FFF2-40B4-BE49-F238E27FC236}">
                <a16:creationId xmlns:a16="http://schemas.microsoft.com/office/drawing/2014/main" id="{E6127545-1C92-4332-96DD-DA86E8F50048}"/>
              </a:ext>
            </a:extLst>
          </p:cNvPr>
          <p:cNvSpPr>
            <a:spLocks noGrp="1"/>
          </p:cNvSpPr>
          <p:nvPr>
            <p:ph type="body" sz="quarter" idx="13" hasCustomPrompt="1"/>
          </p:nvPr>
        </p:nvSpPr>
        <p:spPr>
          <a:xfrm>
            <a:off x="0" y="5763076"/>
            <a:ext cx="9144000" cy="637097"/>
          </a:xfrm>
          <a:prstGeom prst="rect">
            <a:avLst/>
          </a:prstGeom>
          <a:solidFill>
            <a:srgbClr val="0F2F51"/>
          </a:solidFill>
        </p:spPr>
        <p:txBody>
          <a:bodyPr tIns="91440" anchor="ctr" anchorCtr="0">
            <a:noAutofit/>
          </a:bodyPr>
          <a:lstStyle>
            <a:lvl1pPr marL="0" indent="0" algn="ctr">
              <a:lnSpc>
                <a:spcPct val="100000"/>
              </a:lnSpc>
              <a:spcAft>
                <a:spcPts val="0"/>
              </a:spcAft>
              <a:buNone/>
              <a:defRPr sz="1400" b="1" cap="all" baseline="0">
                <a:solidFill>
                  <a:srgbClr val="F8F8F8"/>
                </a:solidFill>
                <a:latin typeface="+mj-lt"/>
              </a:defRPr>
            </a:lvl1pPr>
            <a:lvl2pPr marL="0" indent="0">
              <a:buNone/>
              <a:defRPr b="1" cap="all" baseline="0">
                <a:solidFill>
                  <a:srgbClr val="F8F8F8"/>
                </a:solidFill>
                <a:latin typeface="+mj-lt"/>
              </a:defRPr>
            </a:lvl2pPr>
            <a:lvl3pPr marL="0" indent="0">
              <a:buNone/>
              <a:defRPr b="1" cap="all" baseline="0">
                <a:solidFill>
                  <a:srgbClr val="F8F8F8"/>
                </a:solidFill>
                <a:latin typeface="+mj-lt"/>
              </a:defRPr>
            </a:lvl3pPr>
            <a:lvl4pPr marL="0" indent="0">
              <a:buNone/>
              <a:defRPr b="1" cap="all" baseline="0">
                <a:solidFill>
                  <a:srgbClr val="F8F8F8"/>
                </a:solidFill>
                <a:latin typeface="+mj-lt"/>
              </a:defRPr>
            </a:lvl4pPr>
            <a:lvl5pPr marL="0" indent="0">
              <a:buNone/>
              <a:defRPr b="1" cap="all" baseline="0">
                <a:solidFill>
                  <a:srgbClr val="F8F8F8"/>
                </a:solidFill>
                <a:latin typeface="+mj-lt"/>
              </a:defRPr>
            </a:lvl5pPr>
          </a:lstStyle>
          <a:p>
            <a:pPr lvl="0"/>
            <a:r>
              <a:rPr lang="en-US" dirty="0"/>
              <a:t>Conclusion text (3 lines)</a:t>
            </a:r>
          </a:p>
        </p:txBody>
      </p:sp>
      <p:sp>
        <p:nvSpPr>
          <p:cNvPr id="17" name="Footer Placeholder 9">
            <a:extLst>
              <a:ext uri="{FF2B5EF4-FFF2-40B4-BE49-F238E27FC236}">
                <a16:creationId xmlns:a16="http://schemas.microsoft.com/office/drawing/2014/main" id="{2E88C089-8DAD-48CA-8000-879AB7290D4F}"/>
              </a:ext>
            </a:extLst>
          </p:cNvPr>
          <p:cNvSpPr>
            <a:spLocks noGrp="1"/>
          </p:cNvSpPr>
          <p:nvPr>
            <p:ph type="ftr" sz="quarter" idx="3"/>
          </p:nvPr>
        </p:nvSpPr>
        <p:spPr>
          <a:xfrm>
            <a:off x="444968" y="6544791"/>
            <a:ext cx="2514600" cy="129266"/>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0E2E51"/>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3990064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6C1E106-B173-4C77-84E9-0384A2B8C8C4}"/>
              </a:ext>
            </a:extLst>
          </p:cNvPr>
          <p:cNvGraphicFramePr>
            <a:graphicFrameLocks noChangeAspect="1"/>
          </p:cNvGraphicFramePr>
          <p:nvPr>
            <p:custDataLst>
              <p:tags r:id="rId1"/>
            </p:custDataLst>
            <p:extLst>
              <p:ext uri="{D42A27DB-BD31-4B8C-83A1-F6EECF244321}">
                <p14:modId xmlns:p14="http://schemas.microsoft.com/office/powerpoint/2010/main" val="1196371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3" name="Object 2" hidden="1">
                        <a:extLst>
                          <a:ext uri="{FF2B5EF4-FFF2-40B4-BE49-F238E27FC236}">
                            <a16:creationId xmlns:a16="http://schemas.microsoft.com/office/drawing/2014/main" id="{B6C1E106-B173-4C77-84E9-0384A2B8C8C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BAE97C9-37B0-466E-97BF-1B5E905EFCF8}"/>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6" name="Subtitle"/>
          <p:cNvSpPr>
            <a:spLocks noGrp="1"/>
          </p:cNvSpPr>
          <p:nvPr>
            <p:ph type="subTitle" idx="1" hasCustomPrompt="1"/>
          </p:nvPr>
        </p:nvSpPr>
        <p:spPr>
          <a:xfrm>
            <a:off x="3873379" y="3602915"/>
            <a:ext cx="5106259" cy="406265"/>
          </a:xfrm>
          <a:prstGeom prst="rect">
            <a:avLst/>
          </a:prstGeom>
          <a:noFill/>
        </p:spPr>
        <p:txBody>
          <a:bodyPr wrap="square" lIns="0" tIns="91440" rIns="0" bIns="91440" rtlCol="0" anchor="t" anchorCtr="0">
            <a:spAutoFit/>
          </a:bodyPr>
          <a:lstStyle>
            <a:lvl1pPr marL="0" indent="0" algn="r">
              <a:buNone/>
              <a:defRPr lang="en-US" sz="1600" kern="1200" spc="100" baseline="0" dirty="0">
                <a:solidFill>
                  <a:schemeClr val="tx1"/>
                </a:solidFill>
                <a:latin typeface="+mn-lt"/>
              </a:defRPr>
            </a:lvl1pPr>
          </a:lstStyle>
          <a:p>
            <a:pPr marL="0" lvl="0" algn="r" defTabSz="914400">
              <a:lnSpc>
                <a:spcPct val="90000"/>
              </a:lnSpc>
              <a:spcAft>
                <a:spcPts val="200"/>
              </a:spcAft>
            </a:pPr>
            <a:r>
              <a:rPr lang="en-US" dirty="0"/>
              <a:t>Subtitle</a:t>
            </a:r>
          </a:p>
        </p:txBody>
      </p:sp>
      <p:sp>
        <p:nvSpPr>
          <p:cNvPr id="8" name="Title"/>
          <p:cNvSpPr>
            <a:spLocks noGrp="1"/>
          </p:cNvSpPr>
          <p:nvPr>
            <p:ph type="ctrTitle" hasCustomPrompt="1"/>
          </p:nvPr>
        </p:nvSpPr>
        <p:spPr bwMode="black">
          <a:xfrm>
            <a:off x="3873381" y="2848821"/>
            <a:ext cx="5106258" cy="710964"/>
          </a:xfrm>
          <a:prstGeom prst="rect">
            <a:avLst/>
          </a:prstGeom>
          <a:noFill/>
        </p:spPr>
        <p:txBody>
          <a:bodyPr vert="horz" wrap="square" lIns="0" tIns="91440" rIns="0" bIns="91440" rtlCol="0" anchor="b" anchorCtr="0">
            <a:spAutoFit/>
          </a:bodyPr>
          <a:lstStyle>
            <a:lvl1pPr algn="r">
              <a:defRPr lang="en-US" sz="3800" kern="1200" dirty="0">
                <a:solidFill>
                  <a:schemeClr val="tx1"/>
                </a:solidFill>
                <a:ea typeface="+mn-ea"/>
              </a:defRPr>
            </a:lvl1pPr>
          </a:lstStyle>
          <a:p>
            <a:pPr marL="0" lvl="0" algn="r" defTabSz="914400">
              <a:lnSpc>
                <a:spcPct val="90000"/>
              </a:lnSpc>
              <a:spcAft>
                <a:spcPts val="200"/>
              </a:spcAft>
            </a:pPr>
            <a:r>
              <a:rPr lang="en-US" dirty="0"/>
              <a:t>Section Header</a:t>
            </a:r>
          </a:p>
        </p:txBody>
      </p:sp>
      <p:cxnSp>
        <p:nvCxnSpPr>
          <p:cNvPr id="10" name="Separator Line"/>
          <p:cNvCxnSpPr/>
          <p:nvPr/>
        </p:nvCxnSpPr>
        <p:spPr>
          <a:xfrm>
            <a:off x="-627882" y="4920282"/>
            <a:ext cx="7315200" cy="0"/>
          </a:xfrm>
          <a:prstGeom prst="line">
            <a:avLst/>
          </a:prstGeom>
          <a:solidFill>
            <a:srgbClr val="093A5B"/>
          </a:solidFill>
          <a:ln w="28575">
            <a:no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E9A2843-21AE-42D6-8784-C5A9BFF48788}"/>
              </a:ext>
            </a:extLst>
          </p:cNvPr>
          <p:cNvCxnSpPr>
            <a:cxnSpLocks/>
          </p:cNvCxnSpPr>
          <p:nvPr/>
        </p:nvCxnSpPr>
        <p:spPr>
          <a:xfrm flipH="1">
            <a:off x="3873381" y="3557500"/>
            <a:ext cx="5106258"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00B59AB-BD73-4A7B-91F0-A59C1AE5F65B}"/>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b="0">
                <a:solidFill>
                  <a:schemeClr val="accent2"/>
                </a:solidFill>
                <a:latin typeface="+mj-lt"/>
                <a:cs typeface="Times New Roman" panose="02020603050405020304" pitchFamily="18" charset="0"/>
              </a:rPr>
              <a:t>PRIVATE AND CONFIDENTIAL</a:t>
            </a:r>
          </a:p>
        </p:txBody>
      </p:sp>
    </p:spTree>
    <p:extLst>
      <p:ext uri="{BB962C8B-B14F-4D97-AF65-F5344CB8AC3E}">
        <p14:creationId xmlns:p14="http://schemas.microsoft.com/office/powerpoint/2010/main" val="967088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Image Slide">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BB23FA3-3B9F-4453-9487-4B573E32590A}"/>
              </a:ext>
            </a:extLst>
          </p:cNvPr>
          <p:cNvCxnSpPr>
            <a:cxnSpLocks/>
          </p:cNvCxnSpPr>
          <p:nvPr/>
        </p:nvCxnSpPr>
        <p:spPr>
          <a:xfrm>
            <a:off x="454491" y="6598136"/>
            <a:ext cx="827532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B07B5FF-747D-4FD2-9258-7FAF13AFF8BD}"/>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b="0">
                <a:solidFill>
                  <a:schemeClr val="accent2"/>
                </a:solidFill>
                <a:latin typeface="+mj-lt"/>
                <a:cs typeface="Times New Roman" panose="02020603050405020304" pitchFamily="18" charset="0"/>
              </a:rPr>
              <a:t>PRIVATE AND CONFIDENTIAL</a:t>
            </a:r>
          </a:p>
        </p:txBody>
      </p:sp>
      <p:sp>
        <p:nvSpPr>
          <p:cNvPr id="7" name="Slide Number Placeholder 2">
            <a:extLst>
              <a:ext uri="{FF2B5EF4-FFF2-40B4-BE49-F238E27FC236}">
                <a16:creationId xmlns:a16="http://schemas.microsoft.com/office/drawing/2014/main" id="{A0890C6F-06EA-454E-98CD-D3A69BFC0B6E}"/>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11" name="Footer Placeholder 9">
            <a:extLst>
              <a:ext uri="{FF2B5EF4-FFF2-40B4-BE49-F238E27FC236}">
                <a16:creationId xmlns:a16="http://schemas.microsoft.com/office/drawing/2014/main" id="{DA768706-9A6D-4AF2-8D4C-5C1C376B50FB}"/>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highlight>
                  <a:srgbClr val="FEFFFF"/>
                </a:highlight>
                <a:uFill>
                  <a:solidFill>
                    <a:schemeClr val="tx2"/>
                  </a:solidFill>
                </a:uFill>
                <a:latin typeface="+mj-lt"/>
                <a:ea typeface="+mn-ea"/>
                <a:cs typeface="+mn-cs"/>
              </a:defRPr>
            </a:lvl1pPr>
          </a:lstStyle>
          <a:p>
            <a:r>
              <a:rPr lang="en-US" dirty="0"/>
              <a:t>FOOTER ALL CAP</a:t>
            </a:r>
          </a:p>
        </p:txBody>
      </p:sp>
    </p:spTree>
    <p:extLst>
      <p:ext uri="{BB962C8B-B14F-4D97-AF65-F5344CB8AC3E}">
        <p14:creationId xmlns:p14="http://schemas.microsoft.com/office/powerpoint/2010/main" val="2979457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594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ixth Street IRC_Cov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DC724A0-4908-49D1-A19E-86572E2D7C3F}"/>
              </a:ext>
            </a:extLst>
          </p:cNvPr>
          <p:cNvGraphicFramePr>
            <a:graphicFrameLocks noChangeAspect="1"/>
          </p:cNvGraphicFramePr>
          <p:nvPr>
            <p:custDataLst>
              <p:tags r:id="rId1"/>
            </p:custDataLst>
            <p:extLst>
              <p:ext uri="{D42A27DB-BD31-4B8C-83A1-F6EECF244321}">
                <p14:modId xmlns:p14="http://schemas.microsoft.com/office/powerpoint/2010/main" val="7205971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2" name="Object 1" hidden="1">
                        <a:extLst>
                          <a:ext uri="{FF2B5EF4-FFF2-40B4-BE49-F238E27FC236}">
                            <a16:creationId xmlns:a16="http://schemas.microsoft.com/office/drawing/2014/main" id="{0DC724A0-4908-49D1-A19E-86572E2D7C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A5FFD20-A9CB-47DB-8AC3-87A6D7FDDE5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800" b="0" i="0" kern="0" baseline="0" dirty="0">
              <a:solidFill>
                <a:schemeClr val="tx1"/>
              </a:solidFill>
              <a:latin typeface="Calibri" panose="020F0502020204030204" pitchFamily="34" charset="0"/>
              <a:ea typeface="+mn-ea"/>
              <a:cs typeface="+mj-cs"/>
              <a:sym typeface="Calibri" panose="020F0502020204030204" pitchFamily="34" charset="0"/>
            </a:endParaRPr>
          </a:p>
        </p:txBody>
      </p:sp>
      <p:sp>
        <p:nvSpPr>
          <p:cNvPr id="8" name="Subtitle">
            <a:extLst>
              <a:ext uri="{FF2B5EF4-FFF2-40B4-BE49-F238E27FC236}">
                <a16:creationId xmlns:a16="http://schemas.microsoft.com/office/drawing/2014/main" id="{8995CACF-F3C9-49A7-85C2-734539286CD4}"/>
              </a:ext>
            </a:extLst>
          </p:cNvPr>
          <p:cNvSpPr>
            <a:spLocks noGrp="1"/>
          </p:cNvSpPr>
          <p:nvPr>
            <p:ph type="subTitle" idx="1" hasCustomPrompt="1"/>
          </p:nvPr>
        </p:nvSpPr>
        <p:spPr>
          <a:xfrm>
            <a:off x="3631978" y="5637778"/>
            <a:ext cx="5073603" cy="406265"/>
          </a:xfrm>
          <a:prstGeom prst="rect">
            <a:avLst/>
          </a:prstGeom>
          <a:noFill/>
        </p:spPr>
        <p:txBody>
          <a:bodyPr wrap="square" lIns="0" tIns="91440" rIns="0" bIns="91440" rtlCol="0" anchor="t" anchorCtr="0">
            <a:spAutoFit/>
          </a:bodyPr>
          <a:lstStyle>
            <a:lvl1pPr marL="0" indent="0" algn="r">
              <a:buNone/>
              <a:defRPr lang="en-US" sz="1600" kern="1200" spc="100" dirty="0">
                <a:solidFill>
                  <a:schemeClr val="tx1"/>
                </a:solidFill>
                <a:latin typeface="+mn-lt"/>
              </a:defRPr>
            </a:lvl1pPr>
          </a:lstStyle>
          <a:p>
            <a:pPr marL="0" lvl="0" algn="r" defTabSz="914400">
              <a:lnSpc>
                <a:spcPct val="90000"/>
              </a:lnSpc>
              <a:spcAft>
                <a:spcPts val="200"/>
              </a:spcAft>
            </a:pPr>
            <a:r>
              <a:rPr lang="en-US" dirty="0"/>
              <a:t>Subtitle</a:t>
            </a:r>
          </a:p>
        </p:txBody>
      </p:sp>
      <p:sp>
        <p:nvSpPr>
          <p:cNvPr id="9" name="Title">
            <a:extLst>
              <a:ext uri="{FF2B5EF4-FFF2-40B4-BE49-F238E27FC236}">
                <a16:creationId xmlns:a16="http://schemas.microsoft.com/office/drawing/2014/main" id="{7397F5CA-CC20-4C50-A642-DA59D7226CD2}"/>
              </a:ext>
            </a:extLst>
          </p:cNvPr>
          <p:cNvSpPr>
            <a:spLocks noGrp="1"/>
          </p:cNvSpPr>
          <p:nvPr>
            <p:ph type="ctrTitle" hasCustomPrompt="1"/>
          </p:nvPr>
        </p:nvSpPr>
        <p:spPr bwMode="black">
          <a:xfrm>
            <a:off x="3630210" y="4883684"/>
            <a:ext cx="5075372" cy="710964"/>
          </a:xfrm>
          <a:prstGeom prst="rect">
            <a:avLst/>
          </a:prstGeom>
          <a:noFill/>
        </p:spPr>
        <p:txBody>
          <a:bodyPr vert="horz" wrap="square" lIns="0" tIns="91440" rIns="0" bIns="91440" rtlCol="0" anchor="b" anchorCtr="0">
            <a:spAutoFit/>
          </a:bodyPr>
          <a:lstStyle>
            <a:lvl1pPr algn="r">
              <a:defRPr lang="en-US" sz="3800" kern="1200" noProof="0" dirty="0">
                <a:solidFill>
                  <a:schemeClr val="tx1"/>
                </a:solidFill>
                <a:ea typeface="+mn-ea"/>
              </a:defRPr>
            </a:lvl1pPr>
          </a:lstStyle>
          <a:p>
            <a:pPr marL="0" lvl="0" algn="r" defTabSz="914400">
              <a:lnSpc>
                <a:spcPct val="90000"/>
              </a:lnSpc>
              <a:spcAft>
                <a:spcPts val="200"/>
              </a:spcAft>
            </a:pPr>
            <a:r>
              <a:rPr lang="en-US" noProof="0" dirty="0"/>
              <a:t>Presentation Title</a:t>
            </a:r>
          </a:p>
        </p:txBody>
      </p:sp>
      <p:cxnSp>
        <p:nvCxnSpPr>
          <p:cNvPr id="10" name="Straight Connector 9">
            <a:extLst>
              <a:ext uri="{FF2B5EF4-FFF2-40B4-BE49-F238E27FC236}">
                <a16:creationId xmlns:a16="http://schemas.microsoft.com/office/drawing/2014/main" id="{1CD6D6C0-4B45-4820-B84E-B506C3F6623B}"/>
              </a:ext>
            </a:extLst>
          </p:cNvPr>
          <p:cNvCxnSpPr>
            <a:cxnSpLocks/>
          </p:cNvCxnSpPr>
          <p:nvPr/>
        </p:nvCxnSpPr>
        <p:spPr>
          <a:xfrm flipH="1">
            <a:off x="3634353" y="5592363"/>
            <a:ext cx="5075374" cy="0"/>
          </a:xfrm>
          <a:prstGeom prst="line">
            <a:avLst/>
          </a:prstGeom>
          <a:ln w="9525" cap="sq">
            <a:solidFill>
              <a:schemeClr val="accent1"/>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5290138-6D0A-45FE-9B62-D5B9205EE5EE}"/>
              </a:ext>
            </a:extLst>
          </p:cNvPr>
          <p:cNvSpPr/>
          <p:nvPr/>
        </p:nvSpPr>
        <p:spPr bwMode="gray">
          <a:xfrm rot="16200000">
            <a:off x="7038172" y="3250349"/>
            <a:ext cx="3793715" cy="357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spc="200" dirty="0" b="0">
                <a:solidFill>
                  <a:schemeClr val="accent2"/>
                </a:solidFill>
                <a:latin typeface="+mj-lt"/>
                <a:cs typeface="Times New Roman" panose="02020603050405020304" pitchFamily="18" charset="0"/>
              </a:rPr>
              <a:t>PRIVATE AND CONFIDENTIAL</a:t>
            </a:r>
          </a:p>
        </p:txBody>
      </p:sp>
    </p:spTree>
    <p:extLst>
      <p:ext uri="{BB962C8B-B14F-4D97-AF65-F5344CB8AC3E}">
        <p14:creationId xmlns:p14="http://schemas.microsoft.com/office/powerpoint/2010/main" val="1956848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Video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92B1BF-28F6-4844-8E5E-01EB638FE72B}"/>
              </a:ext>
            </a:extLst>
          </p:cNvPr>
          <p:cNvSpPr/>
          <p:nvPr/>
        </p:nvSpPr>
        <p:spPr>
          <a:xfrm>
            <a:off x="0" y="0"/>
            <a:ext cx="9144000" cy="6858000"/>
          </a:xfrm>
          <a:prstGeom prst="rect">
            <a:avLst/>
          </a:prstGeom>
          <a:solidFill>
            <a:srgbClr val="05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algn="ctr"/>
            <a:endParaRPr lang="en-US" kern="0" dirty="0">
              <a:solidFill>
                <a:schemeClr val="tx1"/>
              </a:solidFill>
            </a:endParaRPr>
          </a:p>
        </p:txBody>
      </p:sp>
    </p:spTree>
    <p:extLst>
      <p:ext uri="{BB962C8B-B14F-4D97-AF65-F5344CB8AC3E}">
        <p14:creationId xmlns:p14="http://schemas.microsoft.com/office/powerpoint/2010/main" val="36533881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2.xml"/><Relationship Id="rId15" Type="http://schemas.openxmlformats.org/officeDocument/2006/relationships/tags" Target="../tags/tag3.xml"/><Relationship Id="rId16" Type="http://schemas.openxmlformats.org/officeDocument/2006/relationships/oleObject" Target="../embeddings/oleObject1.bin"/><Relationship Id="rId17" Type="http://schemas.openxmlformats.org/officeDocument/2006/relationships/image" Target="../media/image2.emf"/><Relationship Id="rId18"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7B823948-C8BC-4DDC-BFA1-F25EE97AD3B3}"/>
              </a:ext>
            </a:extLst>
          </p:cNvPr>
          <p:cNvGraphicFramePr>
            <a:graphicFrameLocks noChangeAspect="1"/>
          </p:cNvGraphicFramePr>
          <p:nvPr>
            <p:custDataLst>
              <p:tags r:id="rId14"/>
            </p:custDataLst>
            <p:extLst>
              <p:ext uri="{D42A27DB-BD31-4B8C-83A1-F6EECF244321}">
                <p14:modId xmlns:p14="http://schemas.microsoft.com/office/powerpoint/2010/main" val="1683187985"/>
              </p:ext>
            </p:extLst>
          </p:nvPr>
        </p:nvGraphicFramePr>
        <p:xfrm>
          <a:off x="1589" y="1642"/>
          <a:ext cx="1587" cy="1587"/>
        </p:xfrm>
        <a:graphic>
          <a:graphicData uri="http://schemas.openxmlformats.org/presentationml/2006/ole">
            <mc:AlternateContent xmlns:mc="http://schemas.openxmlformats.org/markup-compatibility/2006">
              <mc:Choice xmlns:v="urn:schemas-microsoft-com:vml" Requires="v">
                <p:oleObj name="think-cell Slide" r:id="rId16" imgW="270" imgH="270" progId="TCLayout.ActiveDocument.1">
                  <p:embed/>
                </p:oleObj>
              </mc:Choice>
              <mc:Fallback>
                <p:oleObj name="think-cell Slide" r:id="rId16" imgW="270" imgH="270" progId="TCLayout.ActiveDocument.1">
                  <p:embed/>
                  <p:pic>
                    <p:nvPicPr>
                      <p:cNvPr id="9" name="Object 8" hidden="1">
                        <a:extLst>
                          <a:ext uri="{FF2B5EF4-FFF2-40B4-BE49-F238E27FC236}">
                            <a16:creationId xmlns:a16="http://schemas.microsoft.com/office/drawing/2014/main" id="{7B823948-C8BC-4DDC-BFA1-F25EE97AD3B3}"/>
                          </a:ext>
                        </a:extLst>
                      </p:cNvPr>
                      <p:cNvPicPr/>
                      <p:nvPr/>
                    </p:nvPicPr>
                    <p:blipFill>
                      <a:blip r:embed="rId17"/>
                      <a:stretch>
                        <a:fillRect/>
                      </a:stretch>
                    </p:blipFill>
                    <p:spPr>
                      <a:xfrm>
                        <a:off x="1589" y="1642"/>
                        <a:ext cx="1587"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B17F23A7-24A7-497E-BB1F-85A26570FD86}"/>
              </a:ext>
            </a:extLst>
          </p:cNvPr>
          <p:cNvSpPr/>
          <p:nvPr>
            <p:custDataLst>
              <p:tags r:id="rId15"/>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00" b="0" i="0" kern="0" baseline="0" dirty="0">
              <a:solidFill>
                <a:schemeClr val="tx1"/>
              </a:solidFill>
              <a:latin typeface="Calibri" panose="020F0502020204030204" pitchFamily="34" charset="0"/>
              <a:ea typeface="+mj-ea"/>
              <a:cs typeface="+mj-cs"/>
              <a:sym typeface="Calibri" panose="020F0502020204030204" pitchFamily="34" charset="0"/>
            </a:endParaRPr>
          </a:p>
        </p:txBody>
      </p:sp>
      <p:cxnSp>
        <p:nvCxnSpPr>
          <p:cNvPr id="20" name="Straight Connector 19">
            <a:extLst>
              <a:ext uri="{FF2B5EF4-FFF2-40B4-BE49-F238E27FC236}">
                <a16:creationId xmlns:a16="http://schemas.microsoft.com/office/drawing/2014/main" id="{74C370E3-CF6A-4D97-8AD5-089BA3E27527}"/>
              </a:ext>
            </a:extLst>
          </p:cNvPr>
          <p:cNvCxnSpPr/>
          <p:nvPr/>
        </p:nvCxnSpPr>
        <p:spPr>
          <a:xfrm>
            <a:off x="160020" y="562214"/>
            <a:ext cx="882396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1" name="Title Placeholder 1">
            <a:extLst>
              <a:ext uri="{FF2B5EF4-FFF2-40B4-BE49-F238E27FC236}">
                <a16:creationId xmlns:a16="http://schemas.microsoft.com/office/drawing/2014/main" id="{9A985053-DDB2-42CC-9576-256F9E1F73A6}"/>
              </a:ext>
            </a:extLst>
          </p:cNvPr>
          <p:cNvSpPr>
            <a:spLocks noGrp="1"/>
          </p:cNvSpPr>
          <p:nvPr>
            <p:ph type="title"/>
          </p:nvPr>
        </p:nvSpPr>
        <p:spPr>
          <a:xfrm>
            <a:off x="160020" y="81949"/>
            <a:ext cx="8823960" cy="476402"/>
          </a:xfrm>
          <a:prstGeom prst="rect">
            <a:avLst/>
          </a:prstGeom>
        </p:spPr>
        <p:txBody>
          <a:bodyPr vert="horz" lIns="0" tIns="45720" rIns="0" bIns="18288" rtlCol="0" anchor="t" anchorCtr="0">
            <a:noAutofit/>
          </a:bodyPr>
          <a:lstStyle/>
          <a:p>
            <a:pPr marL="0" lvl="0"/>
            <a:r>
              <a:rPr lang="en-US" noProof="0" dirty="0"/>
              <a:t>SLIDE TITLE</a:t>
            </a:r>
          </a:p>
        </p:txBody>
      </p:sp>
      <p:cxnSp>
        <p:nvCxnSpPr>
          <p:cNvPr id="22" name="Straight Connector 21">
            <a:extLst>
              <a:ext uri="{FF2B5EF4-FFF2-40B4-BE49-F238E27FC236}">
                <a16:creationId xmlns:a16="http://schemas.microsoft.com/office/drawing/2014/main" id="{48527956-E83A-47E0-A8F0-987241010AAF}"/>
              </a:ext>
            </a:extLst>
          </p:cNvPr>
          <p:cNvCxnSpPr>
            <a:cxnSpLocks/>
          </p:cNvCxnSpPr>
          <p:nvPr/>
        </p:nvCxnSpPr>
        <p:spPr>
          <a:xfrm>
            <a:off x="454491" y="6598136"/>
            <a:ext cx="8275320" cy="0"/>
          </a:xfrm>
          <a:prstGeom prst="line">
            <a:avLst/>
          </a:prstGeom>
          <a:ln w="9525">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3" name="Footer Placeholder 9">
            <a:extLst>
              <a:ext uri="{FF2B5EF4-FFF2-40B4-BE49-F238E27FC236}">
                <a16:creationId xmlns:a16="http://schemas.microsoft.com/office/drawing/2014/main" id="{220D5230-216B-47C2-AEBB-D8CFF7840A15}"/>
              </a:ext>
            </a:extLst>
          </p:cNvPr>
          <p:cNvSpPr>
            <a:spLocks noGrp="1"/>
          </p:cNvSpPr>
          <p:nvPr>
            <p:ph type="ftr" sz="quarter" idx="3"/>
          </p:nvPr>
        </p:nvSpPr>
        <p:spPr>
          <a:xfrm>
            <a:off x="444968" y="6498625"/>
            <a:ext cx="2514600" cy="221599"/>
          </a:xfrm>
          <a:prstGeom prst="rect">
            <a:avLst/>
          </a:prstGeom>
          <a:noFill/>
        </p:spPr>
        <p:txBody>
          <a:bodyPr vert="horz" wrap="square" lIns="0" tIns="18288" rIns="0" bIns="18288" rtlCol="0" anchor="ctr">
            <a:spAutoFit/>
          </a:bodyPr>
          <a:lstStyle>
            <a:lvl1pPr marL="0" indent="0" algn="l">
              <a:buClr>
                <a:schemeClr val="accent1"/>
              </a:buClr>
              <a:buFont typeface="Wingdings 3" pitchFamily="18" charset="2"/>
              <a:buNone/>
              <a:defRPr lang="en-US" sz="600" u="none" strike="noStrike" kern="0" cap="all" spc="100" baseline="0" dirty="0">
                <a:solidFill>
                  <a:schemeClr val="accent2"/>
                </a:solidFill>
                <a:uFill>
                  <a:solidFill>
                    <a:schemeClr val="tx2"/>
                  </a:solidFill>
                </a:uFill>
                <a:latin typeface="+mj-lt"/>
                <a:ea typeface="+mn-ea"/>
                <a:cs typeface="+mn-cs"/>
              </a:defRPr>
            </a:lvl1pPr>
          </a:lstStyle>
          <a:p>
            <a:r>
              <a:rPr lang="en-US" dirty="0"/>
              <a:t>FOOTER ALL CAP</a:t>
            </a:r>
          </a:p>
        </p:txBody>
      </p:sp>
      <p:sp>
        <p:nvSpPr>
          <p:cNvPr id="24" name="Slide Number Placeholder 2">
            <a:extLst>
              <a:ext uri="{FF2B5EF4-FFF2-40B4-BE49-F238E27FC236}">
                <a16:creationId xmlns:a16="http://schemas.microsoft.com/office/drawing/2014/main" id="{BEEB6E2A-1563-43CE-9948-D57D6580BB7D}"/>
              </a:ext>
            </a:extLst>
          </p:cNvPr>
          <p:cNvSpPr>
            <a:spLocks noGrp="1"/>
          </p:cNvSpPr>
          <p:nvPr>
            <p:ph type="sldNum" sz="quarter" idx="4"/>
          </p:nvPr>
        </p:nvSpPr>
        <p:spPr>
          <a:xfrm>
            <a:off x="8756374" y="6529556"/>
            <a:ext cx="227606" cy="137160"/>
          </a:xfrm>
          <a:prstGeom prst="rect">
            <a:avLst/>
          </a:prstGeom>
        </p:spPr>
        <p:txBody>
          <a:bodyPr vert="horz" lIns="0" tIns="18288" rIns="0" bIns="18288" rtlCol="0" anchor="ctr"/>
          <a:lstStyle>
            <a:lvl1pPr algn="r">
              <a:defRPr lang="en-US" sz="650" smtClean="0">
                <a:solidFill>
                  <a:schemeClr val="accent2">
                    <a:lumMod val="75000"/>
                  </a:schemeClr>
                </a:solidFill>
                <a:latin typeface="+mj-lt"/>
              </a:defRPr>
            </a:lvl1pPr>
          </a:lstStyle>
          <a:p>
            <a:fld id="{C094185C-1F9E-4EDB-A688-258533A03247}" type="slidenum">
              <a:rPr lang="en-US" smtClean="0"/>
              <a:pPr/>
              <a:t>‹#›</a:t>
            </a:fld>
            <a:endParaRPr lang="en-US" dirty="0"/>
          </a:p>
        </p:txBody>
      </p:sp>
      <p:sp>
        <p:nvSpPr>
          <p:cNvPr id="25" name="Rectangle 24">
            <a:extLst>
              <a:ext uri="{FF2B5EF4-FFF2-40B4-BE49-F238E27FC236}">
                <a16:creationId xmlns:a16="http://schemas.microsoft.com/office/drawing/2014/main" id="{E4483F20-0475-4D46-92FD-A1A83EB07A63}"/>
              </a:ext>
            </a:extLst>
          </p:cNvPr>
          <p:cNvSpPr/>
          <p:nvPr/>
        </p:nvSpPr>
        <p:spPr>
          <a:xfrm>
            <a:off x="3207581" y="6630196"/>
            <a:ext cx="2728838" cy="1096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spc="200" dirty="0" b="0">
                <a:solidFill>
                  <a:schemeClr val="accent2"/>
                </a:solidFill>
                <a:latin typeface="+mj-lt"/>
                <a:cs typeface="Times New Roman" panose="02020603050405020304" pitchFamily="18" charset="0"/>
              </a:rPr>
              <a:t>PRIVATE AND CONFIDENTIAL</a:t>
            </a:r>
          </a:p>
        </p:txBody>
      </p:sp>
    </p:spTree>
    <p:extLst>
      <p:ext uri="{BB962C8B-B14F-4D97-AF65-F5344CB8AC3E}">
        <p14:creationId xmlns:p14="http://schemas.microsoft.com/office/powerpoint/2010/main" val="18506789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290" rtl="0" eaLnBrk="1" latinLnBrk="0" hangingPunct="1">
        <a:spcBef>
          <a:spcPct val="0"/>
        </a:spcBef>
        <a:buNone/>
        <a:tabLst>
          <a:tab pos="457200" algn="l"/>
        </a:tabLst>
        <a:defRPr lang="en-US" sz="2200" kern="0" cap="all" spc="0" baseline="0" dirty="0">
          <a:solidFill>
            <a:schemeClr val="tx1"/>
          </a:solidFill>
          <a:latin typeface="+mj-lt"/>
          <a:ea typeface="+mj-ea"/>
          <a:cs typeface="+mj-cs"/>
        </a:defRPr>
      </a:lvl1pPr>
    </p:titleStyle>
    <p:bodyStyle>
      <a:lvl1pPr marL="171450" indent="-171450" algn="l" defTabSz="914290" rtl="0" eaLnBrk="1" latinLnBrk="0" hangingPunct="1">
        <a:lnSpc>
          <a:spcPct val="100000"/>
        </a:lnSpc>
        <a:spcBef>
          <a:spcPts val="0"/>
        </a:spcBef>
        <a:spcAft>
          <a:spcPts val="1200"/>
        </a:spcAft>
        <a:buClr>
          <a:srgbClr val="808080"/>
        </a:buClr>
        <a:buSzPct val="100000"/>
        <a:buFont typeface="Wingdings" panose="05000000000000000000" pitchFamily="2" charset="2"/>
        <a:buChar char="§"/>
        <a:defRPr sz="1800" kern="0" spc="0" baseline="0">
          <a:solidFill>
            <a:srgbClr val="C0C0C0"/>
          </a:solidFill>
          <a:latin typeface="Calibri" panose="020F0502020204030204" pitchFamily="34" charset="0"/>
          <a:ea typeface="+mn-ea"/>
          <a:cs typeface="+mn-cs"/>
        </a:defRPr>
      </a:lvl1pPr>
      <a:lvl2pPr marL="4000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2pPr>
      <a:lvl3pPr marL="5715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3pPr>
      <a:lvl4pPr marL="7429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4pPr>
      <a:lvl5pPr marL="9144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5pPr>
      <a:lvl6pPr marL="2514298"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3"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89"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4"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90" rtl="0" eaLnBrk="1" latinLnBrk="0" hangingPunct="1">
        <a:defRPr sz="1800" kern="1200">
          <a:solidFill>
            <a:schemeClr val="tx1"/>
          </a:solidFill>
          <a:latin typeface="+mn-lt"/>
          <a:ea typeface="+mn-ea"/>
          <a:cs typeface="+mn-cs"/>
        </a:defRPr>
      </a:lvl1pPr>
      <a:lvl2pPr marL="457145" algn="l" defTabSz="914290" rtl="0" eaLnBrk="1" latinLnBrk="0" hangingPunct="1">
        <a:defRPr sz="1800" kern="1200">
          <a:solidFill>
            <a:schemeClr val="tx1"/>
          </a:solidFill>
          <a:latin typeface="+mn-lt"/>
          <a:ea typeface="+mn-ea"/>
          <a:cs typeface="+mn-cs"/>
        </a:defRPr>
      </a:lvl2pPr>
      <a:lvl3pPr marL="914290" algn="l" defTabSz="914290" rtl="0" eaLnBrk="1" latinLnBrk="0" hangingPunct="1">
        <a:defRPr sz="1800" kern="1200">
          <a:solidFill>
            <a:schemeClr val="tx1"/>
          </a:solidFill>
          <a:latin typeface="+mn-lt"/>
          <a:ea typeface="+mn-ea"/>
          <a:cs typeface="+mn-cs"/>
        </a:defRPr>
      </a:lvl3pPr>
      <a:lvl4pPr marL="1371435" algn="l" defTabSz="914290" rtl="0" eaLnBrk="1" latinLnBrk="0" hangingPunct="1">
        <a:defRPr sz="1800" kern="1200">
          <a:solidFill>
            <a:schemeClr val="tx1"/>
          </a:solidFill>
          <a:latin typeface="+mn-lt"/>
          <a:ea typeface="+mn-ea"/>
          <a:cs typeface="+mn-cs"/>
        </a:defRPr>
      </a:lvl4pPr>
      <a:lvl5pPr marL="1828581" algn="l" defTabSz="914290" rtl="0" eaLnBrk="1" latinLnBrk="0" hangingPunct="1">
        <a:defRPr sz="1800" kern="1200">
          <a:solidFill>
            <a:schemeClr val="tx1"/>
          </a:solidFill>
          <a:latin typeface="+mn-lt"/>
          <a:ea typeface="+mn-ea"/>
          <a:cs typeface="+mn-cs"/>
        </a:defRPr>
      </a:lvl5pPr>
      <a:lvl6pPr marL="2285726" algn="l" defTabSz="914290" rtl="0" eaLnBrk="1" latinLnBrk="0" hangingPunct="1">
        <a:defRPr sz="1800" kern="1200">
          <a:solidFill>
            <a:schemeClr val="tx1"/>
          </a:solidFill>
          <a:latin typeface="+mn-lt"/>
          <a:ea typeface="+mn-ea"/>
          <a:cs typeface="+mn-cs"/>
        </a:defRPr>
      </a:lvl6pPr>
      <a:lvl7pPr marL="2742871" algn="l" defTabSz="914290" rtl="0" eaLnBrk="1" latinLnBrk="0" hangingPunct="1">
        <a:defRPr sz="1800" kern="1200">
          <a:solidFill>
            <a:schemeClr val="tx1"/>
          </a:solidFill>
          <a:latin typeface="+mn-lt"/>
          <a:ea typeface="+mn-ea"/>
          <a:cs typeface="+mn-cs"/>
        </a:defRPr>
      </a:lvl7pPr>
      <a:lvl8pPr marL="3200016" algn="l" defTabSz="914290" rtl="0" eaLnBrk="1" latinLnBrk="0" hangingPunct="1">
        <a:defRPr sz="1800" kern="1200">
          <a:solidFill>
            <a:schemeClr val="tx1"/>
          </a:solidFill>
          <a:latin typeface="+mn-lt"/>
          <a:ea typeface="+mn-ea"/>
          <a:cs typeface="+mn-cs"/>
        </a:defRPr>
      </a:lvl8pPr>
      <a:lvl9pPr marL="3657161" algn="l" defTabSz="91429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tags" Target="../tags/tag25.xml"/><Relationship Id="rId3" Type="http://schemas.openxmlformats.org/officeDocument/2006/relationships/slideLayout" Target="../slideLayouts/slideLayout2.xml"/><Relationship Id="rId4" Type="http://schemas.openxmlformats.org/officeDocument/2006/relationships/oleObject" Target="../embeddings/oleObject11.bin"/><Relationship Id="rId5" Type="http://schemas.openxmlformats.org/officeDocument/2006/relationships/image" Target="../media/image7.emf"/></Relationships>
</file>

<file path=ppt/slides/_rels/slide3.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2.xml"/><Relationship Id="rId4" Type="http://schemas.openxmlformats.org/officeDocument/2006/relationships/oleObject" Target="../embeddings/oleObject11.bin"/><Relationship Id="rId5" Type="http://schemas.openxmlformats.org/officeDocument/2006/relationships/image" Target="../media/image7.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2.xml"/><Relationship Id="rId4" Type="http://schemas.openxmlformats.org/officeDocument/2006/relationships/oleObject" Target="../embeddings/oleObject11.bin"/><Relationship Id="rId5" Type="http://schemas.openxmlformats.org/officeDocument/2006/relationships/image" Target="../media/image7.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tags" Target="../tags/tag29.xml"/><Relationship Id="rId3" Type="http://schemas.openxmlformats.org/officeDocument/2006/relationships/slideLayout" Target="../slideLayouts/slideLayout2.xml"/><Relationship Id="rId4" Type="http://schemas.openxmlformats.org/officeDocument/2006/relationships/oleObject" Target="../embeddings/oleObject11.bin"/><Relationship Id="rId5"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E7EFDC-4E40-94F6-AB49-939349067C8F}"/>
              </a:ext>
            </a:extLst>
          </p:cNvPr>
          <p:cNvSpPr>
            <a:spLocks noGrp="1"/>
          </p:cNvSpPr>
          <p:nvPr>
            <p:ph type="ctrTitle"/>
          </p:nvPr>
        </p:nvSpPr>
        <p:spPr>
          <a:xfrm>
            <a:off x="4689446" y="4590288"/>
            <a:ext cx="4016136" cy="615553"/>
          </a:xfrm>
        </p:spPr>
        <p:txBody>
          <a:bodyPr/>
          <a:lstStyle/>
          <a:p>
            <a:r>
              <a:rPr lang="en-US" sz="2800" dirty="0" b="0" u="none"/>
              <a:t>Hospitality Software Venture</a:t>
            </a:r>
          </a:p>
        </p:txBody>
      </p:sp>
      <p:sp>
        <p:nvSpPr>
          <p:cNvPr id="7" name="Subtitle 1">
            <a:extLst>
              <a:ext uri="{FF2B5EF4-FFF2-40B4-BE49-F238E27FC236}">
                <a16:creationId xmlns:a16="http://schemas.microsoft.com/office/drawing/2014/main" id="{00A3B977-BC21-8C9F-E827-9395C32A79CC}"/>
              </a:ext>
            </a:extLst>
          </p:cNvPr>
          <p:cNvSpPr>
            <a:spLocks noGrp="1"/>
          </p:cNvSpPr>
          <p:nvPr>
            <p:ph type="subTitle" idx="1"/>
          </p:nvPr>
        </p:nvSpPr>
        <p:spPr>
          <a:xfrm>
            <a:off x="3631979" y="5230368"/>
            <a:ext cx="5073603" cy="1481328"/>
          </a:xfrm>
        </p:spPr>
        <p:txBody>
          <a:bodyPr/>
          <a:lstStyle/>
          <a:p>
            <a:pPr>
              <a:spcBef>
                <a:spcPts val="100"/>
              </a:spcBef>
              <a:spcAft>
                <a:spcPts val="100"/>
              </a:spcAft>
            </a:pPr>
            <a:r>
              <a:rPr lang="en-US" dirty="0" b="0" u="none"/>
              <a:t>September 2026</a:t>
            </a:r>
          </a:p>
          <a:p>
            <a:pPr>
              <a:spcBef>
                <a:spcPts val="100"/>
              </a:spcBef>
              <a:spcAft>
                <a:spcPts val="100"/>
              </a:spcAft>
            </a:pPr>
            <a:r>
              <a:rPr lang="en-US" dirty="0" b="0" u="none"/>
              <a:t>Concept: Owner-Side Capex Intelligence</a:t>
            </a:r>
          </a:p>
          <a:p>
            <a:pPr>
              <a:spcBef>
                <a:spcPts val="100"/>
              </a:spcBef>
              <a:spcAft>
                <a:spcPts val="100"/>
              </a:spcAft>
            </a:pPr>
            <a:r>
              <a:rPr lang="en-US" dirty="0" b="0" u="none"/>
              <a:t>Stage: Pre-Seed, Pre-Product</a:t>
            </a:r>
          </a:p>
          <a:p>
            <a:pPr>
              <a:spcBef>
                <a:spcPts val="100"/>
              </a:spcBef>
              <a:spcAft>
                <a:spcPts val="100"/>
              </a:spcAft>
            </a:pPr>
            <a:r>
              <a:rPr lang="en-US" dirty="0" b="0" u="none"/>
              <a:t>For: Cofounder and Seed Discussion</a:t>
            </a:r>
          </a:p>
        </p:txBody>
      </p:sp>
    </p:spTree>
    <p:extLst>
      <p:ext uri="{BB962C8B-B14F-4D97-AF65-F5344CB8AC3E}">
        <p14:creationId xmlns:p14="http://schemas.microsoft.com/office/powerpoint/2010/main" val="2295084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6E4FF-2710-4173-1E9A-F083BAEE25BB}"/>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2ACC2D8-CA5C-70A6-23A3-1EF5881997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5" name="Object 4" hidden="1">
                        <a:extLst>
                          <a:ext uri="{FF2B5EF4-FFF2-40B4-BE49-F238E27FC236}">
                            <a16:creationId xmlns:a16="http://schemas.microsoft.com/office/drawing/2014/main" id="{B2ACC2D8-CA5C-70A6-23A3-1EF5881997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1D4510E-4426-5164-E0F8-F72A7ACA96EC}"/>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kern="0" dirty="0">
              <a:solidFill>
                <a:schemeClr val="tx1"/>
              </a:solidFill>
              <a:latin typeface="Calibri" panose="020F0502020204030204" pitchFamily="34" charset="0"/>
              <a:ea typeface="+mj-ea"/>
              <a:cs typeface="+mj-cs"/>
              <a:sym typeface="Calibri" panose="020F0502020204030204" pitchFamily="34" charset="0"/>
            </a:endParaRPr>
          </a:p>
        </p:txBody>
      </p:sp>
      <p:sp>
        <p:nvSpPr>
          <p:cNvPr id="4" name="Title 3">
            <a:extLst>
              <a:ext uri="{FF2B5EF4-FFF2-40B4-BE49-F238E27FC236}">
                <a16:creationId xmlns:a16="http://schemas.microsoft.com/office/drawing/2014/main" id="{6F50289E-2640-E738-3888-8F5C12B21F41}"/>
              </a:ext>
            </a:extLst>
          </p:cNvPr>
          <p:cNvSpPr>
            <a:spLocks noGrp="1"/>
          </p:cNvSpPr>
          <p:nvPr>
            <p:ph type="title"/>
          </p:nvPr>
        </p:nvSpPr>
        <p:spPr/>
        <p:txBody>
          <a:bodyPr/>
          <a:lstStyle/>
          <a:p>
            <a:r>
              <a:rPr lang="en-US" dirty="0"/>
              <a:t>Executive summary</a:t>
            </a:r>
          </a:p>
        </p:txBody>
      </p:sp>
      <p:sp>
        <p:nvSpPr>
          <p:cNvPr id="11" name="Slide Number Placeholder 1">
            <a:extLst>
              <a:ext uri="{FF2B5EF4-FFF2-40B4-BE49-F238E27FC236}">
                <a16:creationId xmlns:a16="http://schemas.microsoft.com/office/drawing/2014/main" id="{DD5706FC-B3C8-207D-C2FE-79D6F85E4792}"/>
              </a:ext>
            </a:extLst>
          </p:cNvPr>
          <p:cNvSpPr>
            <a:spLocks noGrp="1"/>
          </p:cNvSpPr>
          <p:nvPr>
            <p:ph type="sldNum" sz="quarter" idx="4"/>
          </p:nvPr>
        </p:nvSpPr>
        <p:spPr>
          <a:xfrm>
            <a:off x="8756374" y="6529556"/>
            <a:ext cx="227606" cy="137160"/>
          </a:xfrm>
        </p:spPr>
        <p:txBody>
          <a:bodyPr/>
          <a:lstStyle/>
          <a:p>
            <a:fld id="{C094185C-1F9E-4EDB-A688-258533A03247}" type="slidenum">
              <a:rPr lang="en-US" smtClean="0"/>
              <a:pPr/>
              <a:t>2</a:t>
            </a:fld>
            <a:endParaRPr lang="en-US" dirty="0"/>
          </a:p>
        </p:txBody>
      </p:sp>
      <p:graphicFrame>
        <p:nvGraphicFramePr>
          <p:cNvPr id="6" name="Table 5">
            <a:extLst>
              <a:ext uri="{FF2B5EF4-FFF2-40B4-BE49-F238E27FC236}">
                <a16:creationId xmlns:a16="http://schemas.microsoft.com/office/drawing/2014/main" id="{173775AC-DCDA-2DA5-711C-C9E2A719985A}"/>
              </a:ext>
            </a:extLst>
          </p:cNvPr>
          <p:cNvGraphicFramePr>
            <a:graphicFrameLocks noGrp="1"/>
          </p:cNvGraphicFramePr>
          <p:nvPr>
            <p:extLst>
              <p:ext uri="{D42A27DB-BD31-4B8C-83A1-F6EECF244321}">
                <p14:modId xmlns:p14="http://schemas.microsoft.com/office/powerpoint/2010/main" val="3192557236"/>
              </p:ext>
            </p:extLst>
          </p:nvPr>
        </p:nvGraphicFramePr>
        <p:xfrm>
          <a:off x="160021" y="602233"/>
          <a:ext cx="8823959" cy="2307222"/>
        </p:xfrm>
        <a:graphic>
          <a:graphicData uri="http://schemas.openxmlformats.org/drawingml/2006/table">
            <a:tbl>
              <a:tblPr bandRow="1">
                <a:tableStyleId>{0E3FDE45-AF77-4B5C-9715-49D594BDF05E}</a:tableStyleId>
              </a:tblPr>
              <a:tblGrid>
                <a:gridCol w="1278425">
                  <a:extLst>
                    <a:ext uri="{9D8B030D-6E8A-4147-A177-3AD203B41FA5}">
                      <a16:colId xmlns:a16="http://schemas.microsoft.com/office/drawing/2014/main" val="1479029980"/>
                    </a:ext>
                  </a:extLst>
                </a:gridCol>
                <a:gridCol w="3113879">
                  <a:extLst>
                    <a:ext uri="{9D8B030D-6E8A-4147-A177-3AD203B41FA5}">
                      <a16:colId xmlns:a16="http://schemas.microsoft.com/office/drawing/2014/main" val="3650010185"/>
                    </a:ext>
                  </a:extLst>
                </a:gridCol>
                <a:gridCol w="1187109">
                  <a:extLst>
                    <a:ext uri="{9D8B030D-6E8A-4147-A177-3AD203B41FA5}">
                      <a16:colId xmlns:a16="http://schemas.microsoft.com/office/drawing/2014/main" val="584053601"/>
                    </a:ext>
                  </a:extLst>
                </a:gridCol>
                <a:gridCol w="3244546">
                  <a:extLst>
                    <a:ext uri="{9D8B030D-6E8A-4147-A177-3AD203B41FA5}">
                      <a16:colId xmlns:a16="http://schemas.microsoft.com/office/drawing/2014/main" val="3210309449"/>
                    </a:ext>
                  </a:extLst>
                </a:gridCol>
              </a:tblGrid>
              <a:tr h="256358">
                <a:tc gridSpan="4">
                  <a:txBody>
                    <a:bodyPr/>
                    <a:lstStyle/>
                    <a:p>
                      <a:pPr algn="l"/>
                      <a:r>
                        <a:rPr lang="en-US" sz="1000" b="1" dirty="0" u="none">
                          <a:solidFill>
                            <a:srgbClr val="FFFFFF"/>
                          </a:solidFill>
                          <a:latin typeface="Calibri"/>
                        </a:rPr>
                        <a:t>Concept summary</a:t>
                      </a:r>
                    </a:p>
                  </a:txBody>
                  <a:tcPr anchor="ctr" marL="45720" marR="45720" marT="9144" marB="9144">
                    <a:solidFill>
                      <a:srgbClr val="0E2E51"/>
                    </a:solidFill>
                  </a:tcPr>
                </a:tc>
                <a:tc hMerge="1">
                  <a:txBody>
                    <a:bodyPr/>
                    <a:lstStyle/>
                    <a:p>
                      <a:pPr algn="ctr"/>
                      <a:r>
                        <a:rPr sz="1000" b="1">
                          <a:solidFill>
                            <a:srgbClr val="FFFFFF"/>
                          </a:solidFill>
                          <a:latin typeface="Calibri"/>
                        </a:rPr>
                        <a:t/>
                      </a:r>
                      <a:endParaRPr lang="en-US" sz="800" dirty="0"/>
                    </a:p>
                  </a:txBody>
                  <a:tcPr anchor="ctr" marL="45720" marR="45720" marT="9144" marB="9144">
                    <a:solidFill>
                      <a:srgbClr val="0E2E51"/>
                    </a:solidFill>
                  </a:tcPr>
                </a:tc>
                <a:tc hMerge="1">
                  <a:txBody>
                    <a:bodyPr/>
                    <a:lstStyle/>
                    <a:p>
                      <a:pPr algn="ctr"/>
                      <a:r>
                        <a:rPr sz="1000" b="1">
                          <a:solidFill>
                            <a:srgbClr val="FFFFFF"/>
                          </a:solidFill>
                          <a:latin typeface="Calibri"/>
                        </a:rPr>
                        <a:t/>
                      </a:r>
                      <a:endParaRPr lang="en-US" sz="800" dirty="0"/>
                    </a:p>
                  </a:txBody>
                  <a:tcPr anchor="ctr" marL="45720" marR="45720" marT="9144" marB="9144">
                    <a:solidFill>
                      <a:srgbClr val="0E2E51"/>
                    </a:solidFill>
                  </a:tcPr>
                </a:tc>
                <a:tc hMerge="1">
                  <a:txBody>
                    <a:bodyPr/>
                    <a:lstStyle/>
                    <a:p>
                      <a:pPr algn="ctr"/>
                      <a:r>
                        <a:rPr sz="1000" b="1">
                          <a:solidFill>
                            <a:srgbClr val="FFFFFF"/>
                          </a:solidFill>
                          <a:latin typeface="Calibri"/>
                        </a:rPr>
                        <a:t/>
                      </a:r>
                      <a:endParaRPr lang="en-US"/>
                    </a:p>
                  </a:txBody>
                  <a:tcPr anchor="ctr" marL="45720" marR="45720" marT="9144" marB="9144">
                    <a:solidFill>
                      <a:srgbClr val="0E2E51"/>
                    </a:solidFill>
                  </a:tcPr>
                </a:tc>
                <a:extLst>
                  <a:ext uri="{0D108BD9-81ED-4DB2-BD59-A6C34878D82A}">
                    <a16:rowId xmlns:a16="http://schemas.microsoft.com/office/drawing/2014/main" val="1189029822"/>
                  </a:ext>
                </a:extLst>
              </a:tr>
              <a:tr h="256358">
                <a:tc>
                  <a:txBody>
                    <a:bodyPr/>
                    <a:lstStyle/>
                    <a:p>
                      <a:pPr algn="l"/>
                      <a:r>
                        <a:rPr lang="en-US" sz="1000" b="1" dirty="0" u="none">
                          <a:solidFill>
                            <a:srgbClr val="080808"/>
                          </a:solidFill>
                          <a:latin typeface="Calibri"/>
                        </a:rPr>
                        <a:t>Concept:</a:t>
                      </a:r>
                    </a:p>
                  </a:txBody>
                  <a:tcPr anchor="ctr" marL="45720" marR="45720" marT="9144" marB="9144">
                    <a:noFill/>
                  </a:tcPr>
                </a:tc>
                <a:tc>
                  <a:txBody>
                    <a:bodyPr/>
                    <a:lstStyle/>
                    <a:p>
                      <a:pPr algn="l"/>
                      <a:r>
                        <a:rPr lang="en-US" sz="1000" dirty="0" b="0" u="none">
                          <a:solidFill>
                            <a:srgbClr val="080808"/>
                          </a:solidFill>
                          <a:latin typeface="Calibri"/>
                        </a:rPr>
                        <a:t>Live capex and PIP cost benchmarking</a:t>
                      </a:r>
                    </a:p>
                  </a:txBody>
                  <a:tcPr anchor="ctr" marL="45720" marR="45720" marT="9144" marB="9144">
                    <a:noFill/>
                  </a:tcPr>
                </a:tc>
                <a:tc>
                  <a:txBody>
                    <a:bodyPr/>
                    <a:lstStyle/>
                    <a:p>
                      <a:pPr algn="l"/>
                      <a:r>
                        <a:rPr lang="en-US" sz="1000" b="1" dirty="0" u="none">
                          <a:solidFill>
                            <a:srgbClr val="080808"/>
                          </a:solidFill>
                          <a:latin typeface="Calibri"/>
                        </a:rPr>
                        <a:t>Primary Buyer:</a:t>
                      </a:r>
                    </a:p>
                  </a:txBody>
                  <a:tcPr anchor="ctr" marL="45720" marR="45720" marT="9144" marB="9144">
                    <a:noFill/>
                  </a:tcPr>
                </a:tc>
                <a:tc>
                  <a:txBody>
                    <a:bodyPr/>
                    <a:lstStyle/>
                    <a:p>
                      <a:pPr algn="l"/>
                      <a:r>
                        <a:rPr lang="en-US" sz="1000" dirty="0" b="0" u="none">
                          <a:solidFill>
                            <a:srgbClr val="080808"/>
                          </a:solidFill>
                          <a:latin typeface="Calibri"/>
                        </a:rPr>
                        <a:t>Owners, lenders, brokers, brands</a:t>
                      </a:r>
                    </a:p>
                  </a:txBody>
                  <a:tcPr anchor="ctr" marL="45720" marR="45720" marT="9144" marB="9144">
                    <a:noFill/>
                  </a:tcPr>
                </a:tc>
                <a:extLst>
                  <a:ext uri="{0D108BD9-81ED-4DB2-BD59-A6C34878D82A}">
                    <a16:rowId xmlns:a16="http://schemas.microsoft.com/office/drawing/2014/main" val="3375101181"/>
                  </a:ext>
                </a:extLst>
              </a:tr>
              <a:tr h="256358">
                <a:tc>
                  <a:txBody>
                    <a:bodyPr/>
                    <a:lstStyle/>
                    <a:p>
                      <a:pPr algn="l"/>
                      <a:r>
                        <a:rPr lang="en-US" sz="1000" b="1" dirty="0" u="none">
                          <a:solidFill>
                            <a:srgbClr val="080808"/>
                          </a:solidFill>
                          <a:latin typeface="Calibri"/>
                        </a:rPr>
                        <a:t>Wedge:</a:t>
                      </a:r>
                    </a:p>
                  </a:txBody>
                  <a:tcPr anchor="ctr" marL="45720" marR="45720" marT="9144" marB="9144">
                    <a:solidFill>
                      <a:srgbClr val="ECEEF0"/>
                    </a:solidFill>
                  </a:tcPr>
                </a:tc>
                <a:tc>
                  <a:txBody>
                    <a:bodyPr/>
                    <a:lstStyle/>
                    <a:p>
                      <a:pPr algn="l"/>
                      <a:r>
                        <a:rPr lang="en-US" sz="1000" dirty="0" b="0" u="none">
                          <a:solidFill>
                            <a:srgbClr val="080808"/>
                          </a:solidFill>
                          <a:latin typeface="Calibri"/>
                        </a:rPr>
                        <a:t>No queryable capex benchmark exists</a:t>
                      </a:r>
                    </a:p>
                  </a:txBody>
                  <a:tcPr anchor="ctr" marL="45720" marR="45720" marT="9144" marB="9144">
                    <a:solidFill>
                      <a:srgbClr val="ECEEF0"/>
                    </a:solidFill>
                  </a:tcPr>
                </a:tc>
                <a:tc>
                  <a:txBody>
                    <a:bodyPr/>
                    <a:lstStyle/>
                    <a:p>
                      <a:pPr algn="l"/>
                      <a:r>
                        <a:rPr lang="en-US" sz="1000" b="1" dirty="0" u="none">
                          <a:solidFill>
                            <a:srgbClr val="080808"/>
                          </a:solidFill>
                          <a:latin typeface="Calibri"/>
                        </a:rPr>
                        <a:t>Addressable Entities:</a:t>
                      </a:r>
                    </a:p>
                  </a:txBody>
                  <a:tcPr anchor="ctr" marL="45720" marR="45720" marT="9144" marB="9144">
                    <a:solidFill>
                      <a:srgbClr val="ECEEF0"/>
                    </a:solidFill>
                  </a:tcPr>
                </a:tc>
                <a:tc>
                  <a:txBody>
                    <a:bodyPr/>
                    <a:lstStyle/>
                    <a:p>
                      <a:pPr algn="l"/>
                      <a:r>
                        <a:rPr lang="en-US" sz="1000" dirty="0" b="0" u="none">
                          <a:solidFill>
                            <a:srgbClr val="080808"/>
                          </a:solidFill>
                          <a:latin typeface="Calibri"/>
                        </a:rPr>
                        <a:t>2,810 US entities</a:t>
                      </a:r>
                    </a:p>
                  </a:txBody>
                  <a:tcPr anchor="ctr" marL="45720" marR="45720" marT="9144" marB="9144">
                    <a:solidFill>
                      <a:srgbClr val="ECEEF0"/>
                    </a:solidFill>
                  </a:tcPr>
                </a:tc>
                <a:extLst>
                  <a:ext uri="{0D108BD9-81ED-4DB2-BD59-A6C34878D82A}">
                    <a16:rowId xmlns:a16="http://schemas.microsoft.com/office/drawing/2014/main" val="2411007271"/>
                  </a:ext>
                </a:extLst>
              </a:tr>
              <a:tr h="256358">
                <a:tc>
                  <a:txBody>
                    <a:bodyPr/>
                    <a:lstStyle/>
                    <a:p>
                      <a:pPr algn="l"/>
                      <a:r>
                        <a:rPr lang="en-US" sz="1000" b="1" dirty="0" u="none">
                          <a:solidFill>
                            <a:srgbClr val="080808"/>
                          </a:solidFill>
                          <a:latin typeface="Calibri"/>
                        </a:rPr>
                        <a:t>Model:</a:t>
                      </a:r>
                    </a:p>
                  </a:txBody>
                  <a:tcPr anchor="ctr" marL="45720" marR="45720" marT="9144" marB="9144">
                    <a:noFill/>
                  </a:tcPr>
                </a:tc>
                <a:tc>
                  <a:txBody>
                    <a:bodyPr/>
                    <a:lstStyle/>
                    <a:p>
                      <a:pPr algn="l"/>
                      <a:r>
                        <a:rPr lang="en-US" sz="1000" dirty="0" b="0" u="none">
                          <a:solidFill>
                            <a:srgbClr val="080808"/>
                          </a:solidFill>
                          <a:latin typeface="Calibri"/>
                        </a:rPr>
                        <a:t>Annual data subscription</a:t>
                      </a:r>
                    </a:p>
                  </a:txBody>
                  <a:tcPr anchor="ctr" marL="45720" marR="45720" marT="9144" marB="9144">
                    <a:noFill/>
                  </a:tcPr>
                </a:tc>
                <a:tc>
                  <a:txBody>
                    <a:bodyPr/>
                    <a:lstStyle/>
                    <a:p>
                      <a:pPr algn="l"/>
                      <a:r>
                        <a:rPr lang="en-US" sz="1000" b="1" dirty="0" u="none">
                          <a:solidFill>
                            <a:srgbClr val="080808"/>
                          </a:solidFill>
                          <a:latin typeface="Calibri"/>
                        </a:rPr>
                        <a:t>Blended ACV:</a:t>
                      </a:r>
                    </a:p>
                  </a:txBody>
                  <a:tcPr anchor="ctr" marL="45720" marR="45720" marT="9144" marB="9144">
                    <a:noFill/>
                  </a:tcPr>
                </a:tc>
                <a:tc>
                  <a:txBody>
                    <a:bodyPr/>
                    <a:lstStyle/>
                    <a:p>
                      <a:pPr algn="l"/>
                      <a:r>
                        <a:rPr lang="en-US" sz="1000" dirty="0" b="0" u="none">
                          <a:solidFill>
                            <a:srgbClr val="080808"/>
                          </a:solidFill>
                          <a:latin typeface="Calibri"/>
                        </a:rPr>
                        <a:t>$32,000</a:t>
                      </a:r>
                    </a:p>
                  </a:txBody>
                  <a:tcPr anchor="ctr" marL="45720" marR="45720" marT="9144" marB="9144">
                    <a:noFill/>
                  </a:tcPr>
                </a:tc>
                <a:extLst>
                  <a:ext uri="{0D108BD9-81ED-4DB2-BD59-A6C34878D82A}">
                    <a16:rowId xmlns:a16="http://schemas.microsoft.com/office/drawing/2014/main" val="1103539369"/>
                  </a:ext>
                </a:extLst>
              </a:tr>
              <a:tr h="256358">
                <a:tc>
                  <a:txBody>
                    <a:bodyPr/>
                    <a:lstStyle/>
                    <a:p>
                      <a:pPr algn="l"/>
                      <a:r>
                        <a:rPr lang="en-US" sz="1000" b="1" dirty="0" u="none">
                          <a:solidFill>
                            <a:srgbClr val="080808"/>
                          </a:solidFill>
                          <a:latin typeface="Calibri"/>
                        </a:rPr>
                        <a:t>US TAM:</a:t>
                      </a:r>
                    </a:p>
                  </a:txBody>
                  <a:tcPr anchor="ctr" marL="45720" marR="45720" marT="9144" marB="9144">
                    <a:solidFill>
                      <a:srgbClr val="ECEEF0"/>
                    </a:solidFill>
                  </a:tcPr>
                </a:tc>
                <a:tc>
                  <a:txBody>
                    <a:bodyPr/>
                    <a:lstStyle/>
                    <a:p>
                      <a:pPr algn="l"/>
                      <a:r>
                        <a:rPr lang="en-US" sz="1000" dirty="0" b="0" u="none">
                          <a:solidFill>
                            <a:srgbClr val="080808"/>
                          </a:solidFill>
                          <a:latin typeface="Calibri"/>
                        </a:rPr>
                        <a:t>$202M</a:t>
                      </a:r>
                    </a:p>
                  </a:txBody>
                  <a:tcPr anchor="ctr" marL="45720" marR="45720" marT="9144" marB="9144">
                    <a:solidFill>
                      <a:srgbClr val="ECEEF0"/>
                    </a:solidFill>
                  </a:tcPr>
                </a:tc>
                <a:tc>
                  <a:txBody>
                    <a:bodyPr/>
                    <a:lstStyle/>
                    <a:p>
                      <a:pPr algn="l"/>
                      <a:r>
                        <a:rPr lang="en-US" sz="1000" b="1" dirty="0" u="none">
                          <a:solidFill>
                            <a:srgbClr val="080808"/>
                          </a:solidFill>
                          <a:latin typeface="Calibri"/>
                        </a:rPr>
                        <a:t>US SAM:</a:t>
                      </a:r>
                    </a:p>
                  </a:txBody>
                  <a:tcPr anchor="ctr" marL="45720" marR="45720" marT="9144" marB="9144">
                    <a:solidFill>
                      <a:srgbClr val="ECEEF0"/>
                    </a:solidFill>
                  </a:tcPr>
                </a:tc>
                <a:tc>
                  <a:txBody>
                    <a:bodyPr/>
                    <a:lstStyle/>
                    <a:p>
                      <a:pPr algn="l"/>
                      <a:r>
                        <a:rPr lang="en-US" sz="1000" b="0" dirty="0" u="none">
                          <a:solidFill>
                            <a:srgbClr val="080808"/>
                          </a:solidFill>
                          <a:latin typeface="Calibri"/>
                        </a:rPr>
                        <a:t>$99M</a:t>
                      </a:r>
                    </a:p>
                  </a:txBody>
                  <a:tcPr anchor="ctr" marL="45720" marR="45720" marT="9144" marB="9144">
                    <a:solidFill>
                      <a:srgbClr val="ECEEF0"/>
                    </a:solidFill>
                  </a:tcPr>
                </a:tc>
                <a:extLst>
                  <a:ext uri="{0D108BD9-81ED-4DB2-BD59-A6C34878D82A}">
                    <a16:rowId xmlns:a16="http://schemas.microsoft.com/office/drawing/2014/main" val="4211516621"/>
                  </a:ext>
                </a:extLst>
              </a:tr>
              <a:tr h="256358">
                <a:tc>
                  <a:txBody>
                    <a:bodyPr/>
                    <a:lstStyle/>
                    <a:p>
                      <a:pPr algn="l"/>
                      <a:r>
                        <a:rPr lang="en-US" sz="1000" b="1" dirty="0" u="none">
                          <a:solidFill>
                            <a:srgbClr val="080808"/>
                          </a:solidFill>
                          <a:latin typeface="Calibri"/>
                        </a:rPr>
                        <a:t>Year 5 ARR (Base):</a:t>
                      </a:r>
                    </a:p>
                  </a:txBody>
                  <a:tcPr anchor="ctr" marL="45720" marR="45720" marT="9144" marB="9144">
                    <a:noFill/>
                  </a:tcPr>
                </a:tc>
                <a:tc>
                  <a:txBody>
                    <a:bodyPr/>
                    <a:lstStyle/>
                    <a:p>
                      <a:pPr algn="l"/>
                      <a:r>
                        <a:rPr lang="en-US" sz="1000" dirty="0" b="0" u="none">
                          <a:solidFill>
                            <a:srgbClr val="080808"/>
                          </a:solidFill>
                          <a:latin typeface="Calibri"/>
                        </a:rPr>
                        <a:t>$10.2M</a:t>
                      </a:r>
                    </a:p>
                  </a:txBody>
                  <a:tcPr anchor="ctr" marL="45720" marR="45720" marT="9144" marB="9144">
                    <a:noFill/>
                  </a:tcPr>
                </a:tc>
                <a:tc>
                  <a:txBody>
                    <a:bodyPr/>
                    <a:lstStyle/>
                    <a:p>
                      <a:pPr algn="l"/>
                      <a:r>
                        <a:rPr lang="en-US" sz="1000" b="1" dirty="0" u="none">
                          <a:solidFill>
                            <a:srgbClr val="080808"/>
                          </a:solidFill>
                          <a:latin typeface="Calibri"/>
                        </a:rPr>
                        <a:t>Year 5 Customers:</a:t>
                      </a:r>
                    </a:p>
                  </a:txBody>
                  <a:tcPr anchor="ctr" marL="45720" marR="45720" marT="9144" marB="9144">
                    <a:noFill/>
                  </a:tcPr>
                </a:tc>
                <a:tc>
                  <a:txBody>
                    <a:bodyPr/>
                    <a:lstStyle/>
                    <a:p>
                      <a:pPr marL="0" marR="0" lvl="0" indent="0" algn="l" defTabSz="914290" rtl="0" eaLnBrk="1" fontAlgn="auto" latinLnBrk="0" hangingPunct="1">
                        <a:lnSpc>
                          <a:spcPct val="100000"/>
                        </a:lnSpc>
                        <a:spcBef>
                          <a:spcPts val="0"/>
                        </a:spcBef>
                        <a:spcAft>
                          <a:spcPts val="0"/>
                        </a:spcAft>
                        <a:buClr>
                          <a:schemeClr val="accent2"/>
                        </a:buClr>
                        <a:buSzPct val="90000"/>
                        <a:buFont typeface="Calibri" panose="020F0502020204030204" pitchFamily="34" charset="0"/>
                        <a:buNone/>
                        <a:tabLst/>
                        <a:defRPr/>
                      </a:pPr>
                      <a:r>
                        <a:rPr lang="en-US" sz="1000" dirty="0" b="0" u="none">
                          <a:solidFill>
                            <a:srgbClr val="080808"/>
                          </a:solidFill>
                          <a:latin typeface="Calibri"/>
                        </a:rPr>
                        <a:t>218</a:t>
                      </a:r>
                    </a:p>
                  </a:txBody>
                  <a:tcPr anchor="ctr" marL="45720" marR="45720" marT="9144" marB="9144">
                    <a:noFill/>
                  </a:tcPr>
                </a:tc>
                <a:extLst>
                  <a:ext uri="{0D108BD9-81ED-4DB2-BD59-A6C34878D82A}">
                    <a16:rowId xmlns:a16="http://schemas.microsoft.com/office/drawing/2014/main" val="537310296"/>
                  </a:ext>
                </a:extLst>
              </a:tr>
              <a:tr h="256358">
                <a:tc>
                  <a:txBody>
                    <a:bodyPr/>
                    <a:lstStyle/>
                    <a:p>
                      <a:pPr algn="l"/>
                      <a:r>
                        <a:rPr lang="en-US" sz="1000" b="1" dirty="0" u="none">
                          <a:solidFill>
                            <a:srgbClr val="080808"/>
                          </a:solidFill>
                          <a:latin typeface="Calibri"/>
                        </a:rPr>
                        <a:t>LTV / CAC:</a:t>
                      </a:r>
                    </a:p>
                  </a:txBody>
                  <a:tcPr anchor="ctr" marL="45720" marR="45720" marT="9144" marB="9144">
                    <a:solidFill>
                      <a:srgbClr val="ECEEF0"/>
                    </a:solidFill>
                  </a:tcPr>
                </a:tc>
                <a:tc>
                  <a:txBody>
                    <a:bodyPr/>
                    <a:lstStyle/>
                    <a:p>
                      <a:pPr marL="0" indent="0" algn="l" defTabSz="914290" rtl="0" eaLnBrk="1" latinLnBrk="0" hangingPunct="1">
                        <a:lnSpc>
                          <a:spcPct val="100000"/>
                        </a:lnSpc>
                        <a:spcBef>
                          <a:spcPts val="0"/>
                        </a:spcBef>
                        <a:spcAft>
                          <a:spcPts val="0"/>
                        </a:spcAft>
                        <a:buClr>
                          <a:schemeClr val="accent2"/>
                        </a:buClr>
                        <a:buSzPct val="90000"/>
                        <a:buFont typeface="Calibri" panose="020F0502020204030204" pitchFamily="34" charset="0"/>
                        <a:buNone/>
                      </a:pPr>
                      <a:r>
                        <a:rPr lang="en-US" sz="1000" b="0" kern="0" spc="0" baseline="0" dirty="0" u="none">
                          <a:solidFill>
                            <a:srgbClr val="080808"/>
                          </a:solidFill>
                          <a:latin typeface="Calibri"/>
                          <a:ea typeface="+mn-ea"/>
                          <a:cs typeface="+mn-cs"/>
                        </a:rPr>
                        <a:t>4.0x</a:t>
                      </a:r>
                    </a:p>
                  </a:txBody>
                  <a:tcPr anchor="ctr" marL="45720" marR="45720" marT="9144" marB="9144">
                    <a:solidFill>
                      <a:srgbClr val="ECEEF0"/>
                    </a:solidFill>
                  </a:tcPr>
                </a:tc>
                <a:tc>
                  <a:txBody>
                    <a:bodyPr/>
                    <a:lstStyle/>
                    <a:p>
                      <a:pPr algn="l"/>
                      <a:r>
                        <a:rPr lang="en-US" sz="1000" b="1" dirty="0" u="none">
                          <a:solidFill>
                            <a:srgbClr val="080808"/>
                          </a:solidFill>
                          <a:latin typeface="Calibri"/>
                        </a:rPr>
                        <a:t>CAC Payback:</a:t>
                      </a:r>
                    </a:p>
                  </a:txBody>
                  <a:tcPr anchor="ctr" marL="45720" marR="45720" marT="9144" marB="9144">
                    <a:solidFill>
                      <a:srgbClr val="ECEEF0"/>
                    </a:solidFill>
                  </a:tcPr>
                </a:tc>
                <a:tc>
                  <a:txBody>
                    <a:bodyPr/>
                    <a:lstStyle/>
                    <a:p>
                      <a:pPr marL="0" marR="0" lvl="0" indent="0" algn="l" defTabSz="914290" rtl="0" eaLnBrk="1" fontAlgn="auto" latinLnBrk="0" hangingPunct="1">
                        <a:lnSpc>
                          <a:spcPct val="100000"/>
                        </a:lnSpc>
                        <a:spcBef>
                          <a:spcPts val="0"/>
                        </a:spcBef>
                        <a:spcAft>
                          <a:spcPts val="0"/>
                        </a:spcAft>
                        <a:buClr>
                          <a:schemeClr val="accent2"/>
                        </a:buClr>
                        <a:buSzPct val="90000"/>
                        <a:buFont typeface="Calibri" panose="020F0502020204030204" pitchFamily="34" charset="0"/>
                        <a:buNone/>
                        <a:tabLst/>
                        <a:defRPr/>
                      </a:pPr>
                      <a:r>
                        <a:rPr lang="en-US" sz="1000" b="0" kern="0" spc="0" baseline="0" dirty="0" u="none">
                          <a:solidFill>
                            <a:srgbClr val="080808"/>
                          </a:solidFill>
                          <a:latin typeface="Calibri"/>
                          <a:ea typeface="+mn-ea"/>
                          <a:cs typeface="+mn-cs"/>
                        </a:rPr>
                        <a:t>13.5 months</a:t>
                      </a:r>
                    </a:p>
                  </a:txBody>
                  <a:tcPr anchor="ctr" marL="45720" marR="45720" marT="9144" marB="9144">
                    <a:solidFill>
                      <a:srgbClr val="ECEEF0"/>
                    </a:solidFill>
                  </a:tcPr>
                </a:tc>
                <a:extLst>
                  <a:ext uri="{0D108BD9-81ED-4DB2-BD59-A6C34878D82A}">
                    <a16:rowId xmlns:a16="http://schemas.microsoft.com/office/drawing/2014/main" val="997095890"/>
                  </a:ext>
                </a:extLst>
              </a:tr>
              <a:tr h="256358">
                <a:tc>
                  <a:txBody>
                    <a:bodyPr/>
                    <a:lstStyle/>
                    <a:p>
                      <a:pPr algn="l"/>
                      <a:r>
                        <a:rPr lang="en-US" sz="1000" b="1" dirty="0" u="none">
                          <a:solidFill>
                            <a:srgbClr val="080808"/>
                          </a:solidFill>
                          <a:latin typeface="Calibri"/>
                        </a:rPr>
                        <a:t>Peak Equity Required:</a:t>
                      </a:r>
                    </a:p>
                  </a:txBody>
                  <a:tcPr anchor="ctr" marL="45720" marR="45720" marT="9144" marB="9144">
                    <a:noFill/>
                  </a:tcPr>
                </a:tc>
                <a:tc>
                  <a:txBody>
                    <a:bodyPr/>
                    <a:lstStyle/>
                    <a:p>
                      <a:pPr algn="l"/>
                      <a:r>
                        <a:rPr lang="en-US" sz="1000" dirty="0" b="0" u="none">
                          <a:solidFill>
                            <a:srgbClr val="080808"/>
                          </a:solidFill>
                          <a:latin typeface="Calibri"/>
                        </a:rPr>
                        <a:t>$16.8M</a:t>
                      </a:r>
                    </a:p>
                  </a:txBody>
                  <a:tcPr anchor="ctr" marL="45720" marR="45720" marT="9144" marB="9144">
                    <a:noFill/>
                  </a:tcPr>
                </a:tc>
                <a:tc>
                  <a:txBody>
                    <a:bodyPr/>
                    <a:lstStyle/>
                    <a:p>
                      <a:pPr algn="l"/>
                      <a:r>
                        <a:rPr lang="en-US" sz="1000" b="1" dirty="0" u="none">
                          <a:solidFill>
                            <a:srgbClr val="080808"/>
                          </a:solidFill>
                          <a:latin typeface="Calibri"/>
                        </a:rPr>
                        <a:t>Year 5 EBITDA:</a:t>
                      </a:r>
                    </a:p>
                  </a:txBody>
                  <a:tcPr anchor="ctr" marL="45720" marR="45720" marT="9144" marB="9144">
                    <a:noFill/>
                  </a:tcPr>
                </a:tc>
                <a:tc>
                  <a:txBody>
                    <a:bodyPr/>
                    <a:lstStyle/>
                    <a:p>
                      <a:pPr marL="0" indent="0" algn="l" defTabSz="914290" rtl="0" eaLnBrk="1" latinLnBrk="0" hangingPunct="1">
                        <a:lnSpc>
                          <a:spcPct val="100000"/>
                        </a:lnSpc>
                        <a:spcBef>
                          <a:spcPts val="0"/>
                        </a:spcBef>
                        <a:spcAft>
                          <a:spcPts val="0"/>
                        </a:spcAft>
                        <a:buClr>
                          <a:schemeClr val="accent2"/>
                        </a:buClr>
                        <a:buSzPct val="90000"/>
                        <a:buFont typeface="Calibri" panose="020F0502020204030204" pitchFamily="34" charset="0"/>
                        <a:buNone/>
                      </a:pPr>
                      <a:r>
                        <a:rPr lang="en-US" sz="1000" b="0" kern="0" spc="0" baseline="0" dirty="0" u="none">
                          <a:solidFill>
                            <a:srgbClr val="080808"/>
                          </a:solidFill>
                          <a:latin typeface="Calibri"/>
                          <a:ea typeface="+mn-ea"/>
                          <a:cs typeface="+mn-cs"/>
                        </a:rPr>
                        <a:t>($3.9M)</a:t>
                      </a:r>
                    </a:p>
                  </a:txBody>
                  <a:tcPr anchor="ctr" marL="45720" marR="45720" marT="9144" marB="9144">
                    <a:noFill/>
                  </a:tcPr>
                </a:tc>
                <a:extLst>
                  <a:ext uri="{0D108BD9-81ED-4DB2-BD59-A6C34878D82A}">
                    <a16:rowId xmlns:a16="http://schemas.microsoft.com/office/drawing/2014/main" val="897008496"/>
                  </a:ext>
                </a:extLst>
              </a:tr>
              <a:tr h="256358">
                <a:tc>
                  <a:txBody>
                    <a:bodyPr/>
                    <a:lstStyle/>
                    <a:p>
                      <a:pPr algn="l"/>
                      <a:r>
                        <a:rPr lang="en-US" sz="1000" b="1" dirty="0" u="none">
                          <a:solidFill>
                            <a:srgbClr val="080808"/>
                          </a:solidFill>
                          <a:latin typeface="Calibri"/>
                        </a:rPr>
                        <a:t>Founder Advantage:</a:t>
                      </a:r>
                    </a:p>
                  </a:txBody>
                  <a:tcPr anchor="ctr" marL="45720" marR="45720" marT="9144" marB="9144">
                    <a:lnB w="12700" cap="flat" cmpd="sng" algn="ctr">
                      <a:noFill/>
                      <a:prstDash val="solid"/>
                      <a:round/>
                      <a:headEnd type="none" w="med" len="med"/>
                      <a:tailEnd type="none" w="med" len="med"/>
                    </a:lnB>
                    <a:solidFill>
                      <a:srgbClr val="ECEEF0"/>
                    </a:solidFill>
                  </a:tcPr>
                </a:tc>
                <a:tc>
                  <a:txBody>
                    <a:bodyPr/>
                    <a:lstStyle/>
                    <a:p>
                      <a:pPr algn="l"/>
                      <a:r>
                        <a:rPr lang="en-US" sz="1000" dirty="0" b="0" u="none">
                          <a:solidFill>
                            <a:srgbClr val="080808"/>
                          </a:solidFill>
                          <a:latin typeface="Calibri"/>
                        </a:rPr>
                        <a:t>Direct access to hotel ownership</a:t>
                      </a:r>
                    </a:p>
                  </a:txBody>
                  <a:tcPr anchor="ctr" marL="45720" marR="45720" marT="9144" marB="9144">
                    <a:lnB w="12700" cap="flat" cmpd="sng" algn="ctr">
                      <a:noFill/>
                      <a:prstDash val="solid"/>
                      <a:round/>
                      <a:headEnd type="none" w="med" len="med"/>
                      <a:tailEnd type="none" w="med" len="med"/>
                    </a:lnB>
                    <a:solidFill>
                      <a:srgbClr val="ECEEF0"/>
                    </a:solidFill>
                  </a:tcPr>
                </a:tc>
                <a:tc>
                  <a:txBody>
                    <a:bodyPr/>
                    <a:lstStyle/>
                    <a:p>
                      <a:pPr algn="l"/>
                      <a:r>
                        <a:rPr lang="en-US" sz="1000" b="1" dirty="0" u="none">
                          <a:solidFill>
                            <a:srgbClr val="080808"/>
                          </a:solidFill>
                          <a:latin typeface="Calibri"/>
                        </a:rPr>
                        <a:t>Founder Gap:</a:t>
                      </a:r>
                    </a:p>
                  </a:txBody>
                  <a:tcPr anchor="ctr" marL="45720" marR="45720" marT="9144" marB="9144">
                    <a:lnB w="12700" cap="flat" cmpd="sng" algn="ctr">
                      <a:noFill/>
                      <a:prstDash val="solid"/>
                      <a:round/>
                      <a:headEnd type="none" w="med" len="med"/>
                      <a:tailEnd type="none" w="med" len="med"/>
                    </a:lnB>
                    <a:solidFill>
                      <a:srgbClr val="ECEEF0"/>
                    </a:solidFill>
                  </a:tcPr>
                </a:tc>
                <a:tc>
                  <a:txBody>
                    <a:bodyPr/>
                    <a:lstStyle/>
                    <a:p>
                      <a:pPr marL="0" indent="0" algn="l" defTabSz="914290" rtl="0" eaLnBrk="1" latinLnBrk="0" hangingPunct="1">
                        <a:lnSpc>
                          <a:spcPct val="100000"/>
                        </a:lnSpc>
                        <a:spcBef>
                          <a:spcPts val="0"/>
                        </a:spcBef>
                        <a:spcAft>
                          <a:spcPts val="0"/>
                        </a:spcAft>
                        <a:buClr>
                          <a:schemeClr val="accent2"/>
                        </a:buClr>
                        <a:buSzPct val="90000"/>
                        <a:buFont typeface="Calibri" panose="020F0502020204030204" pitchFamily="34" charset="0"/>
                        <a:buNone/>
                      </a:pPr>
                      <a:r>
                        <a:rPr lang="en-US" sz="1000" b="0" kern="0" spc="0" baseline="0" dirty="0" u="none">
                          <a:solidFill>
                            <a:srgbClr val="080808"/>
                          </a:solidFill>
                          <a:latin typeface="Calibri"/>
                          <a:ea typeface="+mn-ea"/>
                          <a:cs typeface="+mn-cs"/>
                        </a:rPr>
                        <a:t>No engineering background</a:t>
                      </a:r>
                    </a:p>
                  </a:txBody>
                  <a:tcPr anchor="ctr" marL="45720" marR="45720" marT="9144" marB="9144">
                    <a:lnB w="12700" cap="flat" cmpd="sng" algn="ctr">
                      <a:noFill/>
                      <a:prstDash val="solid"/>
                      <a:round/>
                      <a:headEnd type="none" w="med" len="med"/>
                      <a:tailEnd type="none" w="med" len="med"/>
                    </a:lnB>
                    <a:solidFill>
                      <a:srgbClr val="ECEEF0"/>
                    </a:solidFill>
                  </a:tcPr>
                </a:tc>
                <a:extLst>
                  <a:ext uri="{0D108BD9-81ED-4DB2-BD59-A6C34878D82A}">
                    <a16:rowId xmlns:a16="http://schemas.microsoft.com/office/drawing/2014/main" val="2086717282"/>
                  </a:ext>
                </a:extLst>
              </a:tr>
            </a:tbl>
          </a:graphicData>
        </a:graphic>
      </p:graphicFrame>
      <p:graphicFrame>
        <p:nvGraphicFramePr>
          <p:cNvPr id="7" name="Table 180">
            <a:extLst>
              <a:ext uri="{FF2B5EF4-FFF2-40B4-BE49-F238E27FC236}">
                <a16:creationId xmlns:a16="http://schemas.microsoft.com/office/drawing/2014/main" id="{F5141E14-D12C-980D-6555-CB4A912E0F7E}"/>
              </a:ext>
            </a:extLst>
          </p:cNvPr>
          <p:cNvGraphicFramePr>
            <a:graphicFrameLocks noGrp="1"/>
          </p:cNvGraphicFramePr>
          <p:nvPr>
            <p:extLst>
              <p:ext uri="{D42A27DB-BD31-4B8C-83A1-F6EECF244321}">
                <p14:modId xmlns:p14="http://schemas.microsoft.com/office/powerpoint/2010/main" val="813102264"/>
              </p:ext>
            </p:extLst>
          </p:nvPr>
        </p:nvGraphicFramePr>
        <p:xfrm>
          <a:off x="160020" y="2953337"/>
          <a:ext cx="8823960" cy="3459480"/>
        </p:xfrm>
        <a:graphic>
          <a:graphicData uri="http://schemas.openxmlformats.org/drawingml/2006/table">
            <a:tbl>
              <a:tblPr firstRow="1" bandRow="1">
                <a:tableStyleId>{5C22544A-7EE6-4342-B048-85BDC9FD1C3A}</a:tableStyleId>
              </a:tblPr>
              <a:tblGrid>
                <a:gridCol w="949318">
                  <a:extLst>
                    <a:ext uri="{9D8B030D-6E8A-4147-A177-3AD203B41FA5}">
                      <a16:colId xmlns:a16="http://schemas.microsoft.com/office/drawing/2014/main" val="44862911"/>
                    </a:ext>
                  </a:extLst>
                </a:gridCol>
                <a:gridCol w="7874642">
                  <a:extLst>
                    <a:ext uri="{9D8B030D-6E8A-4147-A177-3AD203B41FA5}">
                      <a16:colId xmlns:a16="http://schemas.microsoft.com/office/drawing/2014/main" val="2302682346"/>
                    </a:ext>
                  </a:extLst>
                </a:gridCol>
              </a:tblGrid>
              <a:tr h="3360377">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lang="en-US" sz="1000" b="1" cap="all" dirty="0" u="none">
                          <a:solidFill>
                            <a:srgbClr val="080808"/>
                          </a:solidFill>
                          <a:latin typeface="Calibri"/>
                          <a:ea typeface="SimSun" pitchFamily="2" charset="-122"/>
                        </a:rPr>
                        <a:t>Situation overview</a:t>
                      </a:r>
                    </a:p>
                  </a:txBody>
                  <a:tcPr marL="45720" marR="45720" marT="9144" marB="9144"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52400" marR="0" lvl="0" indent="-15240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kumimoji="0" lang="en-US" sz="1000" b="1" i="0" u="none" strike="noStrike" kern="0" cap="none" spc="0" normalizeH="0" baseline="0" noProof="0" dirty="0">
                          <a:ln>
                            <a:noFill/>
                          </a:ln>
                          <a:solidFill>
                            <a:schemeClr val="tx1"/>
                          </a:solidFill>
                          <a:effectLst/>
                          <a:uLnTx/>
                          <a:uFillTx/>
                          <a:latin typeface="+mj-lt"/>
                          <a:ea typeface="+mn-ea"/>
                          <a:cs typeface="+mn-cs"/>
                        </a:rPr>
                        <a:t>The recommendation is capex intelligence, not owner reporting</a:t>
                      </a:r>
                    </a:p>
                    <a:p>
                      <a:pPr marL="152400" marR="0" lvl="0" indent="-15240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kumimoji="0" lang="en-US" sz="1000" b="1" i="0" u="none" strike="noStrike" kern="0" cap="none" spc="0" normalizeH="0" baseline="0" noProof="0" dirty="0">
                          <a:ln>
                            <a:noFill/>
                          </a:ln>
                          <a:solidFill>
                            <a:schemeClr val="tx1"/>
                          </a:solidFill>
                          <a:effectLst/>
                          <a:uLnTx/>
                          <a:uFillTx/>
                          <a:latin typeface="+mj-lt"/>
                          <a:ea typeface="+mn-ea"/>
                          <a:cs typeface="+mn-cs"/>
                        </a:rPr>
                        <a:t>Owner reporting is already contested:</a:t>
                      </a:r>
                      <a:r>
                        <a:rPr kumimoji="0" lang="en-US" sz="1000" b="0" i="0" u="none" strike="noStrike" kern="0" cap="none" spc="0" normalizeH="0" baseline="0" noProof="0" dirty="0">
                          <a:ln>
                            <a:noFill/>
                          </a:ln>
                          <a:solidFill>
                            <a:schemeClr val="tx1"/>
                          </a:solidFill>
                          <a:effectLst/>
                          <a:uLnTx/>
                          <a:uFillTx/>
                          <a:latin typeface="+mj-lt"/>
                          <a:ea typeface="+mn-ea"/>
                          <a:cs typeface="+mn-cs"/>
                        </a:rPr>
                        <a:t> Otelier and Actabl both sell portfolio normalisation today, and Highline Hospitality, a 21 hotel owner with $1.7B of assets, deployed Otelier in 2026 for exactly the multi-system consolidation use case this venture was originally scoped around.</a:t>
                      </a:r>
                    </a:p>
                    <a:p>
                      <a:pPr marL="152400" marR="0" lvl="0" indent="-15240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kumimoji="0" lang="en-US" sz="1000" b="1" i="0" u="none" strike="noStrike" kern="0" cap="none" spc="0" normalizeH="0" baseline="0" noProof="0" dirty="0">
                          <a:ln>
                            <a:noFill/>
                          </a:ln>
                          <a:solidFill>
                            <a:schemeClr val="tx1"/>
                          </a:solidFill>
                          <a:effectLst/>
                          <a:uLnTx/>
                          <a:uFillTx/>
                          <a:latin typeface="+mj-lt"/>
                          <a:ea typeface="+mn-ea"/>
                          <a:cs typeface="+mn-cs"/>
                        </a:rPr>
                        <a:t>Capex benchmarking is not:</a:t>
                      </a:r>
                      <a:r>
                        <a:rPr kumimoji="0" lang="en-US" sz="1000" b="0" i="0" u="none" strike="noStrike" kern="0" cap="none" spc="0" normalizeH="0" baseline="0" noProof="0" dirty="0">
                          <a:ln>
                            <a:noFill/>
                          </a:ln>
                          <a:solidFill>
                            <a:schemeClr val="tx1"/>
                          </a:solidFill>
                          <a:effectLst/>
                          <a:uLnTx/>
                          <a:uFillTx/>
                          <a:latin typeface="+mj-lt"/>
                          <a:ea typeface="+mn-ea"/>
                          <a:cs typeface="+mn-cs"/>
                        </a:rPr>
                        <a:t> The only participants are HVS and Nehmer, publishing an annual cost guide, ISHC and HAMA, publishing a periodic study, and the brokerages, who hold the data in deal files and monetise it as billable hours. None is building a queryable dataset.</a:t>
                      </a:r>
                    </a:p>
                    <a:p>
                      <a:pPr marL="152400" marR="0" lvl="0" indent="-15240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kumimoji="0" lang="en-US" sz="1000" b="1" i="0" u="none" strike="noStrike" kern="0" cap="none" spc="0" normalizeH="0" baseline="0" noProof="0" dirty="0">
                          <a:ln>
                            <a:noFill/>
                          </a:ln>
                          <a:solidFill>
                            <a:schemeClr val="tx1"/>
                          </a:solidFill>
                          <a:effectLst/>
                          <a:uLnTx/>
                          <a:uFillTx/>
                          <a:latin typeface="+mj-lt"/>
                          <a:ea typeface="+mn-ea"/>
                          <a:cs typeface="+mn-cs"/>
                        </a:rPr>
                        <a:t>The asset is the data, not the software:</a:t>
                      </a:r>
                      <a:r>
                        <a:rPr kumimoji="0" lang="en-US" sz="1000" b="0" i="0" u="none" strike="noStrike" kern="0" cap="none" spc="0" normalizeH="0" baseline="0" noProof="0" dirty="0">
                          <a:ln>
                            <a:noFill/>
                          </a:ln>
                          <a:solidFill>
                            <a:schemeClr val="tx1"/>
                          </a:solidFill>
                          <a:effectLst/>
                          <a:uLnTx/>
                          <a:uFillTx/>
                          <a:latin typeface="+mj-lt"/>
                          <a:ea typeface="+mn-ea"/>
                          <a:cs typeface="+mn-cs"/>
                        </a:rPr>
                        <a:t> Cost per key by brand, vintage, market and scope is the number every hotel trade argues over, and 80% of HAMA members report planning a renovation in the coming year. PIP scope ranges from $8,000 per key in economy to $60,000 per key in luxury, and no owner can currently benchmark their quote.</a:t>
                      </a:r>
                    </a:p>
                    <a:p>
                      <a:pPr marL="152400" marR="0" lvl="0" indent="-15240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kumimoji="0" lang="en-US" sz="1000" b="1" i="0" u="none" strike="noStrike" kern="0" cap="none" spc="0" normalizeH="0" baseline="0" noProof="0" dirty="0">
                          <a:ln>
                            <a:noFill/>
                          </a:ln>
                          <a:solidFill>
                            <a:schemeClr val="tx1"/>
                          </a:solidFill>
                          <a:effectLst/>
                          <a:uLnTx/>
                          <a:uFillTx/>
                          <a:latin typeface="+mj-lt"/>
                          <a:ea typeface="+mn-ea"/>
                          <a:cs typeface="+mn-cs"/>
                        </a:rPr>
                        <a:t>The founder profile fits:</a:t>
                      </a:r>
                      <a:r>
                        <a:rPr kumimoji="0" lang="en-US" sz="1000" b="0" i="0" u="none" strike="noStrike" kern="0" cap="none" spc="0" normalizeH="0" baseline="0" noProof="0" dirty="0">
                          <a:ln>
                            <a:noFill/>
                          </a:ln>
                          <a:solidFill>
                            <a:schemeClr val="tx1"/>
                          </a:solidFill>
                          <a:effectLst/>
                          <a:uLnTx/>
                          <a:uFillTx/>
                          <a:latin typeface="+mj-lt"/>
                          <a:ea typeface="+mn-ea"/>
                          <a:cs typeface="+mn-cs"/>
                        </a:rPr>
                        <a:t> Direct access to ownership groups is the scarce input, because engineers are hireable and 20 owners willing to share capex history are not. The absence of a coding background is a real constraint but it is not the binding one.</a:t>
                      </a:r>
                    </a:p>
                    <a:p>
                      <a:pPr marL="152400" marR="0" lvl="0" indent="-15240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kumimoji="0" lang="en-US" sz="1000" b="1" i="0" u="none" strike="noStrike" kern="0" cap="none" spc="0" normalizeH="0" baseline="0" noProof="0" dirty="0">
                          <a:ln>
                            <a:noFill/>
                          </a:ln>
                          <a:solidFill>
                            <a:schemeClr val="tx1"/>
                          </a:solidFill>
                          <a:effectLst/>
                          <a:uLnTx/>
                          <a:uFillTx/>
                          <a:latin typeface="+mj-lt"/>
                          <a:ea typeface="+mn-ea"/>
                          <a:cs typeface="+mn-cs"/>
                        </a:rPr>
                        <a:t>The honest concern is size:</a:t>
                      </a:r>
                      <a:r>
                        <a:rPr kumimoji="0" lang="en-US" sz="1000" b="0" i="0" u="none" strike="noStrike" kern="0" cap="none" spc="0" normalizeH="0" baseline="0" noProof="0" dirty="0">
                          <a:ln>
                            <a:noFill/>
                          </a:ln>
                          <a:solidFill>
                            <a:schemeClr val="tx1"/>
                          </a:solidFill>
                          <a:effectLst/>
                          <a:uLnTx/>
                          <a:uFillTx/>
                          <a:latin typeface="+mj-lt"/>
                          <a:ea typeface="+mn-ea"/>
                          <a:cs typeface="+mn-cs"/>
                        </a:rPr>
                        <a:t> A $202M US TAM supports a $30M to $60M revenue business, which clears a seed and a Series A but is thin for a venture outcome. International expansion and a move into full owner-side asset performance are the two credible answers.</a:t>
                      </a:r>
                    </a:p>
                  </a:txBody>
                  <a:tcPr marL="36000" marR="36000" marT="91440" marB="91440"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5079713"/>
                  </a:ext>
                </a:extLst>
              </a:tr>
            </a:tbl>
          </a:graphicData>
        </a:graphic>
      </p:graphicFrame>
    </p:spTree>
    <p:extLst>
      <p:ext uri="{BB962C8B-B14F-4D97-AF65-F5344CB8AC3E}">
        <p14:creationId xmlns:p14="http://schemas.microsoft.com/office/powerpoint/2010/main" val="885820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81032-6B85-2495-FDD6-0011A393CD8A}"/>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01FAE7C-C0A8-E57B-C637-6A563090AB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5" name="Object 4" hidden="1">
                        <a:extLst>
                          <a:ext uri="{FF2B5EF4-FFF2-40B4-BE49-F238E27FC236}">
                            <a16:creationId xmlns:a16="http://schemas.microsoft.com/office/drawing/2014/main" id="{CE2B5443-8077-7BE7-1D10-9376716B66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F9EC298-B22D-3D43-9B16-518D797D79D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kern="0" dirty="0">
              <a:solidFill>
                <a:schemeClr val="tx1"/>
              </a:solidFill>
              <a:latin typeface="Calibri" panose="020F0502020204030204" pitchFamily="34" charset="0"/>
              <a:ea typeface="+mj-ea"/>
              <a:cs typeface="+mj-cs"/>
              <a:sym typeface="Calibri" panose="020F0502020204030204" pitchFamily="34" charset="0"/>
            </a:endParaRPr>
          </a:p>
        </p:txBody>
      </p:sp>
      <p:sp>
        <p:nvSpPr>
          <p:cNvPr id="4" name="Title 3">
            <a:extLst>
              <a:ext uri="{FF2B5EF4-FFF2-40B4-BE49-F238E27FC236}">
                <a16:creationId xmlns:a16="http://schemas.microsoft.com/office/drawing/2014/main" id="{534B8DDA-AFAC-09FA-BD1F-FC9DD4B59DC8}"/>
              </a:ext>
            </a:extLst>
          </p:cNvPr>
          <p:cNvSpPr>
            <a:spLocks noGrp="1"/>
          </p:cNvSpPr>
          <p:nvPr>
            <p:ph type="title"/>
          </p:nvPr>
        </p:nvSpPr>
        <p:spPr/>
        <p:txBody>
          <a:bodyPr/>
          <a:lstStyle/>
          <a:p>
            <a:r>
              <a:rPr lang="en-US" dirty="0"/>
              <a:t>Why this is interesting</a:t>
            </a:r>
          </a:p>
        </p:txBody>
      </p:sp>
      <p:sp>
        <p:nvSpPr>
          <p:cNvPr id="11" name="Slide Number Placeholder 1">
            <a:extLst>
              <a:ext uri="{FF2B5EF4-FFF2-40B4-BE49-F238E27FC236}">
                <a16:creationId xmlns:a16="http://schemas.microsoft.com/office/drawing/2014/main" id="{1C2ECBD9-90AE-D94B-945E-08D7D21B441F}"/>
              </a:ext>
            </a:extLst>
          </p:cNvPr>
          <p:cNvSpPr>
            <a:spLocks noGrp="1"/>
          </p:cNvSpPr>
          <p:nvPr>
            <p:ph type="sldNum" sz="quarter" idx="4"/>
          </p:nvPr>
        </p:nvSpPr>
        <p:spPr>
          <a:xfrm>
            <a:off x="8756374" y="6529556"/>
            <a:ext cx="227606" cy="137160"/>
          </a:xfrm>
        </p:spPr>
        <p:txBody>
          <a:bodyPr/>
          <a:lstStyle/>
          <a:p>
            <a:fld id="{C094185C-1F9E-4EDB-A688-258533A03247}" type="slidenum">
              <a:rPr lang="en-US" smtClean="0"/>
              <a:pPr/>
              <a:t>4</a:t>
            </a:fld>
            <a:endParaRPr lang="en-US" dirty="0"/>
          </a:p>
        </p:txBody>
      </p:sp>
      <p:graphicFrame>
        <p:nvGraphicFramePr>
          <p:cNvPr id="7" name="Table 180">
            <a:extLst>
              <a:ext uri="{FF2B5EF4-FFF2-40B4-BE49-F238E27FC236}">
                <a16:creationId xmlns:a16="http://schemas.microsoft.com/office/drawing/2014/main" id="{A6360193-9A36-D331-7C7A-8D01B3484A7A}"/>
              </a:ext>
            </a:extLst>
          </p:cNvPr>
          <p:cNvGraphicFramePr>
            <a:graphicFrameLocks noGrp="1"/>
          </p:cNvGraphicFramePr>
          <p:nvPr>
            <p:extLst>
              <p:ext uri="{D42A27DB-BD31-4B8C-83A1-F6EECF244321}">
                <p14:modId xmlns:p14="http://schemas.microsoft.com/office/powerpoint/2010/main" val="2583439606"/>
              </p:ext>
            </p:extLst>
          </p:nvPr>
        </p:nvGraphicFramePr>
        <p:xfrm>
          <a:off x="160020" y="603504"/>
          <a:ext cx="8823960" cy="5852160"/>
        </p:xfrm>
        <a:graphic>
          <a:graphicData uri="http://schemas.openxmlformats.org/drawingml/2006/table">
            <a:tbl>
              <a:tblPr firstRow="1" bandRow="1">
                <a:tableStyleId>{5C22544A-7EE6-4342-B048-85BDC9FD1C3A}</a:tableStyleId>
              </a:tblPr>
              <a:tblGrid>
                <a:gridCol w="949318">
                  <a:extLst>
                    <a:ext uri="{9D8B030D-6E8A-4147-A177-3AD203B41FA5}">
                      <a16:colId xmlns:a16="http://schemas.microsoft.com/office/drawing/2014/main" val="44862911"/>
                    </a:ext>
                  </a:extLst>
                </a:gridCol>
                <a:gridCol w="7874642">
                  <a:extLst>
                    <a:ext uri="{9D8B030D-6E8A-4147-A177-3AD203B41FA5}">
                      <a16:colId xmlns:a16="http://schemas.microsoft.com/office/drawing/2014/main" val="2302682346"/>
                    </a:ext>
                  </a:extLst>
                </a:gridCol>
              </a:tblGrid>
              <a:tr h="3402439">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The opportunity</a:t>
                      </a:r>
                      <a:endParaRPr lang="en-US" sz="1000" b="1" cap="all" dirty="0">
                        <a:solidFill>
                          <a:schemeClr val="tx1"/>
                        </a:solidFill>
                        <a:latin typeface="+mj-lt"/>
                        <a:ea typeface="SimSun" pitchFamily="2" charset="-122"/>
                      </a:endParaRPr>
                    </a:p>
                  </a:txBody>
                  <a:tcPr marL="45720" marR="45720" marT="9144" marB="9144"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A structurally unmeasured cost line in a $5.8M room industry</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Capex is the largest contested number in a hotel trade:</a:t>
                      </a:r>
                      <a:r>
                        <a:rPr lang="en-US" sz="1000" b="0" u="none" kern="0" spc="0" baseline="0" dirty="0">
                          <a:solidFill>
                            <a:schemeClr val="tx1"/>
                          </a:solidFill>
                          <a:latin typeface="+mn-lt"/>
                          <a:ea typeface="+mn-ea"/>
                          <a:cs typeface="+mn-cs"/>
                        </a:rPr>
                        <a:t> Brand mandated property improvement plans run $8,000 to $25,000 per key in select service and $25,000 to $60,000 per key in upper upscale and luxury, and a full service PIP obligation of $2M to $8M can move a deal price by more than the cap rate debate does.</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Demand is confirmed and recurring:</a:t>
                      </a:r>
                      <a:r>
                        <a:rPr lang="en-US" sz="1000" b="0" u="none" kern="0" spc="0" baseline="0" dirty="0">
                          <a:solidFill>
                            <a:schemeClr val="tx1"/>
                          </a:solidFill>
                          <a:latin typeface="+mn-lt"/>
                          <a:ea typeface="+mn-ea"/>
                          <a:cs typeface="+mn-cs"/>
                        </a:rPr>
                        <a:t> 80% of HAMA member asset managers report planning renovations in the coming year, and 55% report making or planning a brand or management change, which is the single most common PIP trigger.</a:t>
                      </a:r>
                    </a:p>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The incumbents are structurally unable to build it</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Consultants monetise scarcity, not scale:</a:t>
                      </a:r>
                      <a:r>
                        <a:rPr lang="en-US" sz="1000" b="0" u="none" kern="0" spc="0" baseline="0" dirty="0">
                          <a:solidFill>
                            <a:schemeClr val="tx1"/>
                          </a:solidFill>
                          <a:latin typeface="+mn-lt"/>
                          <a:ea typeface="+mn-ea"/>
                          <a:cs typeface="+mn-cs"/>
                        </a:rPr>
                        <a:t> HVS, Nehmer and the brokerages hold more capex data than anyone, and they sell it as advisory hours. Productising it would cannibalise the fee stream that funds the data collection.</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Software incumbents manage capex, they do not benchmark it:</a:t>
                      </a:r>
                      <a:r>
                        <a:rPr lang="en-US" sz="1000" b="0" u="none" kern="0" spc="0" baseline="0" dirty="0">
                          <a:solidFill>
                            <a:schemeClr val="tx1"/>
                          </a:solidFill>
                          <a:latin typeface="+mn-lt"/>
                          <a:ea typeface="+mn-ea"/>
                          <a:cs typeface="+mn-cs"/>
                        </a:rPr>
                        <a:t> Actabl's Transcendent plans and tracks one owner's capital projects. It has no cross-owner comparison layer, because no single owner's data is a benchmark.</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STR proved the model on the revenue side:</a:t>
                      </a:r>
                      <a:r>
                        <a:rPr lang="en-US" sz="1000" b="0" u="none" kern="0" spc="0" baseline="0" dirty="0">
                          <a:solidFill>
                            <a:schemeClr val="tx1"/>
                          </a:solidFill>
                          <a:latin typeface="+mn-lt"/>
                          <a:ea typeface="+mn-ea"/>
                          <a:cs typeface="+mn-cs"/>
                        </a:rPr>
                        <a:t> Occupancy, ADR and RevPAR benchmarking became a durable data monopoly through contributory pooling. The cost side of the P&amp;L has no equivalent, and the same contributory mechanic is available.</a:t>
                      </a:r>
                    </a:p>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The founder advantage is the entry point, not the product</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Access is the scarce input:</a:t>
                      </a:r>
                      <a:r>
                        <a:rPr lang="en-US" sz="1000" b="0" u="none" kern="0" spc="0" baseline="0" dirty="0">
                          <a:solidFill>
                            <a:schemeClr val="tx1"/>
                          </a:solidFill>
                          <a:latin typeface="+mn-lt"/>
                          <a:ea typeface="+mn-ea"/>
                          <a:cs typeface="+mn-cs"/>
                        </a:rPr>
                        <a:t> A contributory dataset needs owners willing to hand over historical capex before there is a product to show them. That is a relationship problem, and it is the one part of this that cannot be hired.</a:t>
                      </a:r>
                    </a:p>
                  </a:txBody>
                  <a:tcPr marL="36000" marR="36000" marT="91440" marB="91440"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5079713"/>
                  </a:ext>
                </a:extLst>
              </a:tr>
            </a:tbl>
          </a:graphicData>
        </a:graphic>
      </p:graphicFrame>
    </p:spTree>
    <p:extLst>
      <p:ext uri="{BB962C8B-B14F-4D97-AF65-F5344CB8AC3E}">
        <p14:creationId xmlns:p14="http://schemas.microsoft.com/office/powerpoint/2010/main" val="1814860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9A13-2B42-BEB7-4AD2-E66793389E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BD7D85-4D15-7473-D50F-996A98D8A114}"/>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26</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itle 2">
            <a:extLst>
              <a:ext uri="{FF2B5EF4-FFF2-40B4-BE49-F238E27FC236}">
                <a16:creationId xmlns:a16="http://schemas.microsoft.com/office/drawing/2014/main" id="{35745E89-2DDF-54A5-E1B6-77F88FAFBCCA}"/>
              </a:ext>
            </a:extLst>
          </p:cNvPr>
          <p:cNvSpPr>
            <a:spLocks noGrp="1"/>
          </p:cNvSpPr>
          <p:nvPr>
            <p:ph type="title"/>
          </p:nvPr>
        </p:nvSpPr>
        <p:spPr/>
        <p:txBody>
          <a:bodyPr/>
          <a:lstStyle/>
          <a:p>
            <a:r>
              <a:rPr lang="en-US" dirty="0"/>
              <a:t>Competitive map</a:t>
            </a:r>
          </a:p>
        </p:txBody>
      </p:sp>
      <p:sp>
        <p:nvSpPr>
          <p:cNvPr id="9" name="Rectangle 8">
            <a:extLst>
              <a:ext uri="{FF2B5EF4-FFF2-40B4-BE49-F238E27FC236}">
                <a16:creationId xmlns:a16="http://schemas.microsoft.com/office/drawing/2014/main" id="{C9E7D6FF-8B30-2BF1-F0BB-F2ACC6447940}"/>
              </a:ext>
            </a:extLst>
          </p:cNvPr>
          <p:cNvSpPr/>
          <p:nvPr/>
        </p:nvSpPr>
        <p:spPr>
          <a:xfrm>
            <a:off x="160020" y="603504"/>
            <a:ext cx="8823960" cy="274320"/>
          </a:xfrm>
          <a:prstGeom prst="rect">
            <a:avLst/>
          </a:prstGeom>
          <a:solidFill>
            <a:srgbClr val="0E2E5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4008" rIns="45720" rtlCol="0" anchor="ctr"/>
          <a:lstStyle/>
          <a:p>
            <a:pPr algn="l"/>
            <a:r>
              <a:rPr lang="en-US" sz="1000" b="1" kern="0" dirty="0" u="none">
                <a:solidFill>
                  <a:srgbClr val="FFFFFF"/>
                </a:solidFill>
                <a:latin typeface="Calibri"/>
              </a:rPr>
              <a:t>Overlap with the proposed product (red denotes a crowded lane, green denotes open space)</a:t>
            </a:r>
            <a:endParaRPr lang="en-US" sz="900" b="1" kern="0" dirty="0">
              <a:solidFill>
                <a:srgbClr val="FF0000"/>
              </a:solidFill>
            </a:endParaRPr>
          </a:p>
        </p:txBody>
      </p:sp>
      <p:graphicFrame>
        <p:nvGraphicFramePr>
          <p:cNvPr id="10" name="Table 9">
            <a:extLst>
              <a:ext uri="{FF2B5EF4-FFF2-40B4-BE49-F238E27FC236}">
                <a16:creationId xmlns:a16="http://schemas.microsoft.com/office/drawing/2014/main" id="{1B237A7A-DE7F-C779-E098-FB2FBA99ABDE}"/>
              </a:ext>
            </a:extLst>
          </p:cNvPr>
          <p:cNvGraphicFramePr>
            <a:graphicFrameLocks noGrp="1"/>
          </p:cNvGraphicFramePr>
          <p:nvPr>
            <p:extLst>
              <p:ext uri="{D42A27DB-BD31-4B8C-83A1-F6EECF244321}">
                <p14:modId xmlns:p14="http://schemas.microsoft.com/office/powerpoint/2010/main" val="2039852589"/>
              </p:ext>
            </p:extLst>
          </p:nvPr>
        </p:nvGraphicFramePr>
        <p:xfrm>
          <a:off x="160020" y="896112"/>
          <a:ext cx="8823959" cy="5102352"/>
        </p:xfrm>
        <a:graphic>
          <a:graphicData uri="http://schemas.openxmlformats.org/drawingml/2006/table">
            <a:tbl>
              <a:tblPr/>
              <a:tblGrid>
                <a:gridCol w="1874519">
                  <a:extLst>
                    <a:ext uri="{9D8B030D-6E8A-4147-A177-3AD203B41FA5}">
                      <a16:colId xmlns:a16="http://schemas.microsoft.com/office/drawing/2014/main" val="2045504679"/>
                    </a:ext>
                  </a:extLst>
                </a:gridCol>
                <a:gridCol w="1600200">
                  <a:extLst>
                    <a:ext uri="{9D8B030D-6E8A-4147-A177-3AD203B41FA5}">
                      <a16:colId xmlns:a16="http://schemas.microsoft.com/office/drawing/2014/main" val="1500048310"/>
                    </a:ext>
                  </a:extLst>
                </a:gridCol>
                <a:gridCol w="777240">
                  <a:extLst>
                    <a:ext uri="{9D8B030D-6E8A-4147-A177-3AD203B41FA5}">
                      <a16:colId xmlns:a16="http://schemas.microsoft.com/office/drawing/2014/main" val="1123483130"/>
                    </a:ext>
                  </a:extLst>
                </a:gridCol>
                <a:gridCol w="960120">
                  <a:extLst>
                    <a:ext uri="{9D8B030D-6E8A-4147-A177-3AD203B41FA5}">
                      <a16:colId xmlns:a16="http://schemas.microsoft.com/office/drawing/2014/main" val="3331087705"/>
                    </a:ext>
                  </a:extLst>
                </a:gridCol>
                <a:gridCol w="3611880">
                  <a:extLst>
                    <a:ext uri="{9D8B030D-6E8A-4147-A177-3AD203B41FA5}">
                      <a16:colId xmlns:a16="http://schemas.microsoft.com/office/drawing/2014/main" val="2191868649"/>
                    </a:ext>
                  </a:extLst>
                </a:gridCol>
              </a:tblGrid>
              <a:tr h="566928">
                <a:tc>
                  <a:txBody>
                    <a:bodyPr/>
                    <a:lstStyle/>
                    <a:p>
                      <a:pPr algn="l">
                        <a:buNone/>
                      </a:pPr>
                      <a:r>
                        <a:rPr sz="800" b="1">
                          <a:solidFill>
                            <a:srgbClr val="FFFFFF"/>
                          </a:solidFill>
                          <a:latin typeface="Calibri"/>
                        </a:rPr>
                        <a:t>Player</a:t>
                      </a:r>
                      <a:endParaRPr lang="en-US" sz="800" b="1" dirty="0">
                        <a:effectLst/>
                      </a:endParaRP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800" b="1" dirty="0" u="none">
                          <a:solidFill>
                            <a:srgbClr val="FFFFFF"/>
                          </a:solidFill>
                          <a:effectLst/>
                          <a:latin typeface="Calibri"/>
                        </a:rPr>
                        <a:t>Primary Buyer</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800" b="1" dirty="0" u="none">
                          <a:solidFill>
                            <a:srgbClr val="FFFFFF"/>
                          </a:solidFill>
                          <a:effectLst/>
                          <a:latin typeface="Calibri"/>
                        </a:rPr>
                        <a:t>Capex Data</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800" b="1" dirty="0" u="none">
                          <a:solidFill>
                            <a:srgbClr val="FFFFFF"/>
                          </a:solidFill>
                          <a:effectLst/>
                          <a:latin typeface="Calibri"/>
                        </a:rPr>
                        <a:t>Owner Reporting</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800" b="1" dirty="0" u="none">
                          <a:solidFill>
                            <a:srgbClr val="FFFFFF"/>
                          </a:solidFill>
                          <a:effectLst/>
                          <a:latin typeface="Calibri"/>
                        </a:rPr>
                        <a:t>Implication</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extLst>
                  <a:ext uri="{0D108BD9-81ED-4DB2-BD59-A6C34878D82A}">
                    <a16:rowId xmlns:a16="http://schemas.microsoft.com/office/drawing/2014/main" val="716169627"/>
                  </a:ext>
                </a:extLst>
              </a:tr>
              <a:tr h="566928">
                <a:tc>
                  <a:txBody>
                    <a:bodyPr/>
                    <a:lstStyle/>
                    <a:p>
                      <a:pPr algn="l">
                        <a:buNone/>
                      </a:pPr>
                      <a:r>
                        <a:rPr lang="en-US" sz="800" b="0" dirty="0" u="none">
                          <a:solidFill>
                            <a:srgbClr val="080808"/>
                          </a:solidFill>
                          <a:effectLst/>
                          <a:latin typeface="Calibri"/>
                        </a:rPr>
                        <a:t>Actabl (ProfitSword, Transcendent)</a:t>
                      </a:r>
                    </a:p>
                  </a:txBody>
                  <a:tcPr marL="45720" marR="45720" marT="9144" marB="9144" anchor="ctr">
                    <a:lnL w="6350" cap="flat" cmpd="sng" algn="ctr">
                      <a:solidFill>
                        <a:srgbClr val="A0ABB4"/>
                      </a:solidFill>
                      <a:prstDash val="solid"/>
                      <a:round/>
                      <a:headEnd type="none" w="med" len="med"/>
                      <a:tailEnd type="none" w="med" len="med"/>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noFill/>
                  </a:tcPr>
                </a:tc>
                <a:tc>
                  <a:txBody>
                    <a:bodyPr/>
                    <a:lstStyle/>
                    <a:p>
                      <a:pPr algn="ctr">
                        <a:buNone/>
                      </a:pPr>
                      <a:r>
                        <a:rPr sz="800" b="0">
                          <a:solidFill>
                            <a:srgbClr val="080808"/>
                          </a:solidFill>
                          <a:latin typeface="Calibri"/>
                        </a:rPr>
                        <a:t>Mgmt. cos.; large owners</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800" b="0">
                          <a:solidFill>
                            <a:srgbClr val="080808"/>
                          </a:solidFill>
                          <a:latin typeface="Calibri"/>
                        </a:rPr>
                        <a:t>Medium</a:t>
                      </a:r>
                      <a:endParaRPr lang="en-US" sz="800" dirty="0">
                        <a:effectLst/>
                      </a:endParaRPr>
                    </a:p>
                  </a:txBody>
                  <a:tcPr marL="45720" marR="45720" marT="9144" marB="9144" anchor="ctr">
                    <a:lnL>
                      <a:noFill/>
                    </a:lnL>
                    <a:lnR>
                      <a:noFill/>
                    </a:lnR>
                    <a:lnT>
                      <a:noFill/>
                    </a:lnT>
                    <a:lnB>
                      <a:noFill/>
                    </a:lnB>
                    <a:solidFill>
                      <a:srgbClr val="F2F2F2"/>
                    </a:solidFill>
                  </a:tcPr>
                </a:tc>
                <a:tc>
                  <a:txBody>
                    <a:bodyPr/>
                    <a:lstStyle/>
                    <a:p>
                      <a:pPr algn="ctr">
                        <a:buNone/>
                      </a:pPr>
                      <a:r>
                        <a:rPr sz="800" b="0">
                          <a:solidFill>
                            <a:srgbClr val="080808"/>
                          </a:solidFill>
                          <a:latin typeface="Calibri"/>
                        </a:rPr>
                        <a:t>High</a:t>
                      </a:r>
                      <a:endParaRPr lang="en-US" sz="800" dirty="0">
                        <a:effectLst/>
                      </a:endParaRPr>
                    </a:p>
                  </a:txBody>
                  <a:tcPr marL="45720" marR="45720" marT="9144" marB="9144" anchor="ctr">
                    <a:lnL>
                      <a:noFill/>
                    </a:lnL>
                    <a:lnR>
                      <a:noFill/>
                    </a:lnR>
                    <a:lnT>
                      <a:noFill/>
                    </a:lnT>
                    <a:lnB>
                      <a:noFill/>
                    </a:lnB>
                    <a:solidFill>
                      <a:srgbClr val="F2DCDB"/>
                    </a:solidFill>
                  </a:tcPr>
                </a:tc>
                <a:tc>
                  <a:txBody>
                    <a:bodyPr/>
                    <a:lstStyle/>
                    <a:p>
                      <a:pPr algn="ctr">
                        <a:buNone/>
                      </a:pPr>
                      <a:r>
                        <a:rPr sz="800" b="0">
                          <a:solidFill>
                            <a:srgbClr val="080808"/>
                          </a:solidFill>
                          <a:latin typeface="Calibri"/>
                        </a:rPr>
                        <a:t>Incumbent on reporting. Transcendent manages one owner's capex, it does not benchmark across owners.</a:t>
                      </a:r>
                      <a:endParaRPr lang="en-US" sz="800" dirty="0">
                        <a:effectLst/>
                      </a:endParaRPr>
                    </a:p>
                  </a:txBody>
                  <a:tcPr marL="45720" marR="45720" marT="9144" marB="9144" anchor="ctr">
                    <a:lnL>
                      <a:noFill/>
                    </a:lnL>
                    <a:lnR>
                      <a:noFill/>
                    </a:lnR>
                    <a:lnT>
                      <a:noFill/>
                    </a:lnT>
                    <a:lnB>
                      <a:noFill/>
                    </a:lnB>
                    <a:noFill/>
                  </a:tcPr>
                </a:tc>
                <a:extLst>
                  <a:ext uri="{0D108BD9-81ED-4DB2-BD59-A6C34878D82A}">
                    <a16:rowId xmlns:a16="http://schemas.microsoft.com/office/drawing/2014/main" val="1281518369"/>
                  </a:ext>
                </a:extLst>
              </a:tr>
              <a:tr h="566928">
                <a:tc>
                  <a:txBody>
                    <a:bodyPr/>
                    <a:lstStyle/>
                    <a:p>
                      <a:pPr algn="l">
                        <a:buNone/>
                      </a:pPr>
                      <a:r>
                        <a:rPr lang="en-US" sz="800" b="0" dirty="0" u="none">
                          <a:solidFill>
                            <a:srgbClr val="080808"/>
                          </a:solidFill>
                          <a:effectLst/>
                          <a:latin typeface="Calibri"/>
                        </a:rPr>
                        <a:t>Otelier (IntelliSight)</a:t>
                      </a: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800" dirty="0" b="0" u="none">
                          <a:solidFill>
                            <a:srgbClr val="080808"/>
                          </a:solidFill>
                          <a:effectLst/>
                          <a:latin typeface="Calibri"/>
                        </a:rPr>
                        <a:t>Mgmt. cos.; institutional owners</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800" dirty="0" b="0" u="none">
                          <a:solidFill>
                            <a:srgbClr val="080808"/>
                          </a:solidFill>
                          <a:effectLst/>
                          <a:latin typeface="Calibri"/>
                        </a:rPr>
                        <a:t>Low</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2EFDA"/>
                    </a:solidFill>
                  </a:tcPr>
                </a:tc>
                <a:tc>
                  <a:txBody>
                    <a:bodyPr/>
                    <a:lstStyle/>
                    <a:p>
                      <a:pPr algn="ctr">
                        <a:buNone/>
                      </a:pPr>
                      <a:r>
                        <a:rPr lang="en-US" sz="800" dirty="0" b="0" u="none">
                          <a:solidFill>
                            <a:srgbClr val="080808"/>
                          </a:solidFill>
                          <a:effectLst/>
                          <a:latin typeface="Calibri"/>
                        </a:rPr>
                        <a:t>High</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DCDB"/>
                    </a:solidFill>
                  </a:tcPr>
                </a:tc>
                <a:tc>
                  <a:txBody>
                    <a:bodyPr/>
                    <a:lstStyle/>
                    <a:p>
                      <a:pPr algn="ctr">
                        <a:buNone/>
                      </a:pPr>
                      <a:r>
                        <a:rPr lang="en-US" sz="800" dirty="0" b="0" u="none">
                          <a:solidFill>
                            <a:srgbClr val="080808"/>
                          </a:solidFill>
                          <a:effectLst/>
                          <a:latin typeface="Calibri"/>
                        </a:rPr>
                        <a:t>Landed the owner normalisation use case at Highline (21 hotels, $1.7B). Closes the door on a pure normalisation pitch.</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extLst>
                  <a:ext uri="{0D108BD9-81ED-4DB2-BD59-A6C34878D82A}">
                    <a16:rowId xmlns:a16="http://schemas.microsoft.com/office/drawing/2014/main" val="138252583"/>
                  </a:ext>
                </a:extLst>
              </a:tr>
              <a:tr h="566928">
                <a:tc>
                  <a:txBody>
                    <a:bodyPr/>
                    <a:lstStyle/>
                    <a:p>
                      <a:pPr algn="l">
                        <a:buNone/>
                      </a:pPr>
                      <a:r>
                        <a:rPr lang="en-US" sz="800" b="0" dirty="0" u="none">
                          <a:solidFill>
                            <a:srgbClr val="080808"/>
                          </a:solidFill>
                          <a:effectLst/>
                          <a:latin typeface="Calibri"/>
                        </a:rPr>
                        <a:t>Inn-Flow</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800" dirty="0" b="0" u="none">
                          <a:solidFill>
                            <a:srgbClr val="080808"/>
                          </a:solidFill>
                          <a:effectLst/>
                          <a:latin typeface="Calibri"/>
                        </a:rPr>
                        <a:t>Small and mid-market operators</a:t>
                      </a:r>
                    </a:p>
                  </a:txBody>
                  <a:tcPr marL="45720" marR="45720" marT="9144" marB="9144" anchor="ctr">
                    <a:lnL>
                      <a:noFill/>
                    </a:lnL>
                    <a:lnR>
                      <a:noFill/>
                    </a:lnR>
                    <a:lnT>
                      <a:noFill/>
                    </a:lnT>
                    <a:lnB>
                      <a:noFill/>
                    </a:lnB>
                    <a:noFill/>
                  </a:tcPr>
                </a:tc>
                <a:tc>
                  <a:txBody>
                    <a:bodyPr/>
                    <a:lstStyle/>
                    <a:p>
                      <a:pPr algn="ctr">
                        <a:buNone/>
                      </a:pPr>
                      <a:r>
                        <a:rPr lang="en-US" sz="800" dirty="0" b="0" u="none">
                          <a:solidFill>
                            <a:srgbClr val="080808"/>
                          </a:solidFill>
                          <a:effectLst/>
                          <a:latin typeface="Calibri"/>
                        </a:rPr>
                        <a:t>Low</a:t>
                      </a:r>
                    </a:p>
                  </a:txBody>
                  <a:tcPr marL="45720" marR="45720" marT="9144" marB="9144" anchor="ctr">
                    <a:lnL>
                      <a:noFill/>
                    </a:lnL>
                    <a:lnR>
                      <a:noFill/>
                    </a:lnR>
                    <a:lnT>
                      <a:noFill/>
                    </a:lnT>
                    <a:lnB>
                      <a:noFill/>
                    </a:lnB>
                    <a:solidFill>
                      <a:srgbClr val="E2EFDA"/>
                    </a:solidFill>
                  </a:tcPr>
                </a:tc>
                <a:tc>
                  <a:txBody>
                    <a:bodyPr/>
                    <a:lstStyle/>
                    <a:p>
                      <a:pPr algn="ctr">
                        <a:buNone/>
                      </a:pPr>
                      <a:r>
                        <a:rPr lang="en-US" sz="800" dirty="0" b="0" u="none">
                          <a:solidFill>
                            <a:srgbClr val="080808"/>
                          </a:solidFill>
                          <a:effectLst/>
                          <a:latin typeface="Calibri"/>
                        </a:rPr>
                        <a:t>Medium</a:t>
                      </a:r>
                    </a:p>
                  </a:txBody>
                  <a:tcPr marL="45720" marR="45720" marT="9144" marB="9144" anchor="ctr">
                    <a:lnL>
                      <a:noFill/>
                    </a:lnL>
                    <a:lnR>
                      <a:noFill/>
                    </a:lnR>
                    <a:lnT>
                      <a:noFill/>
                    </a:lnT>
                    <a:lnB>
                      <a:noFill/>
                    </a:lnB>
                    <a:solidFill>
                      <a:srgbClr val="F2F2F2"/>
                    </a:solidFill>
                  </a:tcPr>
                </a:tc>
                <a:tc>
                  <a:txBody>
                    <a:bodyPr/>
                    <a:lstStyle/>
                    <a:p>
                      <a:pPr algn="ctr">
                        <a:buNone/>
                      </a:pPr>
                      <a:r>
                        <a:rPr lang="en-US" sz="800" dirty="0" b="0" u="none">
                          <a:solidFill>
                            <a:srgbClr val="080808"/>
                          </a:solidFill>
                          <a:effectLst/>
                          <a:latin typeface="Calibri"/>
                        </a:rPr>
                        <a:t>Owns the mid-market back office. A partner rather than a competitor.</a:t>
                      </a:r>
                    </a:p>
                  </a:txBody>
                  <a:tcPr marL="45720" marR="45720" marT="9144" marB="9144" anchor="ctr">
                    <a:lnL>
                      <a:noFill/>
                    </a:lnL>
                    <a:lnR>
                      <a:noFill/>
                    </a:lnR>
                    <a:lnT>
                      <a:noFill/>
                    </a:lnT>
                    <a:lnB>
                      <a:noFill/>
                    </a:lnB>
                    <a:noFill/>
                  </a:tcPr>
                </a:tc>
                <a:extLst>
                  <a:ext uri="{0D108BD9-81ED-4DB2-BD59-A6C34878D82A}">
                    <a16:rowId xmlns:a16="http://schemas.microsoft.com/office/drawing/2014/main" val="4022646303"/>
                  </a:ext>
                </a:extLst>
              </a:tr>
              <a:tr h="566928">
                <a:tc>
                  <a:txBody>
                    <a:bodyPr/>
                    <a:lstStyle/>
                    <a:p>
                      <a:pPr algn="l">
                        <a:buNone/>
                      </a:pPr>
                      <a:r>
                        <a:rPr lang="en-US" sz="800" b="0" dirty="0" u="none">
                          <a:solidFill>
                            <a:srgbClr val="080808"/>
                          </a:solidFill>
                          <a:effectLst/>
                          <a:latin typeface="Calibri"/>
                        </a:rPr>
                        <a:t>M3 and Aptech</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800" dirty="0" b="0" u="none">
                          <a:solidFill>
                            <a:srgbClr val="080808"/>
                          </a:solidFill>
                          <a:effectLst/>
                          <a:latin typeface="Calibri"/>
                        </a:rPr>
                        <a:t>Management companies</a:t>
                      </a:r>
                    </a:p>
                  </a:txBody>
                  <a:tcPr marL="45720" marR="45720" marT="9144" marB="9144" anchor="ctr">
                    <a:lnL>
                      <a:noFill/>
                    </a:lnL>
                    <a:lnR>
                      <a:noFill/>
                    </a:lnR>
                    <a:lnT>
                      <a:noFill/>
                    </a:lnT>
                    <a:lnB>
                      <a:noFill/>
                    </a:lnB>
                    <a:solidFill>
                      <a:srgbClr val="ECEEF0"/>
                    </a:solidFill>
                  </a:tcPr>
                </a:tc>
                <a:tc>
                  <a:txBody>
                    <a:bodyPr/>
                    <a:lstStyle/>
                    <a:p>
                      <a:pPr algn="ctr">
                        <a:buNone/>
                      </a:pPr>
                      <a:r>
                        <a:rPr lang="en-US" sz="800" dirty="0" b="0" u="none">
                          <a:solidFill>
                            <a:srgbClr val="080808"/>
                          </a:solidFill>
                          <a:effectLst/>
                          <a:latin typeface="Calibri"/>
                        </a:rPr>
                        <a:t>Low</a:t>
                      </a:r>
                    </a:p>
                  </a:txBody>
                  <a:tcPr marL="45720" marR="45720" marT="9144" marB="9144" anchor="ctr">
                    <a:lnL>
                      <a:noFill/>
                    </a:lnL>
                    <a:lnR>
                      <a:noFill/>
                    </a:lnR>
                    <a:lnT>
                      <a:noFill/>
                    </a:lnT>
                    <a:lnB>
                      <a:noFill/>
                    </a:lnB>
                    <a:solidFill>
                      <a:srgbClr val="E2EFDA"/>
                    </a:solidFill>
                  </a:tcPr>
                </a:tc>
                <a:tc>
                  <a:txBody>
                    <a:bodyPr/>
                    <a:lstStyle/>
                    <a:p>
                      <a:pPr algn="ctr">
                        <a:buNone/>
                      </a:pPr>
                      <a:r>
                        <a:rPr lang="en-US" sz="800" dirty="0" b="0" u="none">
                          <a:solidFill>
                            <a:srgbClr val="080808"/>
                          </a:solidFill>
                          <a:effectLst/>
                          <a:latin typeface="Calibri"/>
                        </a:rPr>
                        <a:t>Medium</a:t>
                      </a:r>
                    </a:p>
                  </a:txBody>
                  <a:tcPr marL="45720" marR="45720" marT="9144" marB="9144" anchor="ctr">
                    <a:lnL>
                      <a:noFill/>
                    </a:lnL>
                    <a:lnR>
                      <a:noFill/>
                    </a:lnR>
                    <a:lnT>
                      <a:noFill/>
                    </a:lnT>
                    <a:lnB>
                      <a:noFill/>
                    </a:lnB>
                    <a:solidFill>
                      <a:srgbClr val="F2F2F2"/>
                    </a:solidFill>
                  </a:tcPr>
                </a:tc>
                <a:tc>
                  <a:txBody>
                    <a:bodyPr/>
                    <a:lstStyle/>
                    <a:p>
                      <a:pPr algn="ctr">
                        <a:buNone/>
                      </a:pPr>
                      <a:r>
                        <a:rPr lang="en-US" sz="800" dirty="0" b="0" u="none">
                          <a:solidFill>
                            <a:srgbClr val="080808"/>
                          </a:solidFill>
                          <a:effectLst/>
                          <a:latin typeface="Calibri"/>
                        </a:rPr>
                        <a:t>System of record, not system of insight. The natural integration target.</a:t>
                      </a:r>
                    </a:p>
                  </a:txBody>
                  <a:tcPr marL="45720" marR="45720" marT="9144" marB="9144" anchor="ctr">
                    <a:lnL>
                      <a:noFill/>
                    </a:lnL>
                    <a:lnR>
                      <a:noFill/>
                    </a:lnR>
                    <a:lnT>
                      <a:noFill/>
                    </a:lnT>
                    <a:lnB>
                      <a:noFill/>
                    </a:lnB>
                    <a:solidFill>
                      <a:srgbClr val="ECEEF0"/>
                    </a:solidFill>
                  </a:tcPr>
                </a:tc>
                <a:extLst>
                  <a:ext uri="{0D108BD9-81ED-4DB2-BD59-A6C34878D82A}">
                    <a16:rowId xmlns:a16="http://schemas.microsoft.com/office/drawing/2014/main" val="3292835242"/>
                  </a:ext>
                </a:extLst>
              </a:tr>
              <a:tr h="566928">
                <a:tc>
                  <a:txBody>
                    <a:bodyPr/>
                    <a:lstStyle/>
                    <a:p>
                      <a:pPr algn="l">
                        <a:buNone/>
                      </a:pPr>
                      <a:r>
                        <a:rPr lang="en-US" sz="800" b="0" dirty="0" u="none">
                          <a:solidFill>
                            <a:srgbClr val="080808"/>
                          </a:solidFill>
                          <a:effectLst/>
                          <a:latin typeface="Calibri"/>
                        </a:rPr>
                        <a:t>HVS and Nehmer Cost Guide</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800" dirty="0" b="0" u="none">
                          <a:solidFill>
                            <a:srgbClr val="080808"/>
                          </a:solidFill>
                          <a:effectLst/>
                          <a:latin typeface="Calibri"/>
                        </a:rPr>
                        <a:t>Owners, appraisers, contractors</a:t>
                      </a:r>
                    </a:p>
                  </a:txBody>
                  <a:tcPr marL="45720" marR="45720" marT="9144" marB="9144" anchor="ctr">
                    <a:lnL>
                      <a:noFill/>
                    </a:lnL>
                    <a:lnR>
                      <a:noFill/>
                    </a:lnR>
                    <a:lnT>
                      <a:noFill/>
                    </a:lnT>
                    <a:lnB>
                      <a:noFill/>
                    </a:lnB>
                    <a:noFill/>
                  </a:tcPr>
                </a:tc>
                <a:tc>
                  <a:txBody>
                    <a:bodyPr/>
                    <a:lstStyle/>
                    <a:p>
                      <a:pPr algn="ctr">
                        <a:buNone/>
                      </a:pPr>
                      <a:r>
                        <a:rPr lang="en-US" sz="800" dirty="0" b="0" u="none">
                          <a:solidFill>
                            <a:srgbClr val="080808"/>
                          </a:solidFill>
                          <a:effectLst/>
                          <a:latin typeface="Calibri"/>
                        </a:rPr>
                        <a:t>High</a:t>
                      </a:r>
                    </a:p>
                  </a:txBody>
                  <a:tcPr marL="45720" marR="45720" marT="9144" marB="9144" anchor="ctr">
                    <a:lnL>
                      <a:noFill/>
                    </a:lnL>
                    <a:lnR>
                      <a:noFill/>
                    </a:lnR>
                    <a:lnT>
                      <a:noFill/>
                    </a:lnT>
                    <a:lnB>
                      <a:noFill/>
                    </a:lnB>
                    <a:solidFill>
                      <a:srgbClr val="F2DCDB"/>
                    </a:solidFill>
                  </a:tcPr>
                </a:tc>
                <a:tc>
                  <a:txBody>
                    <a:bodyPr/>
                    <a:lstStyle/>
                    <a:p>
                      <a:pPr algn="ctr">
                        <a:buNone/>
                      </a:pPr>
                      <a:r>
                        <a:rPr lang="en-US" sz="800" dirty="0" b="0" u="none">
                          <a:solidFill>
                            <a:srgbClr val="080808"/>
                          </a:solidFill>
                          <a:effectLst/>
                          <a:latin typeface="Calibri"/>
                        </a:rPr>
                        <a:t>Low</a:t>
                      </a:r>
                    </a:p>
                  </a:txBody>
                  <a:tcPr marL="45720" marR="45720" marT="9144" marB="9144" anchor="ctr">
                    <a:lnL>
                      <a:noFill/>
                    </a:lnL>
                    <a:lnR>
                      <a:noFill/>
                    </a:lnR>
                    <a:lnT>
                      <a:noFill/>
                    </a:lnT>
                    <a:lnB>
                      <a:noFill/>
                    </a:lnB>
                    <a:solidFill>
                      <a:srgbClr val="E2EFDA"/>
                    </a:solidFill>
                  </a:tcPr>
                </a:tc>
                <a:tc>
                  <a:txBody>
                    <a:bodyPr/>
                    <a:lstStyle/>
                    <a:p>
                      <a:pPr algn="ctr">
                        <a:buNone/>
                      </a:pPr>
                      <a:r>
                        <a:rPr lang="en-US" sz="800" dirty="0" b="0" u="none">
                          <a:solidFill>
                            <a:srgbClr val="080808"/>
                          </a:solidFill>
                          <a:effectLst/>
                          <a:latin typeface="Calibri"/>
                        </a:rPr>
                        <a:t>The closest benchmark today, and it is a static annual publication rather than a queryable dataset.</a:t>
                      </a:r>
                    </a:p>
                  </a:txBody>
                  <a:tcPr marL="45720" marR="45720" marT="9144" marB="9144" anchor="ctr">
                    <a:lnL>
                      <a:noFill/>
                    </a:lnL>
                    <a:lnR>
                      <a:noFill/>
                    </a:lnR>
                    <a:lnT>
                      <a:noFill/>
                    </a:lnT>
                    <a:lnB>
                      <a:noFill/>
                    </a:lnB>
                    <a:noFill/>
                  </a:tcPr>
                </a:tc>
                <a:extLst>
                  <a:ext uri="{0D108BD9-81ED-4DB2-BD59-A6C34878D82A}">
                    <a16:rowId xmlns:a16="http://schemas.microsoft.com/office/drawing/2014/main" val="1165910800"/>
                  </a:ext>
                </a:extLst>
              </a:tr>
              <a:tr h="566928">
                <a:tc>
                  <a:txBody>
                    <a:bodyPr/>
                    <a:lstStyle/>
                    <a:p>
                      <a:pPr algn="l">
                        <a:buNone/>
                      </a:pPr>
                      <a:r>
                        <a:rPr lang="en-US" sz="800" b="0" dirty="0" u="none">
                          <a:solidFill>
                            <a:srgbClr val="080808"/>
                          </a:solidFill>
                          <a:effectLst/>
                          <a:latin typeface="Calibri"/>
                        </a:rPr>
                        <a:t>ISHC CapEx Study (with HAMA)</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800" dirty="0" b="0" u="none">
                          <a:solidFill>
                            <a:srgbClr val="080808"/>
                          </a:solidFill>
                          <a:effectLst/>
                          <a:latin typeface="Calibri"/>
                        </a:rPr>
                        <a:t>Owners and asset managers</a:t>
                      </a:r>
                    </a:p>
                  </a:txBody>
                  <a:tcPr marL="45720" marR="45720" marT="9144" marB="9144" anchor="ctr">
                    <a:lnL>
                      <a:noFill/>
                    </a:lnL>
                    <a:lnR>
                      <a:noFill/>
                    </a:lnR>
                    <a:lnT>
                      <a:noFill/>
                    </a:lnT>
                    <a:lnB>
                      <a:noFill/>
                    </a:lnB>
                    <a:solidFill>
                      <a:srgbClr val="ECEEF0"/>
                    </a:solidFill>
                  </a:tcPr>
                </a:tc>
                <a:tc>
                  <a:txBody>
                    <a:bodyPr/>
                    <a:lstStyle/>
                    <a:p>
                      <a:pPr algn="ctr">
                        <a:buNone/>
                      </a:pPr>
                      <a:r>
                        <a:rPr lang="en-US" sz="800" dirty="0" b="0" u="none">
                          <a:solidFill>
                            <a:srgbClr val="080808"/>
                          </a:solidFill>
                          <a:effectLst/>
                          <a:latin typeface="Calibri"/>
                        </a:rPr>
                        <a:t>High</a:t>
                      </a:r>
                    </a:p>
                  </a:txBody>
                  <a:tcPr marL="45720" marR="45720" marT="9144" marB="9144" anchor="ctr">
                    <a:lnL>
                      <a:noFill/>
                    </a:lnL>
                    <a:lnR>
                      <a:noFill/>
                    </a:lnR>
                    <a:lnT>
                      <a:noFill/>
                    </a:lnT>
                    <a:lnB>
                      <a:noFill/>
                    </a:lnB>
                    <a:solidFill>
                      <a:srgbClr val="F2DCDB"/>
                    </a:solidFill>
                  </a:tcPr>
                </a:tc>
                <a:tc>
                  <a:txBody>
                    <a:bodyPr/>
                    <a:lstStyle/>
                    <a:p>
                      <a:pPr algn="ctr">
                        <a:buNone/>
                      </a:pPr>
                      <a:r>
                        <a:rPr lang="en-US" sz="800" dirty="0" b="0" u="none">
                          <a:solidFill>
                            <a:srgbClr val="080808"/>
                          </a:solidFill>
                          <a:effectLst/>
                          <a:latin typeface="Calibri"/>
                        </a:rPr>
                        <a:t>Low</a:t>
                      </a:r>
                    </a:p>
                  </a:txBody>
                  <a:tcPr marL="45720" marR="45720" marT="9144" marB="9144" anchor="ctr">
                    <a:lnL>
                      <a:noFill/>
                    </a:lnL>
                    <a:lnR>
                      <a:noFill/>
                    </a:lnR>
                    <a:lnT>
                      <a:noFill/>
                    </a:lnT>
                    <a:lnB>
                      <a:noFill/>
                    </a:lnB>
                    <a:solidFill>
                      <a:srgbClr val="E2EFDA"/>
                    </a:solidFill>
                  </a:tcPr>
                </a:tc>
                <a:tc>
                  <a:txBody>
                    <a:bodyPr/>
                    <a:lstStyle/>
                    <a:p>
                      <a:pPr algn="ctr">
                        <a:buNone/>
                      </a:pPr>
                      <a:r>
                        <a:rPr lang="en-US" sz="800" dirty="0" b="0" u="none">
                          <a:solidFill>
                            <a:srgbClr val="080808"/>
                          </a:solidFill>
                          <a:effectLst/>
                          <a:latin typeface="Calibri"/>
                        </a:rPr>
                        <a:t>Confirms both the demand and the gap. A study published every few years is not a product.</a:t>
                      </a:r>
                    </a:p>
                  </a:txBody>
                  <a:tcPr marL="45720" marR="45720" marT="9144" marB="9144" anchor="ctr">
                    <a:lnL>
                      <a:noFill/>
                    </a:lnL>
                    <a:lnR>
                      <a:noFill/>
                    </a:lnR>
                    <a:lnT>
                      <a:noFill/>
                    </a:lnT>
                    <a:lnB>
                      <a:noFill/>
                    </a:lnB>
                    <a:solidFill>
                      <a:srgbClr val="ECEEF0"/>
                    </a:solidFill>
                  </a:tcPr>
                </a:tc>
                <a:extLst>
                  <a:ext uri="{0D108BD9-81ED-4DB2-BD59-A6C34878D82A}">
                    <a16:rowId xmlns:a16="http://schemas.microsoft.com/office/drawing/2014/main" val="1588774024"/>
                  </a:ext>
                </a:extLst>
              </a:tr>
              <a:tr h="566928">
                <a:tc>
                  <a:txBody>
                    <a:bodyPr/>
                    <a:lstStyle/>
                    <a:p>
                      <a:pPr algn="l">
                        <a:buNone/>
                      </a:pPr>
                      <a:r>
                        <a:rPr lang="en-US" sz="800" b="0" dirty="0" u="none">
                          <a:solidFill>
                            <a:srgbClr val="080808"/>
                          </a:solidFill>
                          <a:effectLst/>
                          <a:latin typeface="Calibri"/>
                        </a:rPr>
                        <a:t>STR and CoStar</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800" dirty="0" b="0" u="none">
                          <a:solidFill>
                            <a:srgbClr val="080808"/>
                          </a:solidFill>
                          <a:effectLst/>
                          <a:latin typeface="Calibri"/>
                        </a:rPr>
                        <a:t>Everyone</a:t>
                      </a:r>
                    </a:p>
                  </a:txBody>
                  <a:tcPr marL="45720" marR="45720" marT="9144" marB="9144" anchor="ctr">
                    <a:lnL>
                      <a:noFill/>
                    </a:lnL>
                    <a:lnR>
                      <a:noFill/>
                    </a:lnR>
                    <a:lnT>
                      <a:noFill/>
                    </a:lnT>
                    <a:lnB>
                      <a:noFill/>
                    </a:lnB>
                    <a:noFill/>
                  </a:tcPr>
                </a:tc>
                <a:tc>
                  <a:txBody>
                    <a:bodyPr/>
                    <a:lstStyle/>
                    <a:p>
                      <a:pPr algn="ctr">
                        <a:buNone/>
                      </a:pPr>
                      <a:r>
                        <a:rPr lang="en-US" sz="800" dirty="0" b="0" u="none">
                          <a:solidFill>
                            <a:srgbClr val="080808"/>
                          </a:solidFill>
                          <a:effectLst/>
                          <a:latin typeface="Calibri"/>
                        </a:rPr>
                        <a:t>Low</a:t>
                      </a:r>
                    </a:p>
                  </a:txBody>
                  <a:tcPr marL="45720" marR="45720" marT="9144" marB="9144" anchor="ctr">
                    <a:lnL>
                      <a:noFill/>
                    </a:lnL>
                    <a:lnR>
                      <a:noFill/>
                    </a:lnR>
                    <a:lnT>
                      <a:noFill/>
                    </a:lnT>
                    <a:lnB>
                      <a:noFill/>
                    </a:lnB>
                    <a:solidFill>
                      <a:srgbClr val="E2EFDA"/>
                    </a:solidFill>
                  </a:tcPr>
                </a:tc>
                <a:tc>
                  <a:txBody>
                    <a:bodyPr/>
                    <a:lstStyle/>
                    <a:p>
                      <a:pPr algn="ctr">
                        <a:buNone/>
                      </a:pPr>
                      <a:r>
                        <a:rPr lang="en-US" sz="800" dirty="0" b="0" u="none">
                          <a:solidFill>
                            <a:srgbClr val="080808"/>
                          </a:solidFill>
                          <a:effectLst/>
                          <a:latin typeface="Calibri"/>
                        </a:rPr>
                        <a:t>Medium</a:t>
                      </a:r>
                    </a:p>
                  </a:txBody>
                  <a:tcPr marL="45720" marR="45720" marT="9144" marB="9144" anchor="ctr">
                    <a:lnL>
                      <a:noFill/>
                    </a:lnL>
                    <a:lnR>
                      <a:noFill/>
                    </a:lnR>
                    <a:lnT>
                      <a:noFill/>
                    </a:lnT>
                    <a:lnB>
                      <a:noFill/>
                    </a:lnB>
                    <a:solidFill>
                      <a:srgbClr val="F2F2F2"/>
                    </a:solidFill>
                  </a:tcPr>
                </a:tc>
                <a:tc>
                  <a:txBody>
                    <a:bodyPr/>
                    <a:lstStyle/>
                    <a:p>
                      <a:pPr algn="ctr">
                        <a:buNone/>
                      </a:pPr>
                      <a:r>
                        <a:rPr lang="en-US" sz="800" dirty="0" b="0" u="none">
                          <a:solidFill>
                            <a:srgbClr val="080808"/>
                          </a:solidFill>
                          <a:effectLst/>
                          <a:latin typeface="Calibri"/>
                        </a:rPr>
                        <a:t>Proof a hospitality data monopoly is defensible. The most credible acquirer and the most dangerous entrant.</a:t>
                      </a:r>
                    </a:p>
                  </a:txBody>
                  <a:tcPr marL="45720" marR="45720" marT="9144" marB="9144" anchor="ctr">
                    <a:lnL>
                      <a:noFill/>
                    </a:lnL>
                    <a:lnR>
                      <a:noFill/>
                    </a:lnR>
                    <a:lnT>
                      <a:noFill/>
                    </a:lnT>
                    <a:lnB>
                      <a:noFill/>
                    </a:lnB>
                    <a:noFill/>
                  </a:tcPr>
                </a:tc>
                <a:extLst>
                  <a:ext uri="{0D108BD9-81ED-4DB2-BD59-A6C34878D82A}">
                    <a16:rowId xmlns:a16="http://schemas.microsoft.com/office/drawing/2014/main" val="2174908012"/>
                  </a:ext>
                </a:extLst>
              </a:tr>
              <a:tr h="566928">
                <a:tc>
                  <a:txBody>
                    <a:bodyPr/>
                    <a:lstStyle/>
                    <a:p>
                      <a:pPr algn="l">
                        <a:buNone/>
                      </a:pPr>
                      <a:r>
                        <a:rPr lang="en-US" sz="800" b="0" dirty="0" u="none">
                          <a:solidFill>
                            <a:srgbClr val="080808"/>
                          </a:solidFill>
                          <a:effectLst/>
                          <a:latin typeface="Calibri"/>
                        </a:rPr>
                        <a:t>CBRE, JLL, Newmark</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800" dirty="0" b="0" u="none">
                          <a:solidFill>
                            <a:srgbClr val="080808"/>
                          </a:solidFill>
                          <a:effectLst/>
                          <a:latin typeface="Calibri"/>
                        </a:rPr>
                        <a:t>Owners and lenders</a:t>
                      </a:r>
                    </a:p>
                  </a:txBody>
                  <a:tcPr marL="45720" marR="45720" marT="9144" marB="9144" anchor="ctr">
                    <a:lnL>
                      <a:noFill/>
                    </a:lnL>
                    <a:lnR>
                      <a:noFill/>
                    </a:lnR>
                    <a:lnT>
                      <a:noFill/>
                    </a:lnT>
                    <a:lnB>
                      <a:noFill/>
                    </a:lnB>
                    <a:solidFill>
                      <a:srgbClr val="ECEEF0"/>
                    </a:solidFill>
                  </a:tcPr>
                </a:tc>
                <a:tc>
                  <a:txBody>
                    <a:bodyPr/>
                    <a:lstStyle/>
                    <a:p>
                      <a:pPr algn="ctr">
                        <a:buNone/>
                      </a:pPr>
                      <a:r>
                        <a:rPr lang="en-US" sz="800" dirty="0" b="0" u="none">
                          <a:solidFill>
                            <a:srgbClr val="080808"/>
                          </a:solidFill>
                          <a:effectLst/>
                          <a:latin typeface="Calibri"/>
                        </a:rPr>
                        <a:t>High</a:t>
                      </a:r>
                    </a:p>
                  </a:txBody>
                  <a:tcPr marL="45720" marR="45720" marT="9144" marB="9144" anchor="ctr">
                    <a:lnL>
                      <a:noFill/>
                    </a:lnL>
                    <a:lnR>
                      <a:noFill/>
                    </a:lnR>
                    <a:lnT>
                      <a:noFill/>
                    </a:lnT>
                    <a:lnB>
                      <a:noFill/>
                    </a:lnB>
                    <a:solidFill>
                      <a:srgbClr val="F2DCDB"/>
                    </a:solidFill>
                  </a:tcPr>
                </a:tc>
                <a:tc>
                  <a:txBody>
                    <a:bodyPr/>
                    <a:lstStyle/>
                    <a:p>
                      <a:pPr algn="ctr">
                        <a:buNone/>
                      </a:pPr>
                      <a:r>
                        <a:rPr lang="en-US" sz="800" dirty="0" b="0" u="none">
                          <a:solidFill>
                            <a:srgbClr val="080808"/>
                          </a:solidFill>
                          <a:effectLst/>
                          <a:latin typeface="Calibri"/>
                        </a:rPr>
                        <a:t>Low</a:t>
                      </a:r>
                    </a:p>
                  </a:txBody>
                  <a:tcPr marL="45720" marR="45720" marT="9144" marB="9144" anchor="ctr">
                    <a:lnL>
                      <a:noFill/>
                    </a:lnL>
                    <a:lnR>
                      <a:noFill/>
                    </a:lnR>
                    <a:lnT>
                      <a:noFill/>
                    </a:lnT>
                    <a:lnB>
                      <a:noFill/>
                    </a:lnB>
                    <a:solidFill>
                      <a:srgbClr val="E2EFDA"/>
                    </a:solidFill>
                  </a:tcPr>
                </a:tc>
                <a:tc>
                  <a:txBody>
                    <a:bodyPr/>
                    <a:lstStyle/>
                    <a:p>
                      <a:pPr algn="ctr">
                        <a:buNone/>
                      </a:pPr>
                      <a:r>
                        <a:rPr lang="en-US" sz="800" dirty="0" b="0" u="none">
                          <a:solidFill>
                            <a:srgbClr val="080808"/>
                          </a:solidFill>
                          <a:effectLst/>
                          <a:latin typeface="Calibri"/>
                        </a:rPr>
                        <a:t>Hold the data, monetise it as hours. Structurally unlikely to productise, and plausible design partners.</a:t>
                      </a:r>
                    </a:p>
                  </a:txBody>
                  <a:tcPr marL="45720" marR="45720" marT="9144" marB="9144" anchor="ctr">
                    <a:lnL>
                      <a:noFill/>
                    </a:lnL>
                    <a:lnR>
                      <a:noFill/>
                    </a:lnR>
                    <a:lnT>
                      <a:noFill/>
                    </a:lnT>
                    <a:lnB>
                      <a:noFill/>
                    </a:lnB>
                    <a:solidFill>
                      <a:srgbClr val="ECEEF0"/>
                    </a:solidFill>
                  </a:tcPr>
                </a:tc>
                <a:extLst>
                  <a:ext uri="{0D108BD9-81ED-4DB2-BD59-A6C34878D82A}">
                    <a16:rowId xmlns:a16="http://schemas.microsoft.com/office/drawing/2014/main" val="252964039"/>
                  </a:ext>
                </a:extLst>
              </a:tr>
            </a:tbl>
          </a:graphicData>
        </a:graphic>
      </p:graphicFrame>
      <p:sp>
        <p:nvSpPr>
          <p:cNvPr id="11" name="TextBox 10"/>
          <p:cNvSpPr txBox="1"/>
          <p:nvPr/>
        </p:nvSpPr>
        <p:spPr>
          <a:xfrm>
            <a:off x="160020" y="6053328"/>
            <a:ext cx="8823960" cy="219456"/>
          </a:xfrm>
          <a:prstGeom prst="rect">
            <a:avLst/>
          </a:prstGeom>
          <a:noFill/>
        </p:spPr>
        <p:txBody>
          <a:bodyPr wrap="square">
            <a:spAutoFit/>
          </a:bodyPr>
          <a:lstStyle/>
          <a:p>
            <a:r>
              <a:rPr sz="700" i="1">
                <a:solidFill>
                  <a:srgbClr val="9AA0A8"/>
                </a:solidFill>
                <a:latin typeface="Calibri"/>
              </a:rPr>
              <a:t>Sources: Actabl and Otelier product and press materials; Otelier press release on the Highline Hospitality Partners deployment, 21 hotels and $1.7B AUM; Inn-Flow, 2026 HotelTechAwards; ISHC CapEx 2023 study with HAMA; HVS and Nehmer 2025 Hotel Cost Estimating Guide. Accessed 10 September 2026.</a:t>
            </a:r>
          </a:p>
        </p:txBody>
      </p:sp>
    </p:spTree>
    <p:extLst>
      <p:ext uri="{BB962C8B-B14F-4D97-AF65-F5344CB8AC3E}">
        <p14:creationId xmlns:p14="http://schemas.microsoft.com/office/powerpoint/2010/main" val="340124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9A13-2B42-BEB7-4AD2-E66793389E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BD7D85-4D15-7473-D50F-996A98D8A114}"/>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26</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itle 2">
            <a:extLst>
              <a:ext uri="{FF2B5EF4-FFF2-40B4-BE49-F238E27FC236}">
                <a16:creationId xmlns:a16="http://schemas.microsoft.com/office/drawing/2014/main" id="{35745E89-2DDF-54A5-E1B6-77F88FAFBCCA}"/>
              </a:ext>
            </a:extLst>
          </p:cNvPr>
          <p:cNvSpPr>
            <a:spLocks noGrp="1"/>
          </p:cNvSpPr>
          <p:nvPr>
            <p:ph type="title"/>
          </p:nvPr>
        </p:nvSpPr>
        <p:spPr/>
        <p:txBody>
          <a:bodyPr/>
          <a:lstStyle/>
          <a:p>
            <a:r>
              <a:rPr lang="en-US" dirty="0"/>
              <a:t>Market sizing</a:t>
            </a:r>
          </a:p>
        </p:txBody>
      </p:sp>
      <p:sp>
        <p:nvSpPr>
          <p:cNvPr id="4" name="TAKEAWAY">
            <a:extLst>
              <a:ext uri="{FF2B5EF4-FFF2-40B4-BE49-F238E27FC236}">
                <a16:creationId xmlns:a16="http://schemas.microsoft.com/office/drawing/2014/main" id="{163BA451-7717-46AD-BB00-11D04ACA35A8}"/>
              </a:ext>
            </a:extLst>
          </p:cNvPr>
          <p:cNvSpPr txBox="1">
            <a:spLocks/>
          </p:cNvSpPr>
          <p:nvPr/>
        </p:nvSpPr>
        <p:spPr>
          <a:xfrm>
            <a:off x="160020" y="603504"/>
            <a:ext cx="8823960" cy="868680"/>
          </a:xfrm>
          <a:prstGeom prst="rect">
            <a:avLst/>
          </a:prstGeom>
          <a:ln w="9525">
            <a:solidFill>
              <a:schemeClr val="bg1">
                <a:lumMod val="75000"/>
              </a:schemeClr>
            </a:solidFill>
          </a:ln>
        </p:spPr>
        <p:txBody>
          <a:bodyPr lIns="91440"/>
          <a:lstStyle>
            <a:defPPr>
              <a:defRPr lang="en-US"/>
            </a:defPPr>
            <a:lvl1pPr marL="171450" indent="-171450" algn="l" defTabSz="914290" rtl="0" eaLnBrk="1" latinLnBrk="0" hangingPunct="1">
              <a:lnSpc>
                <a:spcPct val="100000"/>
              </a:lnSpc>
              <a:spcBef>
                <a:spcPts val="0"/>
              </a:spcBef>
              <a:spcAft>
                <a:spcPts val="1200"/>
              </a:spcAft>
              <a:buClr>
                <a:srgbClr val="808080"/>
              </a:buClr>
              <a:buSzPct val="100000"/>
              <a:buFont typeface="Wingdings" panose="05000000000000000000" pitchFamily="2" charset="2"/>
              <a:buChar char="§"/>
              <a:defRPr sz="1800" kern="0" spc="0" baseline="0">
                <a:solidFill>
                  <a:srgbClr val="C0C0C0"/>
                </a:solidFill>
                <a:latin typeface="Calibri" panose="020F0502020204030204" pitchFamily="34" charset="0"/>
                <a:ea typeface="+mn-ea"/>
                <a:cs typeface="+mn-cs"/>
              </a:defRPr>
            </a:lvl1pPr>
            <a:lvl2pPr marL="4000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2pPr>
            <a:lvl3pPr marL="5715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3pPr>
            <a:lvl4pPr marL="7429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4pPr>
            <a:lvl5pPr marL="9144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5pPr>
            <a:lvl6pPr marL="2514298"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3"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89"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4"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300"/>
              </a:spcBef>
              <a:spcAft>
                <a:spcPts val="300"/>
              </a:spcAft>
              <a:buFont typeface="Arial" panose="020B0604020202020204" pitchFamily="34" charset="0"/>
              <a:buChar char="•"/>
            </a:pPr>
            <a:r>
              <a:rPr lang="en-US" sz="1000" dirty="0" b="0" u="none">
                <a:solidFill>
                  <a:srgbClr val="080808"/>
                </a:solidFill>
                <a:latin typeface="Calibri"/>
              </a:rPr>
              <a:t>The addressable universe is 2,810 US entities, which produces a $99M serviceable market against a $202M total market. This is a concentrated, few-thousand-account market rather than a long-tail one, which makes relationship-led distribution an advantage and makes a self-serve motion largely irrelevant.</a:t>
            </a:r>
          </a:p>
          <a:p>
            <a:pPr algn="just">
              <a:spcBef>
                <a:spcPts val="300"/>
              </a:spcBef>
              <a:spcAft>
                <a:spcPts val="300"/>
              </a:spcAft>
              <a:buFont typeface="Arial" panose="020B0604020202020204" pitchFamily="34" charset="0"/>
              <a:buChar char="•"/>
            </a:pPr>
            <a:r>
              <a:rPr lang="en-US" sz="1000" dirty="0" b="0" u="none">
                <a:solidFill>
                  <a:srgbClr val="080808"/>
                </a:solidFill>
                <a:latin typeface="Calibri"/>
              </a:rPr>
              <a:t>The base plan captures 5.5% of the serviceable market by Year 5. The constraint on this business is not sales capacity, it is the size of the pool.</a:t>
            </a:r>
          </a:p>
        </p:txBody>
      </p:sp>
      <p:sp>
        <p:nvSpPr>
          <p:cNvPr id="9" name="Rectangle 8">
            <a:extLst>
              <a:ext uri="{FF2B5EF4-FFF2-40B4-BE49-F238E27FC236}">
                <a16:creationId xmlns:a16="http://schemas.microsoft.com/office/drawing/2014/main" id="{C9E7D6FF-8B30-2BF1-F0BB-F2ACC6447940}"/>
              </a:ext>
            </a:extLst>
          </p:cNvPr>
          <p:cNvSpPr/>
          <p:nvPr/>
        </p:nvSpPr>
        <p:spPr>
          <a:xfrm>
            <a:off x="160020" y="1536192"/>
            <a:ext cx="8823960" cy="274320"/>
          </a:xfrm>
          <a:prstGeom prst="rect">
            <a:avLst/>
          </a:prstGeom>
          <a:solidFill>
            <a:srgbClr val="0E2E5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4008" rIns="45720" rtlCol="0" anchor="ctr"/>
          <a:lstStyle/>
          <a:p>
            <a:pPr algn="l"/>
            <a:r>
              <a:rPr lang="en-US" sz="1000" b="1" kern="0" dirty="0" u="none">
                <a:solidFill>
                  <a:srgbClr val="FFFFFF"/>
                </a:solidFill>
                <a:latin typeface="Calibri"/>
              </a:rPr>
              <a:t>Concept A: owner-side capex and PIP cost intelligence, US only</a:t>
            </a:r>
            <a:endParaRPr lang="en-US" sz="900" b="1" kern="0" dirty="0">
              <a:solidFill>
                <a:srgbClr val="FF0000"/>
              </a:solidFill>
            </a:endParaRPr>
          </a:p>
        </p:txBody>
      </p:sp>
      <p:graphicFrame>
        <p:nvGraphicFramePr>
          <p:cNvPr id="10" name="Table 9">
            <a:extLst>
              <a:ext uri="{FF2B5EF4-FFF2-40B4-BE49-F238E27FC236}">
                <a16:creationId xmlns:a16="http://schemas.microsoft.com/office/drawing/2014/main" id="{1B237A7A-DE7F-C779-E098-FB2FBA99ABDE}"/>
              </a:ext>
            </a:extLst>
          </p:cNvPr>
          <p:cNvGraphicFramePr>
            <a:graphicFrameLocks noGrp="1"/>
          </p:cNvGraphicFramePr>
          <p:nvPr>
            <p:extLst>
              <p:ext uri="{D42A27DB-BD31-4B8C-83A1-F6EECF244321}">
                <p14:modId xmlns:p14="http://schemas.microsoft.com/office/powerpoint/2010/main" val="2039852589"/>
              </p:ext>
            </p:extLst>
          </p:nvPr>
        </p:nvGraphicFramePr>
        <p:xfrm>
          <a:off x="160020" y="1828800"/>
          <a:ext cx="8823960" cy="1975104"/>
        </p:xfrm>
        <a:graphic>
          <a:graphicData uri="http://schemas.openxmlformats.org/drawingml/2006/table">
            <a:tbl>
              <a:tblPr/>
              <a:tblGrid>
                <a:gridCol w="2788920">
                  <a:extLst>
                    <a:ext uri="{9D8B030D-6E8A-4147-A177-3AD203B41FA5}">
                      <a16:colId xmlns:a16="http://schemas.microsoft.com/office/drawing/2014/main" val="2045504679"/>
                    </a:ext>
                  </a:extLst>
                </a:gridCol>
                <a:gridCol w="1143000">
                  <a:extLst>
                    <a:ext uri="{9D8B030D-6E8A-4147-A177-3AD203B41FA5}">
                      <a16:colId xmlns:a16="http://schemas.microsoft.com/office/drawing/2014/main" val="1500048310"/>
                    </a:ext>
                  </a:extLst>
                </a:gridCol>
                <a:gridCol w="1234440">
                  <a:extLst>
                    <a:ext uri="{9D8B030D-6E8A-4147-A177-3AD203B41FA5}">
                      <a16:colId xmlns:a16="http://schemas.microsoft.com/office/drawing/2014/main" val="1123483130"/>
                    </a:ext>
                  </a:extLst>
                </a:gridCol>
                <a:gridCol w="1234440">
                  <a:extLst>
                    <a:ext uri="{9D8B030D-6E8A-4147-A177-3AD203B41FA5}">
                      <a16:colId xmlns:a16="http://schemas.microsoft.com/office/drawing/2014/main" val="3331087705"/>
                    </a:ext>
                  </a:extLst>
                </a:gridCol>
                <a:gridCol w="1234440">
                  <a:extLst>
                    <a:ext uri="{9D8B030D-6E8A-4147-A177-3AD203B41FA5}">
                      <a16:colId xmlns:a16="http://schemas.microsoft.com/office/drawing/2014/main" val="2191868649"/>
                    </a:ext>
                  </a:extLst>
                </a:gridCol>
                <a:gridCol w="1188720">
                  <a:extLst>
                    <a:ext uri="{9D8B030D-6E8A-4147-A177-3AD203B41FA5}">
                      <a16:colId xmlns:a16="http://schemas.microsoft.com/office/drawing/2014/main" val="2433905927"/>
                    </a:ext>
                  </a:extLst>
                </a:gridCol>
              </a:tblGrid>
              <a:tr h="246888">
                <a:tc>
                  <a:txBody>
                    <a:bodyPr/>
                    <a:lstStyle/>
                    <a:p>
                      <a:pPr algn="l">
                        <a:buNone/>
                      </a:pPr>
                      <a:r>
                        <a:rPr sz="900" b="1">
                          <a:solidFill>
                            <a:srgbClr val="FFFFFF"/>
                          </a:solidFill>
                          <a:latin typeface="Calibri"/>
                        </a:rPr>
                        <a:t>Buyer Segment</a:t>
                      </a:r>
                      <a:endParaRPr lang="en-US" sz="800" b="1" dirty="0">
                        <a:effectLst/>
                      </a:endParaRP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Entities (#)</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Addressable (%)</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Addressable (#)</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ACV ($)</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SAM ($M)</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extLst>
                  <a:ext uri="{0D108BD9-81ED-4DB2-BD59-A6C34878D82A}">
                    <a16:rowId xmlns:a16="http://schemas.microsoft.com/office/drawing/2014/main" val="716169627"/>
                  </a:ext>
                </a:extLst>
              </a:tr>
              <a:tr h="246888">
                <a:tc>
                  <a:txBody>
                    <a:bodyPr/>
                    <a:lstStyle/>
                    <a:p>
                      <a:pPr algn="l">
                        <a:buNone/>
                      </a:pPr>
                      <a:r>
                        <a:rPr lang="en-US" sz="900" b="0" dirty="0" u="none">
                          <a:solidFill>
                            <a:srgbClr val="080808"/>
                          </a:solidFill>
                          <a:effectLst/>
                          <a:latin typeface="Calibri"/>
                        </a:rPr>
                        <a:t>Institutional owners (10+ hotels)</a:t>
                      </a:r>
                    </a:p>
                  </a:txBody>
                  <a:tcPr marL="45720" marR="45720" marT="9144" marB="9144" anchor="ctr">
                    <a:lnL w="6350" cap="flat" cmpd="sng" algn="ctr">
                      <a:solidFill>
                        <a:srgbClr val="A0ABB4"/>
                      </a:solidFill>
                      <a:prstDash val="solid"/>
                      <a:round/>
                      <a:headEnd type="none" w="med" len="med"/>
                      <a:tailEnd type="none" w="med" len="med"/>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noFill/>
                  </a:tcPr>
                </a:tc>
                <a:tc>
                  <a:txBody>
                    <a:bodyPr/>
                    <a:lstStyle/>
                    <a:p>
                      <a:pPr algn="ctr">
                        <a:buNone/>
                      </a:pPr>
                      <a:r>
                        <a:rPr sz="900" b="0">
                          <a:solidFill>
                            <a:srgbClr val="080808"/>
                          </a:solidFill>
                          <a:latin typeface="Calibri"/>
                        </a:rPr>
                        <a:t>900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70.0%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630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$60,000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$37.8</a:t>
                      </a:r>
                      <a:endParaRPr lang="en-US" sz="800" dirty="0">
                        <a:effectLst/>
                      </a:endParaRPr>
                    </a:p>
                  </a:txBody>
                  <a:tcPr marL="45720" marR="45720" marT="9144" marB="9144" anchor="ctr">
                    <a:lnL>
                      <a:noFill/>
                    </a:lnL>
                    <a:lnR>
                      <a:noFill/>
                    </a:lnR>
                    <a:lnT>
                      <a:noFill/>
                    </a:lnT>
                    <a:lnB>
                      <a:noFill/>
                    </a:lnB>
                    <a:noFill/>
                  </a:tcPr>
                </a:tc>
                <a:extLst>
                  <a:ext uri="{0D108BD9-81ED-4DB2-BD59-A6C34878D82A}">
                    <a16:rowId xmlns:a16="http://schemas.microsoft.com/office/drawing/2014/main" val="1281518369"/>
                  </a:ext>
                </a:extLst>
              </a:tr>
              <a:tr h="246888">
                <a:tc>
                  <a:txBody>
                    <a:bodyPr/>
                    <a:lstStyle/>
                    <a:p>
                      <a:pPr algn="l">
                        <a:buNone/>
                      </a:pPr>
                      <a:r>
                        <a:rPr lang="en-US" sz="900" b="0" dirty="0" u="none">
                          <a:solidFill>
                            <a:srgbClr val="080808"/>
                          </a:solidFill>
                          <a:effectLst/>
                          <a:latin typeface="Calibri"/>
                        </a:rPr>
                        <a:t>Mid-market owners (3 to 9 hotels)</a:t>
                      </a: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4,500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35.0%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1,575</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$18,000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$28.4</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a:noFill/>
                    </a:lnB>
                    <a:solidFill>
                      <a:srgbClr val="ECEEF0"/>
                    </a:solidFill>
                  </a:tcPr>
                </a:tc>
                <a:extLst>
                  <a:ext uri="{0D108BD9-81ED-4DB2-BD59-A6C34878D82A}">
                    <a16:rowId xmlns:a16="http://schemas.microsoft.com/office/drawing/2014/main" val="138252583"/>
                  </a:ext>
                </a:extLst>
              </a:tr>
              <a:tr h="246888">
                <a:tc>
                  <a:txBody>
                    <a:bodyPr/>
                    <a:lstStyle/>
                    <a:p>
                      <a:pPr algn="l">
                        <a:buNone/>
                      </a:pPr>
                      <a:r>
                        <a:rPr lang="en-US" sz="900" b="0" dirty="0" u="none">
                          <a:solidFill>
                            <a:srgbClr val="080808"/>
                          </a:solidFill>
                          <a:effectLst/>
                          <a:latin typeface="Calibri"/>
                        </a:rPr>
                        <a:t>Hotel lenders and debt funds</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350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60.0%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210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$75,000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$15.8</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4022646303"/>
                  </a:ext>
                </a:extLst>
              </a:tr>
              <a:tr h="246888">
                <a:tc>
                  <a:txBody>
                    <a:bodyPr/>
                    <a:lstStyle/>
                    <a:p>
                      <a:pPr algn="l">
                        <a:buNone/>
                      </a:pPr>
                      <a:r>
                        <a:rPr lang="en-US" sz="900" b="0" dirty="0" u="none">
                          <a:solidFill>
                            <a:srgbClr val="080808"/>
                          </a:solidFill>
                          <a:effectLst/>
                          <a:latin typeface="Calibri"/>
                        </a:rPr>
                        <a:t>Brokerage and valuation advisory</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300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55.0%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165</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$45,000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$7.4</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ECEEF0"/>
                    </a:solidFill>
                  </a:tcPr>
                </a:tc>
                <a:extLst>
                  <a:ext uri="{0D108BD9-81ED-4DB2-BD59-A6C34878D82A}">
                    <a16:rowId xmlns:a16="http://schemas.microsoft.com/office/drawing/2014/main" val="3292835242"/>
                  </a:ext>
                </a:extLst>
              </a:tr>
              <a:tr h="246888">
                <a:tc>
                  <a:txBody>
                    <a:bodyPr/>
                    <a:lstStyle/>
                    <a:p>
                      <a:pPr algn="l">
                        <a:buNone/>
                      </a:pPr>
                      <a:r>
                        <a:rPr lang="en-US" sz="900" b="0" dirty="0" u="none">
                          <a:solidFill>
                            <a:srgbClr val="080808"/>
                          </a:solidFill>
                          <a:effectLst/>
                          <a:latin typeface="Calibri"/>
                        </a:rPr>
                        <a:t>Third-party management companies</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700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30.0%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210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$30,000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$6.3</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1165910800"/>
                  </a:ext>
                </a:extLst>
              </a:tr>
              <a:tr h="246888">
                <a:tc>
                  <a:txBody>
                    <a:bodyPr/>
                    <a:lstStyle/>
                    <a:p>
                      <a:pPr algn="l">
                        <a:buNone/>
                      </a:pPr>
                      <a:r>
                        <a:rPr lang="en-US" sz="900" b="0" dirty="0" u="none">
                          <a:solidFill>
                            <a:srgbClr val="080808"/>
                          </a:solidFill>
                          <a:effectLst/>
                          <a:latin typeface="Calibri"/>
                        </a:rPr>
                        <a:t>Brands and franchisors</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40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50.0%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20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$150,000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$3.0</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ECEEF0"/>
                    </a:solidFill>
                  </a:tcPr>
                </a:tc>
                <a:extLst>
                  <a:ext uri="{0D108BD9-81ED-4DB2-BD59-A6C34878D82A}">
                    <a16:rowId xmlns:a16="http://schemas.microsoft.com/office/drawing/2014/main" val="1588774024"/>
                  </a:ext>
                </a:extLst>
              </a:tr>
              <a:tr h="246888">
                <a:tc>
                  <a:txBody>
                    <a:bodyPr/>
                    <a:lstStyle/>
                    <a:p>
                      <a:pPr algn="l">
                        <a:buNone/>
                      </a:pPr>
                      <a:r>
                        <a:rPr lang="en-US" sz="900" b="1" dirty="0" u="none">
                          <a:solidFill>
                            <a:srgbClr val="080808"/>
                          </a:solidFill>
                          <a:effectLst/>
                          <a:latin typeface="Calibri"/>
                        </a:rPr>
                        <a:t>Total / Wtd. Avg.</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1" u="none">
                          <a:solidFill>
                            <a:srgbClr val="080808"/>
                          </a:solidFill>
                          <a:effectLst/>
                          <a:latin typeface="Calibri"/>
                        </a:rPr>
                        <a:t>6,790</a:t>
                      </a:r>
                    </a:p>
                  </a:txBody>
                  <a:tcPr marL="45720" marR="45720" marT="9144" marB="9144" anchor="ctr">
                    <a:lnL>
                      <a:noFill/>
                    </a:lnL>
                    <a:lnR>
                      <a:noFill/>
                    </a:lnR>
                    <a:lnT>
                      <a:noFill/>
                    </a:lnT>
                    <a:lnB>
                      <a:noFill/>
                    </a:lnB>
                    <a:noFill/>
                  </a:tcPr>
                </a:tc>
                <a:tc>
                  <a:txBody>
                    <a:bodyPr/>
                    <a:lstStyle/>
                    <a:p>
                      <a:pPr algn="ctr">
                        <a:buNone/>
                      </a:pPr>
                      <a:r>
                        <a:rPr lang="en-US" sz="900" dirty="0" b="1" u="none">
                          <a:solidFill>
                            <a:srgbClr val="080808"/>
                          </a:solidFill>
                          <a:effectLst/>
                          <a:latin typeface="Calibri"/>
                        </a:rPr>
                        <a:t>41.4%</a:t>
                      </a:r>
                    </a:p>
                  </a:txBody>
                  <a:tcPr marL="45720" marR="45720" marT="9144" marB="9144" anchor="ctr">
                    <a:lnL>
                      <a:noFill/>
                    </a:lnL>
                    <a:lnR>
                      <a:noFill/>
                    </a:lnR>
                    <a:lnT>
                      <a:noFill/>
                    </a:lnT>
                    <a:lnB>
                      <a:noFill/>
                    </a:lnB>
                    <a:noFill/>
                  </a:tcPr>
                </a:tc>
                <a:tc>
                  <a:txBody>
                    <a:bodyPr/>
                    <a:lstStyle/>
                    <a:p>
                      <a:pPr algn="ctr">
                        <a:buNone/>
                      </a:pPr>
                      <a:r>
                        <a:rPr lang="en-US" sz="900" dirty="0" b="1" u="none">
                          <a:solidFill>
                            <a:srgbClr val="080808"/>
                          </a:solidFill>
                          <a:effectLst/>
                          <a:latin typeface="Calibri"/>
                        </a:rPr>
                        <a:t>2,810</a:t>
                      </a:r>
                    </a:p>
                  </a:txBody>
                  <a:tcPr marL="45720" marR="45720" marT="9144" marB="9144" anchor="ctr">
                    <a:lnL>
                      <a:noFill/>
                    </a:lnL>
                    <a:lnR>
                      <a:noFill/>
                    </a:lnR>
                    <a:lnT>
                      <a:noFill/>
                    </a:lnT>
                    <a:lnB>
                      <a:noFill/>
                    </a:lnB>
                    <a:noFill/>
                  </a:tcPr>
                </a:tc>
                <a:tc>
                  <a:txBody>
                    <a:bodyPr/>
                    <a:lstStyle/>
                    <a:p>
                      <a:pPr algn="ctr">
                        <a:buNone/>
                      </a:pPr>
                      <a:r>
                        <a:rPr lang="en-US" sz="900" dirty="0" b="1" u="none">
                          <a:solidFill>
                            <a:srgbClr val="080808"/>
                          </a:solidFill>
                          <a:effectLst/>
                          <a:latin typeface="Calibri"/>
                        </a:rPr>
                        <a:t>$29,713</a:t>
                      </a:r>
                    </a:p>
                  </a:txBody>
                  <a:tcPr marL="45720" marR="45720" marT="9144" marB="9144" anchor="ctr">
                    <a:lnL>
                      <a:noFill/>
                    </a:lnL>
                    <a:lnR>
                      <a:noFill/>
                    </a:lnR>
                    <a:lnT>
                      <a:noFill/>
                    </a:lnT>
                    <a:lnB>
                      <a:noFill/>
                    </a:lnB>
                    <a:noFill/>
                  </a:tcPr>
                </a:tc>
                <a:tc>
                  <a:txBody>
                    <a:bodyPr/>
                    <a:lstStyle/>
                    <a:p>
                      <a:pPr algn="ctr">
                        <a:buNone/>
                      </a:pPr>
                      <a:r>
                        <a:rPr lang="en-US" sz="900" dirty="0" b="1" u="none">
                          <a:solidFill>
                            <a:srgbClr val="080808"/>
                          </a:solidFill>
                          <a:effectLst/>
                          <a:latin typeface="Calibri"/>
                        </a:rPr>
                        <a:t>$98.6</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2174908012"/>
                  </a:ext>
                </a:extLst>
              </a:tr>
            </a:tbl>
          </a:graphicData>
        </a:graphic>
      </p:graphicFrame>
      <p:graphicFrame>
        <p:nvGraphicFramePr>
          <p:cNvPr id="11" name="Table 10"/>
          <p:cNvGraphicFramePr>
            <a:graphicFrameLocks noGrp="1"/>
          </p:cNvGraphicFramePr>
          <p:nvPr/>
        </p:nvGraphicFramePr>
        <p:xfrm>
          <a:off x="160020" y="3977639"/>
          <a:ext cx="8823960" cy="914400"/>
        </p:xfrm>
        <a:graphic>
          <a:graphicData uri="http://schemas.openxmlformats.org/drawingml/2006/table">
            <a:tbl>
              <a:tblPr>
                <a:tableStyleId>{5C22544A-7EE6-4342-B048-85BDC9FD1C3A}</a:tableStyleId>
              </a:tblPr>
              <a:tblGrid>
                <a:gridCol w="2788920"/>
                <a:gridCol w="1143000"/>
                <a:gridCol w="4892040"/>
              </a:tblGrid>
              <a:tr h="228600">
                <a:tc>
                  <a:txBody>
                    <a:bodyPr/>
                    <a:lstStyle/>
                    <a:p>
                      <a:pPr algn="l"/>
                      <a:r>
                        <a:rPr sz="900" b="1">
                          <a:solidFill>
                            <a:srgbClr val="FFFFFF"/>
                          </a:solidFill>
                          <a:latin typeface="Calibri"/>
                        </a:rPr>
                        <a:t>Serviceable Obtainable Market</a:t>
                      </a:r>
                    </a:p>
                  </a:txBody>
                  <a:tcPr anchor="ctr" marL="45720" marR="45720" marT="9144" marB="9144">
                    <a:solidFill>
                      <a:srgbClr val="858D97"/>
                    </a:solidFill>
                  </a:tcPr>
                </a:tc>
                <a:tc>
                  <a:txBody>
                    <a:bodyPr/>
                    <a:lstStyle/>
                    <a:p>
                      <a:pPr algn="ctr"/>
                      <a:r>
                        <a:rPr sz="900" b="1">
                          <a:solidFill>
                            <a:srgbClr val="FFFFFF"/>
                          </a:solidFill>
                          <a:latin typeface="Calibri"/>
                        </a:rPr>
                        <a:t>Value</a:t>
                      </a:r>
                    </a:p>
                  </a:txBody>
                  <a:tcPr anchor="ctr" marL="45720" marR="45720" marT="9144" marB="9144">
                    <a:solidFill>
                      <a:srgbClr val="858D97"/>
                    </a:solidFill>
                  </a:tcPr>
                </a:tc>
                <a:tc>
                  <a:txBody>
                    <a:bodyPr/>
                    <a:lstStyle/>
                    <a:p>
                      <a:pPr algn="l"/>
                      <a:r>
                        <a:rPr sz="900" b="1">
                          <a:solidFill>
                            <a:srgbClr val="FFFFFF"/>
                          </a:solidFill>
                          <a:latin typeface="Calibri"/>
                        </a:rPr>
                        <a:t>Basis</a:t>
                      </a:r>
                    </a:p>
                  </a:txBody>
                  <a:tcPr anchor="ctr" marL="45720" marR="45720" marT="9144" marB="9144">
                    <a:solidFill>
                      <a:srgbClr val="858D97"/>
                    </a:solidFill>
                  </a:tcPr>
                </a:tc>
              </a:tr>
              <a:tr h="228600">
                <a:tc>
                  <a:txBody>
                    <a:bodyPr/>
                    <a:lstStyle/>
                    <a:p>
                      <a:pPr algn="l"/>
                      <a:r>
                        <a:rPr sz="900" b="0">
                          <a:solidFill>
                            <a:srgbClr val="080808"/>
                          </a:solidFill>
                          <a:latin typeface="Calibri"/>
                        </a:rPr>
                        <a:t>Year 5 share of SAM captured</a:t>
                      </a:r>
                    </a:p>
                  </a:txBody>
                  <a:tcPr anchor="ctr" marL="45720" marR="45720" marT="9144" marB="9144">
                    <a:noFill/>
                  </a:tcPr>
                </a:tc>
                <a:tc>
                  <a:txBody>
                    <a:bodyPr/>
                    <a:lstStyle/>
                    <a:p>
                      <a:pPr algn="ctr"/>
                      <a:r>
                        <a:rPr sz="900" b="0">
                          <a:solidFill>
                            <a:srgbClr val="080808"/>
                          </a:solidFill>
                          <a:latin typeface="Calibri"/>
                        </a:rPr>
                        <a:t>5.5%</a:t>
                      </a:r>
                    </a:p>
                  </a:txBody>
                  <a:tcPr anchor="ctr" marL="45720" marR="45720" marT="9144" marB="9144">
                    <a:noFill/>
                  </a:tcPr>
                </a:tc>
                <a:tc>
                  <a:txBody>
                    <a:bodyPr/>
                    <a:lstStyle/>
                    <a:p>
                      <a:pPr algn="l"/>
                      <a:r>
                        <a:rPr sz="900" b="0">
                          <a:solidFill>
                            <a:srgbClr val="080808"/>
                          </a:solidFill>
                          <a:latin typeface="Calibri"/>
                        </a:rPr>
                        <a:t>Bottom-up from the customer build; cross-checked against the sensitivity grid</a:t>
                      </a:r>
                    </a:p>
                  </a:txBody>
                  <a:tcPr anchor="ctr" marL="45720" marR="45720" marT="9144" marB="9144">
                    <a:noFill/>
                  </a:tcPr>
                </a:tc>
              </a:tr>
              <a:tr h="228600">
                <a:tc>
                  <a:txBody>
                    <a:bodyPr/>
                    <a:lstStyle/>
                    <a:p>
                      <a:pPr algn="l"/>
                      <a:r>
                        <a:rPr sz="900" b="0">
                          <a:solidFill>
                            <a:srgbClr val="080808"/>
                          </a:solidFill>
                          <a:latin typeface="Calibri"/>
                        </a:rPr>
                        <a:t>Implied Year 5 revenue</a:t>
                      </a:r>
                    </a:p>
                  </a:txBody>
                  <a:tcPr anchor="ctr" marL="45720" marR="45720" marT="9144" marB="9144">
                    <a:solidFill>
                      <a:srgbClr val="ECEEF0"/>
                    </a:solidFill>
                  </a:tcPr>
                </a:tc>
                <a:tc>
                  <a:txBody>
                    <a:bodyPr/>
                    <a:lstStyle/>
                    <a:p>
                      <a:pPr algn="ctr"/>
                      <a:r>
                        <a:rPr sz="900" b="0">
                          <a:solidFill>
                            <a:srgbClr val="080808"/>
                          </a:solidFill>
                          <a:latin typeface="Calibri"/>
                        </a:rPr>
                        <a:t>$5.4M</a:t>
                      </a:r>
                    </a:p>
                  </a:txBody>
                  <a:tcPr anchor="ctr" marL="45720" marR="45720" marT="9144" marB="9144">
                    <a:solidFill>
                      <a:srgbClr val="ECEEF0"/>
                    </a:solidFill>
                  </a:tcPr>
                </a:tc>
                <a:tc>
                  <a:txBody>
                    <a:bodyPr/>
                    <a:lstStyle/>
                    <a:p>
                      <a:pPr algn="l"/>
                      <a:r>
                        <a:rPr sz="900" b="0">
                          <a:solidFill>
                            <a:srgbClr val="080808"/>
                          </a:solidFill>
                          <a:latin typeface="Calibri"/>
                        </a:rPr>
                        <a:t>SAM multiplied by share captured</a:t>
                      </a:r>
                    </a:p>
                  </a:txBody>
                  <a:tcPr anchor="ctr" marL="45720" marR="45720" marT="9144" marB="9144">
                    <a:solidFill>
                      <a:srgbClr val="ECEEF0"/>
                    </a:solidFill>
                  </a:tcPr>
                </a:tc>
              </a:tr>
              <a:tr h="228600">
                <a:tc>
                  <a:txBody>
                    <a:bodyPr/>
                    <a:lstStyle/>
                    <a:p>
                      <a:pPr algn="l"/>
                      <a:r>
                        <a:rPr sz="900" b="0">
                          <a:solidFill>
                            <a:srgbClr val="080808"/>
                          </a:solidFill>
                          <a:latin typeface="Calibri"/>
                        </a:rPr>
                        <a:t>Year 5 ARR per the financial build</a:t>
                      </a:r>
                    </a:p>
                  </a:txBody>
                  <a:tcPr anchor="ctr" marL="45720" marR="45720" marT="9144" marB="9144">
                    <a:noFill/>
                  </a:tcPr>
                </a:tc>
                <a:tc>
                  <a:txBody>
                    <a:bodyPr/>
                    <a:lstStyle/>
                    <a:p>
                      <a:pPr algn="ctr"/>
                      <a:r>
                        <a:rPr sz="900" b="0">
                          <a:solidFill>
                            <a:srgbClr val="080808"/>
                          </a:solidFill>
                          <a:latin typeface="Calibri"/>
                        </a:rPr>
                        <a:t>$10.2M</a:t>
                      </a:r>
                    </a:p>
                  </a:txBody>
                  <a:tcPr anchor="ctr" marL="45720" marR="45720" marT="9144" marB="9144">
                    <a:noFill/>
                  </a:tcPr>
                </a:tc>
                <a:tc>
                  <a:txBody>
                    <a:bodyPr/>
                    <a:lstStyle/>
                    <a:p>
                      <a:pPr algn="l"/>
                      <a:r>
                        <a:rPr sz="900" b="0">
                          <a:solidFill>
                            <a:srgbClr val="080808"/>
                          </a:solidFill>
                          <a:latin typeface="Calibri"/>
                        </a:rPr>
                        <a:t>Higher because average realised ACV rises to $37,435 by Year 5 with expansion</a:t>
                      </a:r>
                    </a:p>
                  </a:txBody>
                  <a:tcPr anchor="ctr" marL="45720" marR="45720" marT="9144" marB="9144">
                    <a:noFill/>
                  </a:tcPr>
                </a:tc>
              </a:tr>
            </a:tbl>
          </a:graphicData>
        </a:graphic>
      </p:graphicFrame>
      <p:sp>
        <p:nvSpPr>
          <p:cNvPr id="12" name="TextBox 11"/>
          <p:cNvSpPr txBox="1"/>
          <p:nvPr/>
        </p:nvSpPr>
        <p:spPr>
          <a:xfrm>
            <a:off x="160020" y="5074920"/>
            <a:ext cx="8823960" cy="219456"/>
          </a:xfrm>
          <a:prstGeom prst="rect">
            <a:avLst/>
          </a:prstGeom>
          <a:noFill/>
        </p:spPr>
        <p:txBody>
          <a:bodyPr wrap="square">
            <a:spAutoFit/>
          </a:bodyPr>
          <a:lstStyle/>
          <a:p>
            <a:r>
              <a:rPr sz="700" i="1">
                <a:solidFill>
                  <a:srgbClr val="9AA0A8"/>
                </a:solidFill>
                <a:latin typeface="Calibri"/>
              </a:rPr>
              <a:t>Source: US supply of 91,797 hotels and 5.8M rooms per AHLA State of the Industry 2024. Entity counts by segment are estimates and are the single largest source of error in this model; they require primary validation before any capital is raised against them. ACV benchmarked to disclosed hospitality BI and data subscription pricing.</a:t>
            </a:r>
          </a:p>
        </p:txBody>
      </p:sp>
    </p:spTree>
    <p:extLst>
      <p:ext uri="{BB962C8B-B14F-4D97-AF65-F5344CB8AC3E}">
        <p14:creationId xmlns:p14="http://schemas.microsoft.com/office/powerpoint/2010/main" val="340124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9A13-2B42-BEB7-4AD2-E66793389E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BD7D85-4D15-7473-D50F-996A98D8A114}"/>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26</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itle 2">
            <a:extLst>
              <a:ext uri="{FF2B5EF4-FFF2-40B4-BE49-F238E27FC236}">
                <a16:creationId xmlns:a16="http://schemas.microsoft.com/office/drawing/2014/main" id="{35745E89-2DDF-54A5-E1B6-77F88FAFBCCA}"/>
              </a:ext>
            </a:extLst>
          </p:cNvPr>
          <p:cNvSpPr>
            <a:spLocks noGrp="1"/>
          </p:cNvSpPr>
          <p:nvPr>
            <p:ph type="title"/>
          </p:nvPr>
        </p:nvSpPr>
        <p:spPr/>
        <p:txBody>
          <a:bodyPr/>
          <a:lstStyle/>
          <a:p>
            <a:r>
              <a:rPr lang="en-US" dirty="0"/>
              <a:t>Unit economics</a:t>
            </a:r>
          </a:p>
        </p:txBody>
      </p:sp>
      <p:sp>
        <p:nvSpPr>
          <p:cNvPr id="4" name="TAKEAWAY">
            <a:extLst>
              <a:ext uri="{FF2B5EF4-FFF2-40B4-BE49-F238E27FC236}">
                <a16:creationId xmlns:a16="http://schemas.microsoft.com/office/drawing/2014/main" id="{163BA451-7717-46AD-BB00-11D04ACA35A8}"/>
              </a:ext>
            </a:extLst>
          </p:cNvPr>
          <p:cNvSpPr txBox="1">
            <a:spLocks/>
          </p:cNvSpPr>
          <p:nvPr/>
        </p:nvSpPr>
        <p:spPr>
          <a:xfrm>
            <a:off x="160020" y="603504"/>
            <a:ext cx="8823960" cy="868680"/>
          </a:xfrm>
          <a:prstGeom prst="rect">
            <a:avLst/>
          </a:prstGeom>
          <a:ln w="9525">
            <a:solidFill>
              <a:schemeClr val="bg1">
                <a:lumMod val="75000"/>
              </a:schemeClr>
            </a:solidFill>
          </a:ln>
        </p:spPr>
        <p:txBody>
          <a:bodyPr lIns="91440"/>
          <a:lstStyle>
            <a:defPPr>
              <a:defRPr lang="en-US"/>
            </a:defPPr>
            <a:lvl1pPr marL="171450" indent="-171450" algn="l" defTabSz="914290" rtl="0" eaLnBrk="1" latinLnBrk="0" hangingPunct="1">
              <a:lnSpc>
                <a:spcPct val="100000"/>
              </a:lnSpc>
              <a:spcBef>
                <a:spcPts val="0"/>
              </a:spcBef>
              <a:spcAft>
                <a:spcPts val="1200"/>
              </a:spcAft>
              <a:buClr>
                <a:srgbClr val="808080"/>
              </a:buClr>
              <a:buSzPct val="100000"/>
              <a:buFont typeface="Wingdings" panose="05000000000000000000" pitchFamily="2" charset="2"/>
              <a:buChar char="§"/>
              <a:defRPr sz="1800" kern="0" spc="0" baseline="0">
                <a:solidFill>
                  <a:srgbClr val="C0C0C0"/>
                </a:solidFill>
                <a:latin typeface="Calibri" panose="020F0502020204030204" pitchFamily="34" charset="0"/>
                <a:ea typeface="+mn-ea"/>
                <a:cs typeface="+mn-cs"/>
              </a:defRPr>
            </a:lvl1pPr>
            <a:lvl2pPr marL="4000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2pPr>
            <a:lvl3pPr marL="5715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3pPr>
            <a:lvl4pPr marL="7429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4pPr>
            <a:lvl5pPr marL="9144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5pPr>
            <a:lvl6pPr marL="2514298"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3"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89"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4"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300"/>
              </a:spcBef>
              <a:spcAft>
                <a:spcPts val="300"/>
              </a:spcAft>
              <a:buFont typeface="Arial" panose="020B0604020202020204" pitchFamily="34" charset="0"/>
              <a:buChar char="•"/>
            </a:pPr>
            <a:r>
              <a:rPr lang="en-US" sz="1000" dirty="0" b="0" u="none">
                <a:solidFill>
                  <a:srgbClr val="080808"/>
                </a:solidFill>
                <a:latin typeface="Calibri"/>
              </a:rPr>
              <a:t>The base case returns a 4.0x LTV to CAC and a 13.5 month CAC payback, which clears the 3.0x venture bar and sits inside the 12 to 18 month best-in-class payback band for vertical software.</a:t>
            </a:r>
          </a:p>
          <a:p>
            <a:pPr algn="just">
              <a:spcBef>
                <a:spcPts val="300"/>
              </a:spcBef>
              <a:spcAft>
                <a:spcPts val="300"/>
              </a:spcAft>
              <a:buFont typeface="Arial" panose="020B0604020202020204" pitchFamily="34" charset="0"/>
              <a:buChar char="•"/>
            </a:pPr>
            <a:r>
              <a:rPr lang="en-US" sz="1000" dirty="0" b="0" u="none">
                <a:solidFill>
                  <a:srgbClr val="080808"/>
                </a:solidFill>
                <a:latin typeface="Calibri"/>
              </a:rPr>
              <a:t>Headroom is thin. LTV to CAC falls below 3.0x whenever CAC exceeds roughly $32,000 at base retention, so sales efficiency is the single most important operating discipline in the plan.</a:t>
            </a:r>
          </a:p>
        </p:txBody>
      </p:sp>
      <p:sp>
        <p:nvSpPr>
          <p:cNvPr id="9" name="Rectangle 8">
            <a:extLst>
              <a:ext uri="{FF2B5EF4-FFF2-40B4-BE49-F238E27FC236}">
                <a16:creationId xmlns:a16="http://schemas.microsoft.com/office/drawing/2014/main" id="{C9E7D6FF-8B30-2BF1-F0BB-F2ACC6447940}"/>
              </a:ext>
            </a:extLst>
          </p:cNvPr>
          <p:cNvSpPr/>
          <p:nvPr/>
        </p:nvSpPr>
        <p:spPr>
          <a:xfrm>
            <a:off x="160020" y="1536192"/>
            <a:ext cx="8823960" cy="274320"/>
          </a:xfrm>
          <a:prstGeom prst="rect">
            <a:avLst/>
          </a:prstGeom>
          <a:solidFill>
            <a:srgbClr val="0E2E5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4008" rIns="45720" rtlCol="0" anchor="ctr"/>
          <a:lstStyle/>
          <a:p>
            <a:pPr algn="l"/>
            <a:r>
              <a:rPr lang="en-US" sz="1000" b="1" kern="0" dirty="0" u="none">
                <a:solidFill>
                  <a:srgbClr val="FFFFFF"/>
                </a:solidFill>
                <a:latin typeface="Calibri"/>
              </a:rPr>
              <a:t>Three-scenario customer economics</a:t>
            </a:r>
            <a:endParaRPr lang="en-US" sz="900" b="1" kern="0" dirty="0">
              <a:solidFill>
                <a:srgbClr val="FF0000"/>
              </a:solidFill>
            </a:endParaRPr>
          </a:p>
        </p:txBody>
      </p:sp>
      <p:graphicFrame>
        <p:nvGraphicFramePr>
          <p:cNvPr id="10" name="Table 9">
            <a:extLst>
              <a:ext uri="{FF2B5EF4-FFF2-40B4-BE49-F238E27FC236}">
                <a16:creationId xmlns:a16="http://schemas.microsoft.com/office/drawing/2014/main" id="{1B237A7A-DE7F-C779-E098-FB2FBA99ABDE}"/>
              </a:ext>
            </a:extLst>
          </p:cNvPr>
          <p:cNvGraphicFramePr>
            <a:graphicFrameLocks noGrp="1"/>
          </p:cNvGraphicFramePr>
          <p:nvPr>
            <p:extLst>
              <p:ext uri="{D42A27DB-BD31-4B8C-83A1-F6EECF244321}">
                <p14:modId xmlns:p14="http://schemas.microsoft.com/office/powerpoint/2010/main" val="2039852589"/>
              </p:ext>
            </p:extLst>
          </p:nvPr>
        </p:nvGraphicFramePr>
        <p:xfrm>
          <a:off x="160020" y="1828800"/>
          <a:ext cx="8823960" cy="2468879"/>
        </p:xfrm>
        <a:graphic>
          <a:graphicData uri="http://schemas.openxmlformats.org/drawingml/2006/table">
            <a:tbl>
              <a:tblPr/>
              <a:tblGrid>
                <a:gridCol w="2331720">
                  <a:extLst>
                    <a:ext uri="{9D8B030D-6E8A-4147-A177-3AD203B41FA5}">
                      <a16:colId xmlns:a16="http://schemas.microsoft.com/office/drawing/2014/main" val="2045504679"/>
                    </a:ext>
                  </a:extLst>
                </a:gridCol>
                <a:gridCol w="1051560">
                  <a:extLst>
                    <a:ext uri="{9D8B030D-6E8A-4147-A177-3AD203B41FA5}">
                      <a16:colId xmlns:a16="http://schemas.microsoft.com/office/drawing/2014/main" val="1500048310"/>
                    </a:ext>
                  </a:extLst>
                </a:gridCol>
                <a:gridCol w="1051560">
                  <a:extLst>
                    <a:ext uri="{9D8B030D-6E8A-4147-A177-3AD203B41FA5}">
                      <a16:colId xmlns:a16="http://schemas.microsoft.com/office/drawing/2014/main" val="1123483130"/>
                    </a:ext>
                  </a:extLst>
                </a:gridCol>
                <a:gridCol w="1051560">
                  <a:extLst>
                    <a:ext uri="{9D8B030D-6E8A-4147-A177-3AD203B41FA5}">
                      <a16:colId xmlns:a16="http://schemas.microsoft.com/office/drawing/2014/main" val="3331087705"/>
                    </a:ext>
                  </a:extLst>
                </a:gridCol>
                <a:gridCol w="3337560">
                  <a:extLst>
                    <a:ext uri="{9D8B030D-6E8A-4147-A177-3AD203B41FA5}">
                      <a16:colId xmlns:a16="http://schemas.microsoft.com/office/drawing/2014/main" val="2191868649"/>
                    </a:ext>
                  </a:extLst>
                </a:gridCol>
              </a:tblGrid>
              <a:tr h="274320">
                <a:tc>
                  <a:txBody>
                    <a:bodyPr/>
                    <a:lstStyle/>
                    <a:p>
                      <a:pPr algn="l">
                        <a:buNone/>
                      </a:pPr>
                      <a:r>
                        <a:rPr sz="900" b="1">
                          <a:solidFill>
                            <a:srgbClr val="FFFFFF"/>
                          </a:solidFill>
                          <a:latin typeface="Calibri"/>
                        </a:rPr>
                        <a:t>Metric</a:t>
                      </a:r>
                      <a:endParaRPr lang="en-US" sz="800" b="1" dirty="0">
                        <a:effectLst/>
                      </a:endParaRP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Downside</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Base</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Upside</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Benchmark / Comment</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extLst>
                  <a:ext uri="{0D108BD9-81ED-4DB2-BD59-A6C34878D82A}">
                    <a16:rowId xmlns:a16="http://schemas.microsoft.com/office/drawing/2014/main" val="716169627"/>
                  </a:ext>
                </a:extLst>
              </a:tr>
              <a:tr h="274320">
                <a:tc>
                  <a:txBody>
                    <a:bodyPr/>
                    <a:lstStyle/>
                    <a:p>
                      <a:pPr algn="l">
                        <a:buNone/>
                      </a:pPr>
                      <a:r>
                        <a:rPr lang="en-US" sz="900" b="0" dirty="0" u="none">
                          <a:solidFill>
                            <a:srgbClr val="080808"/>
                          </a:solidFill>
                          <a:effectLst/>
                          <a:latin typeface="Calibri"/>
                        </a:rPr>
                        <a:t>Blended ACV, new logo</a:t>
                      </a:r>
                    </a:p>
                  </a:txBody>
                  <a:tcPr marL="45720" marR="45720" marT="9144" marB="9144" anchor="ctr">
                    <a:lnL w="6350" cap="flat" cmpd="sng" algn="ctr">
                      <a:solidFill>
                        <a:srgbClr val="A0ABB4"/>
                      </a:solidFill>
                      <a:prstDash val="solid"/>
                      <a:round/>
                      <a:headEnd type="none" w="med" len="med"/>
                      <a:tailEnd type="none" w="med" len="med"/>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noFill/>
                  </a:tcPr>
                </a:tc>
                <a:tc>
                  <a:txBody>
                    <a:bodyPr/>
                    <a:lstStyle/>
                    <a:p>
                      <a:pPr algn="ctr">
                        <a:buNone/>
                      </a:pPr>
                      <a:r>
                        <a:rPr sz="900" b="0">
                          <a:solidFill>
                            <a:srgbClr val="080808"/>
                          </a:solidFill>
                          <a:latin typeface="Calibri"/>
                        </a:rPr>
                        <a:t>$26,000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$32,000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$38,000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Hospitality data subscriptions range $18,000 to $60,000 by portfolio size</a:t>
                      </a:r>
                      <a:endParaRPr lang="en-US" sz="800" dirty="0">
                        <a:effectLst/>
                      </a:endParaRPr>
                    </a:p>
                  </a:txBody>
                  <a:tcPr marL="45720" marR="45720" marT="9144" marB="9144" anchor="ctr">
                    <a:lnL>
                      <a:noFill/>
                    </a:lnL>
                    <a:lnR>
                      <a:noFill/>
                    </a:lnR>
                    <a:lnT>
                      <a:noFill/>
                    </a:lnT>
                    <a:lnB>
                      <a:noFill/>
                    </a:lnB>
                    <a:noFill/>
                  </a:tcPr>
                </a:tc>
                <a:extLst>
                  <a:ext uri="{0D108BD9-81ED-4DB2-BD59-A6C34878D82A}">
                    <a16:rowId xmlns:a16="http://schemas.microsoft.com/office/drawing/2014/main" val="1281518369"/>
                  </a:ext>
                </a:extLst>
              </a:tr>
              <a:tr h="274320">
                <a:tc>
                  <a:txBody>
                    <a:bodyPr/>
                    <a:lstStyle/>
                    <a:p>
                      <a:pPr algn="l">
                        <a:buNone/>
                      </a:pPr>
                      <a:r>
                        <a:rPr lang="en-US" sz="900" b="0" dirty="0" u="none">
                          <a:solidFill>
                            <a:srgbClr val="080808"/>
                          </a:solidFill>
                          <a:effectLst/>
                          <a:latin typeface="Calibri"/>
                        </a:rPr>
                        <a:t>Gross margin</a:t>
                      </a: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70.0%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78.0%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84.0%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Net of data acquisition, licences, hosting and the data operations team</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extLst>
                  <a:ext uri="{0D108BD9-81ED-4DB2-BD59-A6C34878D82A}">
                    <a16:rowId xmlns:a16="http://schemas.microsoft.com/office/drawing/2014/main" val="138252583"/>
                  </a:ext>
                </a:extLst>
              </a:tr>
              <a:tr h="274320">
                <a:tc>
                  <a:txBody>
                    <a:bodyPr/>
                    <a:lstStyle/>
                    <a:p>
                      <a:pPr algn="l">
                        <a:buNone/>
                      </a:pPr>
                      <a:r>
                        <a:rPr lang="en-US" sz="900" b="0" dirty="0" u="none">
                          <a:solidFill>
                            <a:srgbClr val="080808"/>
                          </a:solidFill>
                          <a:effectLst/>
                          <a:latin typeface="Calibri"/>
                        </a:rPr>
                        <a:t>Net revenue retention</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100.0%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112.0%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122.0%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Expansion from seat growth and added modules; includes the effect of logo churn</a:t>
                      </a:r>
                    </a:p>
                  </a:txBody>
                  <a:tcPr marL="45720" marR="45720" marT="9144" marB="9144" anchor="ctr">
                    <a:lnL>
                      <a:noFill/>
                    </a:lnL>
                    <a:lnR>
                      <a:noFill/>
                    </a:lnR>
                    <a:lnT>
                      <a:noFill/>
                    </a:lnT>
                    <a:lnB>
                      <a:noFill/>
                    </a:lnB>
                    <a:noFill/>
                  </a:tcPr>
                </a:tc>
                <a:extLst>
                  <a:ext uri="{0D108BD9-81ED-4DB2-BD59-A6C34878D82A}">
                    <a16:rowId xmlns:a16="http://schemas.microsoft.com/office/drawing/2014/main" val="4022646303"/>
                  </a:ext>
                </a:extLst>
              </a:tr>
              <a:tr h="274320">
                <a:tc>
                  <a:txBody>
                    <a:bodyPr/>
                    <a:lstStyle/>
                    <a:p>
                      <a:pPr algn="l">
                        <a:buNone/>
                      </a:pPr>
                      <a:r>
                        <a:rPr lang="en-US" sz="900" b="0" dirty="0" u="none">
                          <a:solidFill>
                            <a:srgbClr val="080808"/>
                          </a:solidFill>
                          <a:effectLst/>
                          <a:latin typeface="Calibri"/>
                        </a:rPr>
                        <a:t>Gross logo retention</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82.0%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88.0%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92.0%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Real-asset data subscriptions typically retain 85% to 92%</a:t>
                      </a:r>
                    </a:p>
                  </a:txBody>
                  <a:tcPr marL="45720" marR="45720" marT="9144" marB="9144" anchor="ctr">
                    <a:lnL>
                      <a:noFill/>
                    </a:lnL>
                    <a:lnR>
                      <a:noFill/>
                    </a:lnR>
                    <a:lnT>
                      <a:noFill/>
                    </a:lnT>
                    <a:lnB>
                      <a:noFill/>
                    </a:lnB>
                    <a:solidFill>
                      <a:srgbClr val="ECEEF0"/>
                    </a:solidFill>
                  </a:tcPr>
                </a:tc>
                <a:extLst>
                  <a:ext uri="{0D108BD9-81ED-4DB2-BD59-A6C34878D82A}">
                    <a16:rowId xmlns:a16="http://schemas.microsoft.com/office/drawing/2014/main" val="3292835242"/>
                  </a:ext>
                </a:extLst>
              </a:tr>
              <a:tr h="274320">
                <a:tc>
                  <a:txBody>
                    <a:bodyPr/>
                    <a:lstStyle/>
                    <a:p>
                      <a:pPr algn="l">
                        <a:buNone/>
                      </a:pPr>
                      <a:r>
                        <a:rPr lang="en-US" sz="900" b="0" dirty="0" u="none">
                          <a:solidFill>
                            <a:srgbClr val="080808"/>
                          </a:solidFill>
                          <a:effectLst/>
                          <a:latin typeface="Calibri"/>
                        </a:rPr>
                        <a:t>CAC per new logo</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$40,000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$28,000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$20,000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Fully loaded sales and marketing per new logo</a:t>
                      </a:r>
                    </a:p>
                  </a:txBody>
                  <a:tcPr marL="45720" marR="45720" marT="9144" marB="9144" anchor="ctr">
                    <a:lnL>
                      <a:noFill/>
                    </a:lnL>
                    <a:lnR>
                      <a:noFill/>
                    </a:lnR>
                    <a:lnT>
                      <a:noFill/>
                    </a:lnT>
                    <a:lnB>
                      <a:noFill/>
                    </a:lnB>
                    <a:noFill/>
                  </a:tcPr>
                </a:tc>
                <a:extLst>
                  <a:ext uri="{0D108BD9-81ED-4DB2-BD59-A6C34878D82A}">
                    <a16:rowId xmlns:a16="http://schemas.microsoft.com/office/drawing/2014/main" val="1165910800"/>
                  </a:ext>
                </a:extLst>
              </a:tr>
              <a:tr h="274320">
                <a:tc>
                  <a:txBody>
                    <a:bodyPr/>
                    <a:lstStyle/>
                    <a:p>
                      <a:pPr algn="l">
                        <a:buNone/>
                      </a:pPr>
                      <a:r>
                        <a:rPr lang="en-US" sz="900" b="0" dirty="0" u="none">
                          <a:solidFill>
                            <a:srgbClr val="080808"/>
                          </a:solidFill>
                          <a:effectLst/>
                          <a:latin typeface="Calibri"/>
                        </a:rPr>
                        <a:t>Lifetime value (5-yr, discounted)</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$65,606</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$111,429</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$170,320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Capped at five years at a 12.0% discount rate; a perpetuity formula diverges here</a:t>
                      </a:r>
                    </a:p>
                  </a:txBody>
                  <a:tcPr marL="45720" marR="45720" marT="9144" marB="9144" anchor="ctr">
                    <a:lnL>
                      <a:noFill/>
                    </a:lnL>
                    <a:lnR>
                      <a:noFill/>
                    </a:lnR>
                    <a:lnT>
                      <a:noFill/>
                    </a:lnT>
                    <a:lnB>
                      <a:noFill/>
                    </a:lnB>
                    <a:solidFill>
                      <a:srgbClr val="ECEEF0"/>
                    </a:solidFill>
                  </a:tcPr>
                </a:tc>
                <a:extLst>
                  <a:ext uri="{0D108BD9-81ED-4DB2-BD59-A6C34878D82A}">
                    <a16:rowId xmlns:a16="http://schemas.microsoft.com/office/drawing/2014/main" val="1588774024"/>
                  </a:ext>
                </a:extLst>
              </a:tr>
              <a:tr h="274320">
                <a:tc>
                  <a:txBody>
                    <a:bodyPr/>
                    <a:lstStyle/>
                    <a:p>
                      <a:pPr algn="l">
                        <a:buNone/>
                      </a:pPr>
                      <a:r>
                        <a:rPr lang="en-US" sz="900" b="1" dirty="0" u="none">
                          <a:solidFill>
                            <a:srgbClr val="080808"/>
                          </a:solidFill>
                          <a:effectLst/>
                          <a:latin typeface="Calibri"/>
                        </a:rPr>
                        <a:t>LTV / CAC</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1" u="none">
                          <a:solidFill>
                            <a:srgbClr val="080808"/>
                          </a:solidFill>
                          <a:effectLst/>
                          <a:latin typeface="Calibri"/>
                        </a:rPr>
                        <a:t>1.6x</a:t>
                      </a:r>
                    </a:p>
                  </a:txBody>
                  <a:tcPr marL="45720" marR="45720" marT="9144" marB="9144" anchor="ctr">
                    <a:lnL>
                      <a:noFill/>
                    </a:lnL>
                    <a:lnR>
                      <a:noFill/>
                    </a:lnR>
                    <a:lnT>
                      <a:noFill/>
                    </a:lnT>
                    <a:lnB>
                      <a:noFill/>
                    </a:lnB>
                    <a:solidFill>
                      <a:srgbClr val="F2DCDB"/>
                    </a:solidFill>
                  </a:tcPr>
                </a:tc>
                <a:tc>
                  <a:txBody>
                    <a:bodyPr/>
                    <a:lstStyle/>
                    <a:p>
                      <a:pPr algn="ctr">
                        <a:buNone/>
                      </a:pPr>
                      <a:r>
                        <a:rPr lang="en-US" sz="900" dirty="0" b="1" u="none">
                          <a:solidFill>
                            <a:srgbClr val="080808"/>
                          </a:solidFill>
                          <a:effectLst/>
                          <a:latin typeface="Calibri"/>
                        </a:rPr>
                        <a:t>4.0x</a:t>
                      </a:r>
                    </a:p>
                  </a:txBody>
                  <a:tcPr marL="45720" marR="45720" marT="9144" marB="9144" anchor="ctr">
                    <a:lnL>
                      <a:noFill/>
                    </a:lnL>
                    <a:lnR>
                      <a:noFill/>
                    </a:lnR>
                    <a:lnT>
                      <a:noFill/>
                    </a:lnT>
                    <a:lnB>
                      <a:noFill/>
                    </a:lnB>
                    <a:solidFill>
                      <a:srgbClr val="E2EFDA"/>
                    </a:solidFill>
                  </a:tcPr>
                </a:tc>
                <a:tc>
                  <a:txBody>
                    <a:bodyPr/>
                    <a:lstStyle/>
                    <a:p>
                      <a:pPr algn="ctr">
                        <a:buNone/>
                      </a:pPr>
                      <a:r>
                        <a:rPr lang="en-US" sz="900" dirty="0" b="1" u="none">
                          <a:solidFill>
                            <a:srgbClr val="080808"/>
                          </a:solidFill>
                          <a:effectLst/>
                          <a:latin typeface="Calibri"/>
                        </a:rPr>
                        <a:t>8.5x</a:t>
                      </a:r>
                    </a:p>
                  </a:txBody>
                  <a:tcPr marL="45720" marR="45720" marT="9144" marB="9144" anchor="ctr">
                    <a:lnL>
                      <a:noFill/>
                    </a:lnL>
                    <a:lnR>
                      <a:noFill/>
                    </a:lnR>
                    <a:lnT>
                      <a:noFill/>
                    </a:lnT>
                    <a:lnB>
                      <a:noFill/>
                    </a:lnB>
                    <a:solidFill>
                      <a:srgbClr val="E2EFDA"/>
                    </a:solidFill>
                  </a:tcPr>
                </a:tc>
                <a:tc>
                  <a:txBody>
                    <a:bodyPr/>
                    <a:lstStyle/>
                    <a:p>
                      <a:pPr algn="ctr">
                        <a:buNone/>
                      </a:pPr>
                      <a:r>
                        <a:rPr lang="en-US" sz="900" dirty="0" b="0" u="none">
                          <a:solidFill>
                            <a:srgbClr val="080808"/>
                          </a:solidFill>
                          <a:effectLst/>
                          <a:latin typeface="Calibri"/>
                        </a:rPr>
                        <a:t>Venture bar is 3.0x; below 2.0x the model does not fund its own growth</a:t>
                      </a:r>
                    </a:p>
                  </a:txBody>
                  <a:tcPr marL="45720" marR="45720" marT="9144" marB="9144" anchor="ctr">
                    <a:lnL>
                      <a:noFill/>
                    </a:lnL>
                    <a:lnR>
                      <a:noFill/>
                    </a:lnR>
                    <a:lnT>
                      <a:noFill/>
                    </a:lnT>
                    <a:lnB>
                      <a:noFill/>
                    </a:lnB>
                    <a:noFill/>
                  </a:tcPr>
                </a:tc>
                <a:extLst>
                  <a:ext uri="{0D108BD9-81ED-4DB2-BD59-A6C34878D82A}">
                    <a16:rowId xmlns:a16="http://schemas.microsoft.com/office/drawing/2014/main" val="2174908012"/>
                  </a:ext>
                </a:extLst>
              </a:tr>
              <a:tr h="274320">
                <a:tc>
                  <a:txBody>
                    <a:bodyPr/>
                    <a:lstStyle/>
                    <a:p>
                      <a:pPr algn="l">
                        <a:buNone/>
                      </a:pPr>
                      <a:r>
                        <a:rPr lang="en-US" sz="900" b="1" dirty="0" u="none">
                          <a:solidFill>
                            <a:srgbClr val="080808"/>
                          </a:solidFill>
                          <a:effectLst/>
                          <a:latin typeface="Calibri"/>
                        </a:rPr>
                        <a:t>CAC payback (months)</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1" u="none">
                          <a:solidFill>
                            <a:srgbClr val="080808"/>
                          </a:solidFill>
                          <a:effectLst/>
                          <a:latin typeface="Calibri"/>
                        </a:rPr>
                        <a:t>26.4</a:t>
                      </a:r>
                    </a:p>
                  </a:txBody>
                  <a:tcPr marL="45720" marR="45720" marT="9144" marB="9144" anchor="ctr">
                    <a:lnL>
                      <a:noFill/>
                    </a:lnL>
                    <a:lnR>
                      <a:noFill/>
                    </a:lnR>
                    <a:lnT>
                      <a:noFill/>
                    </a:lnT>
                    <a:lnB>
                      <a:noFill/>
                    </a:lnB>
                    <a:solidFill>
                      <a:srgbClr val="F2DCDB"/>
                    </a:solidFill>
                  </a:tcPr>
                </a:tc>
                <a:tc>
                  <a:txBody>
                    <a:bodyPr/>
                    <a:lstStyle/>
                    <a:p>
                      <a:pPr algn="ctr">
                        <a:buNone/>
                      </a:pPr>
                      <a:r>
                        <a:rPr lang="en-US" sz="900" dirty="0" b="1" u="none">
                          <a:solidFill>
                            <a:srgbClr val="080808"/>
                          </a:solidFill>
                          <a:effectLst/>
                          <a:latin typeface="Calibri"/>
                        </a:rPr>
                        <a:t>13.5</a:t>
                      </a:r>
                    </a:p>
                  </a:txBody>
                  <a:tcPr marL="45720" marR="45720" marT="9144" marB="9144" anchor="ctr">
                    <a:lnL>
                      <a:noFill/>
                    </a:lnL>
                    <a:lnR>
                      <a:noFill/>
                    </a:lnR>
                    <a:lnT>
                      <a:noFill/>
                    </a:lnT>
                    <a:lnB>
                      <a:noFill/>
                    </a:lnB>
                    <a:solidFill>
                      <a:srgbClr val="E2EFDA"/>
                    </a:solidFill>
                  </a:tcPr>
                </a:tc>
                <a:tc>
                  <a:txBody>
                    <a:bodyPr/>
                    <a:lstStyle/>
                    <a:p>
                      <a:pPr algn="ctr">
                        <a:buNone/>
                      </a:pPr>
                      <a:r>
                        <a:rPr lang="en-US" sz="900" dirty="0" b="1" u="none">
                          <a:solidFill>
                            <a:srgbClr val="080808"/>
                          </a:solidFill>
                          <a:effectLst/>
                          <a:latin typeface="Calibri"/>
                        </a:rPr>
                        <a:t>7.5</a:t>
                      </a:r>
                    </a:p>
                  </a:txBody>
                  <a:tcPr marL="45720" marR="45720" marT="9144" marB="9144" anchor="ctr">
                    <a:lnL>
                      <a:noFill/>
                    </a:lnL>
                    <a:lnR>
                      <a:noFill/>
                    </a:lnR>
                    <a:lnT>
                      <a:noFill/>
                    </a:lnT>
                    <a:lnB>
                      <a:noFill/>
                    </a:lnB>
                    <a:solidFill>
                      <a:srgbClr val="E2EFDA"/>
                    </a:solidFill>
                  </a:tcPr>
                </a:tc>
                <a:tc>
                  <a:txBody>
                    <a:bodyPr/>
                    <a:lstStyle/>
                    <a:p>
                      <a:pPr algn="ctr">
                        <a:buNone/>
                      </a:pPr>
                      <a:r>
                        <a:rPr lang="en-US" sz="900" dirty="0" b="0" u="none">
                          <a:solidFill>
                            <a:srgbClr val="080808"/>
                          </a:solidFill>
                          <a:effectLst/>
                          <a:latin typeface="Calibri"/>
                        </a:rPr>
                        <a:t>Best-in-class vertical software is 12 to 18 months; above 24 months is a financing problem</a:t>
                      </a:r>
                    </a:p>
                  </a:txBody>
                  <a:tcPr marL="45720" marR="45720" marT="9144" marB="9144" anchor="ctr">
                    <a:lnL>
                      <a:noFill/>
                    </a:lnL>
                    <a:lnR>
                      <a:noFill/>
                    </a:lnR>
                    <a:lnT>
                      <a:noFill/>
                    </a:lnT>
                    <a:lnB>
                      <a:noFill/>
                    </a:lnB>
                    <a:solidFill>
                      <a:srgbClr val="ECEEF0"/>
                    </a:solidFill>
                  </a:tcPr>
                </a:tc>
                <a:extLst>
                  <a:ext uri="{0D108BD9-81ED-4DB2-BD59-A6C34878D82A}">
                    <a16:rowId xmlns:a16="http://schemas.microsoft.com/office/drawing/2014/main" val="252964039"/>
                  </a:ext>
                </a:extLst>
              </a:tr>
            </a:tbl>
          </a:graphicData>
        </a:graphic>
      </p:graphicFrame>
      <p:sp>
        <p:nvSpPr>
          <p:cNvPr id="11" name="TextBox 10"/>
          <p:cNvSpPr txBox="1"/>
          <p:nvPr/>
        </p:nvSpPr>
        <p:spPr>
          <a:xfrm>
            <a:off x="160020" y="4617720"/>
            <a:ext cx="8823960" cy="219456"/>
          </a:xfrm>
          <a:prstGeom prst="rect">
            <a:avLst/>
          </a:prstGeom>
          <a:noFill/>
        </p:spPr>
        <p:txBody>
          <a:bodyPr wrap="square">
            <a:spAutoFit/>
          </a:bodyPr>
          <a:lstStyle/>
          <a:p>
            <a:r>
              <a:rPr sz="700" i="1">
                <a:solidFill>
                  <a:srgbClr val="9AA0A8"/>
                </a:solidFill>
                <a:latin typeface="Calibri"/>
              </a:rPr>
              <a:t>Note: lifetime value is deliberately conservative. It assumes no customer survives beyond five years and discounts the gross profit stream at 12.0%. A perpetuity-based lifetime value would be unbounded in the base case, because net revenue retention of 112.0% meets the discount rate, which is why that convention is rejected here.</a:t>
            </a:r>
          </a:p>
        </p:txBody>
      </p:sp>
    </p:spTree>
    <p:extLst>
      <p:ext uri="{BB962C8B-B14F-4D97-AF65-F5344CB8AC3E}">
        <p14:creationId xmlns:p14="http://schemas.microsoft.com/office/powerpoint/2010/main" val="34012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9A13-2B42-BEB7-4AD2-E66793389E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BD7D85-4D15-7473-D50F-996A98D8A114}"/>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26</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itle 2">
            <a:extLst>
              <a:ext uri="{FF2B5EF4-FFF2-40B4-BE49-F238E27FC236}">
                <a16:creationId xmlns:a16="http://schemas.microsoft.com/office/drawing/2014/main" id="{35745E89-2DDF-54A5-E1B6-77F88FAFBCCA}"/>
              </a:ext>
            </a:extLst>
          </p:cNvPr>
          <p:cNvSpPr>
            <a:spLocks noGrp="1"/>
          </p:cNvSpPr>
          <p:nvPr>
            <p:ph type="title"/>
          </p:nvPr>
        </p:nvSpPr>
        <p:spPr/>
        <p:txBody>
          <a:bodyPr/>
          <a:lstStyle/>
          <a:p>
            <a:r>
              <a:rPr lang="en-US" dirty="0"/>
              <a:t>Sensitivity analysis</a:t>
            </a:r>
          </a:p>
        </p:txBody>
      </p:sp>
      <p:sp>
        <p:nvSpPr>
          <p:cNvPr id="4" name="TAKEAWAY">
            <a:extLst>
              <a:ext uri="{FF2B5EF4-FFF2-40B4-BE49-F238E27FC236}">
                <a16:creationId xmlns:a16="http://schemas.microsoft.com/office/drawing/2014/main" id="{163BA451-7717-46AD-BB00-11D04ACA35A8}"/>
              </a:ext>
            </a:extLst>
          </p:cNvPr>
          <p:cNvSpPr txBox="1">
            <a:spLocks/>
          </p:cNvSpPr>
          <p:nvPr/>
        </p:nvSpPr>
        <p:spPr>
          <a:xfrm>
            <a:off x="160020" y="603504"/>
            <a:ext cx="8823960" cy="502920"/>
          </a:xfrm>
          <a:prstGeom prst="rect">
            <a:avLst/>
          </a:prstGeom>
          <a:ln w="9525">
            <a:solidFill>
              <a:schemeClr val="bg1">
                <a:lumMod val="75000"/>
              </a:schemeClr>
            </a:solidFill>
          </a:ln>
        </p:spPr>
        <p:txBody>
          <a:bodyPr lIns="91440"/>
          <a:lstStyle>
            <a:defPPr>
              <a:defRPr lang="en-US"/>
            </a:defPPr>
            <a:lvl1pPr marL="171450" indent="-171450" algn="l" defTabSz="914290" rtl="0" eaLnBrk="1" latinLnBrk="0" hangingPunct="1">
              <a:lnSpc>
                <a:spcPct val="100000"/>
              </a:lnSpc>
              <a:spcBef>
                <a:spcPts val="0"/>
              </a:spcBef>
              <a:spcAft>
                <a:spcPts val="1200"/>
              </a:spcAft>
              <a:buClr>
                <a:srgbClr val="808080"/>
              </a:buClr>
              <a:buSzPct val="100000"/>
              <a:buFont typeface="Wingdings" panose="05000000000000000000" pitchFamily="2" charset="2"/>
              <a:buChar char="§"/>
              <a:defRPr sz="1800" kern="0" spc="0" baseline="0">
                <a:solidFill>
                  <a:srgbClr val="C0C0C0"/>
                </a:solidFill>
                <a:latin typeface="Calibri" panose="020F0502020204030204" pitchFamily="34" charset="0"/>
                <a:ea typeface="+mn-ea"/>
                <a:cs typeface="+mn-cs"/>
              </a:defRPr>
            </a:lvl1pPr>
            <a:lvl2pPr marL="4000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2pPr>
            <a:lvl3pPr marL="5715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3pPr>
            <a:lvl4pPr marL="7429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4pPr>
            <a:lvl5pPr marL="9144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5pPr>
            <a:lvl6pPr marL="2514298"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3"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89"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4"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300"/>
              </a:spcBef>
              <a:spcAft>
                <a:spcPts val="300"/>
              </a:spcAft>
              <a:buFont typeface="Arial" panose="020B0604020202020204" pitchFamily="34" charset="0"/>
              <a:buChar char="•"/>
            </a:pPr>
            <a:r>
              <a:rPr lang="en-US" sz="1000" dirty="0" b="0" u="none">
                <a:solidFill>
                  <a:srgbClr val="080808"/>
                </a:solidFill>
                <a:latin typeface="Calibri"/>
              </a:rPr>
              <a:t>Net revenue retention and customer acquisition cost together determine whether this business is fundable. At base retention of 112.0%, the plan clears 3.0x only while CAC stays at or below roughly $32,000 per logo.</a:t>
            </a:r>
          </a:p>
        </p:txBody>
      </p:sp>
      <p:sp>
        <p:nvSpPr>
          <p:cNvPr id="9" name="Rectangle 8">
            <a:extLst>
              <a:ext uri="{FF2B5EF4-FFF2-40B4-BE49-F238E27FC236}">
                <a16:creationId xmlns:a16="http://schemas.microsoft.com/office/drawing/2014/main" id="{C9E7D6FF-8B30-2BF1-F0BB-F2ACC6447940}"/>
              </a:ext>
            </a:extLst>
          </p:cNvPr>
          <p:cNvSpPr/>
          <p:nvPr/>
        </p:nvSpPr>
        <p:spPr>
          <a:xfrm>
            <a:off x="160020" y="1170432"/>
            <a:ext cx="8823960" cy="274320"/>
          </a:xfrm>
          <a:prstGeom prst="rect">
            <a:avLst/>
          </a:prstGeom>
          <a:solidFill>
            <a:srgbClr val="0E2E5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4008" rIns="45720" rtlCol="0" anchor="ctr"/>
          <a:lstStyle/>
          <a:p>
            <a:pPr algn="l"/>
            <a:r>
              <a:rPr lang="en-US" sz="1000" b="1" kern="0" dirty="0" u="none">
                <a:solidFill>
                  <a:srgbClr val="FFFFFF"/>
                </a:solidFill>
                <a:latin typeface="Calibri"/>
              </a:rPr>
              <a:t>LTV / CAC: net revenue retention versus customer acquisition cost</a:t>
            </a:r>
            <a:endParaRPr lang="en-US" sz="900" b="1" kern="0" dirty="0">
              <a:solidFill>
                <a:srgbClr val="FF0000"/>
              </a:solidFill>
            </a:endParaRPr>
          </a:p>
        </p:txBody>
      </p:sp>
      <p:graphicFrame>
        <p:nvGraphicFramePr>
          <p:cNvPr id="10" name="Table 9">
            <a:extLst>
              <a:ext uri="{FF2B5EF4-FFF2-40B4-BE49-F238E27FC236}">
                <a16:creationId xmlns:a16="http://schemas.microsoft.com/office/drawing/2014/main" id="{1B237A7A-DE7F-C779-E098-FB2FBA99ABDE}"/>
              </a:ext>
            </a:extLst>
          </p:cNvPr>
          <p:cNvGraphicFramePr>
            <a:graphicFrameLocks noGrp="1"/>
          </p:cNvGraphicFramePr>
          <p:nvPr>
            <p:extLst>
              <p:ext uri="{D42A27DB-BD31-4B8C-83A1-F6EECF244321}">
                <p14:modId xmlns:p14="http://schemas.microsoft.com/office/powerpoint/2010/main" val="2039852589"/>
              </p:ext>
            </p:extLst>
          </p:nvPr>
        </p:nvGraphicFramePr>
        <p:xfrm>
          <a:off x="160020" y="1463040"/>
          <a:ext cx="8823960" cy="1645919"/>
        </p:xfrm>
        <a:graphic>
          <a:graphicData uri="http://schemas.openxmlformats.org/drawingml/2006/table">
            <a:tbl>
              <a:tblPr/>
              <a:tblGrid>
                <a:gridCol w="1417320">
                  <a:extLst>
                    <a:ext uri="{9D8B030D-6E8A-4147-A177-3AD203B41FA5}">
                      <a16:colId xmlns:a16="http://schemas.microsoft.com/office/drawing/2014/main" val="2045504679"/>
                    </a:ext>
                  </a:extLst>
                </a:gridCol>
                <a:gridCol w="1234440">
                  <a:extLst>
                    <a:ext uri="{9D8B030D-6E8A-4147-A177-3AD203B41FA5}">
                      <a16:colId xmlns:a16="http://schemas.microsoft.com/office/drawing/2014/main" val="1500048310"/>
                    </a:ext>
                  </a:extLst>
                </a:gridCol>
                <a:gridCol w="1234440">
                  <a:extLst>
                    <a:ext uri="{9D8B030D-6E8A-4147-A177-3AD203B41FA5}">
                      <a16:colId xmlns:a16="http://schemas.microsoft.com/office/drawing/2014/main" val="1123483130"/>
                    </a:ext>
                  </a:extLst>
                </a:gridCol>
                <a:gridCol w="1234440">
                  <a:extLst>
                    <a:ext uri="{9D8B030D-6E8A-4147-A177-3AD203B41FA5}">
                      <a16:colId xmlns:a16="http://schemas.microsoft.com/office/drawing/2014/main" val="3331087705"/>
                    </a:ext>
                  </a:extLst>
                </a:gridCol>
                <a:gridCol w="1234440">
                  <a:extLst>
                    <a:ext uri="{9D8B030D-6E8A-4147-A177-3AD203B41FA5}">
                      <a16:colId xmlns:a16="http://schemas.microsoft.com/office/drawing/2014/main" val="2191868649"/>
                    </a:ext>
                  </a:extLst>
                </a:gridCol>
                <a:gridCol w="1234440">
                  <a:extLst>
                    <a:ext uri="{9D8B030D-6E8A-4147-A177-3AD203B41FA5}">
                      <a16:colId xmlns:a16="http://schemas.microsoft.com/office/drawing/2014/main" val="2433905927"/>
                    </a:ext>
                  </a:extLst>
                </a:gridCol>
                <a:gridCol w="1234440">
                  <a:extLst>
                    <a:ext uri="{9D8B030D-6E8A-4147-A177-3AD203B41FA5}">
                      <a16:colId xmlns:a16="http://schemas.microsoft.com/office/drawing/2014/main" val="2433905927"/>
                    </a:ext>
                  </a:extLst>
                </a:gridCol>
              </a:tblGrid>
              <a:tr h="274320">
                <a:tc>
                  <a:txBody>
                    <a:bodyPr/>
                    <a:lstStyle/>
                    <a:p>
                      <a:pPr algn="ctr">
                        <a:buNone/>
                      </a:pPr>
                      <a:r>
                        <a:rPr sz="1000" b="1">
                          <a:solidFill>
                            <a:srgbClr val="FFFFFF"/>
                          </a:solidFill>
                          <a:latin typeface="Calibri"/>
                        </a:rPr>
                        <a:t>NRR \ CAC</a:t>
                      </a:r>
                      <a:endParaRPr lang="en-US" sz="800" b="1" dirty="0">
                        <a:effectLst/>
                      </a:endParaRP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1000" b="1" dirty="0" u="none">
                          <a:solidFill>
                            <a:srgbClr val="FFFFFF"/>
                          </a:solidFill>
                          <a:effectLst/>
                          <a:latin typeface="Calibri"/>
                        </a:rPr>
                        <a:t>$20,000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1000" b="1" dirty="0" u="none">
                          <a:solidFill>
                            <a:srgbClr val="FFFFFF"/>
                          </a:solidFill>
                          <a:effectLst/>
                          <a:latin typeface="Calibri"/>
                        </a:rPr>
                        <a:t>$24,000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1000" b="1" dirty="0" u="none">
                          <a:solidFill>
                            <a:srgbClr val="FFFFFF"/>
                          </a:solidFill>
                          <a:effectLst/>
                          <a:latin typeface="Calibri"/>
                        </a:rPr>
                        <a:t>$28,000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1000" b="1" dirty="0" u="none">
                          <a:solidFill>
                            <a:srgbClr val="FFFFFF"/>
                          </a:solidFill>
                          <a:effectLst/>
                          <a:latin typeface="Calibri"/>
                        </a:rPr>
                        <a:t>$32,000</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1000" b="1" dirty="0" u="none">
                          <a:solidFill>
                            <a:srgbClr val="FFFFFF"/>
                          </a:solidFill>
                          <a:effectLst/>
                          <a:latin typeface="Calibri"/>
                        </a:rPr>
                        <a:t>$36,000</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extLst>
                  <a:ext uri="{0D108BD9-81ED-4DB2-BD59-A6C34878D82A}">
                    <a16:rowId xmlns:a16="http://schemas.microsoft.com/office/drawing/2014/main" val="716169627"/>
                  </a:ext>
                </a:extLst>
                <a:tc>
                  <a:txBody>
                    <a:bodyPr/>
                    <a:lstStyle/>
                    <a:p>
                      <a:pPr algn="ctr">
                        <a:buNone/>
                      </a:pPr>
                      <a:r>
                        <a:rPr lang="en-US" sz="1000" b="1" dirty="0" u="none">
                          <a:solidFill>
                            <a:srgbClr val="FFFFFF"/>
                          </a:solidFill>
                          <a:effectLst/>
                          <a:latin typeface="Calibri"/>
                        </a:rPr>
                        <a:t>$40,000</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r>
              <a:tr h="274320">
                <a:tc>
                  <a:txBody>
                    <a:bodyPr/>
                    <a:lstStyle/>
                    <a:p>
                      <a:pPr algn="ctr">
                        <a:buNone/>
                      </a:pPr>
                      <a:r>
                        <a:rPr lang="en-US" sz="1000" b="0" dirty="0" u="none">
                          <a:solidFill>
                            <a:srgbClr val="080808"/>
                          </a:solidFill>
                          <a:effectLst/>
                          <a:latin typeface="Calibri"/>
                        </a:rPr>
                        <a:t>100.0%</a:t>
                      </a:r>
                    </a:p>
                  </a:txBody>
                  <a:tcPr marL="45720" marR="45720" marT="9144" marB="9144" anchor="ctr">
                    <a:lnL w="6350" cap="flat" cmpd="sng" algn="ctr">
                      <a:solidFill>
                        <a:srgbClr val="A0ABB4"/>
                      </a:solidFill>
                      <a:prstDash val="solid"/>
                      <a:round/>
                      <a:headEnd type="none" w="med" len="med"/>
                      <a:tailEnd type="none" w="med" len="med"/>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noFill/>
                  </a:tcPr>
                </a:tc>
                <a:tc>
                  <a:txBody>
                    <a:bodyPr/>
                    <a:lstStyle/>
                    <a:p>
                      <a:pPr algn="ctr">
                        <a:buNone/>
                      </a:pPr>
                      <a:r>
                        <a:rPr sz="1000" b="0">
                          <a:solidFill>
                            <a:srgbClr val="080808"/>
                          </a:solidFill>
                          <a:latin typeface="Calibri"/>
                        </a:rPr>
                        <a:t>4.5x</a:t>
                      </a:r>
                      <a:endParaRPr lang="en-US" sz="800" dirty="0">
                        <a:effectLst/>
                      </a:endParaRPr>
                    </a:p>
                  </a:txBody>
                  <a:tcPr marL="45720" marR="45720" marT="9144" marB="9144" anchor="ctr">
                    <a:lnL>
                      <a:noFill/>
                    </a:lnL>
                    <a:lnR>
                      <a:noFill/>
                    </a:lnR>
                    <a:lnT>
                      <a:noFill/>
                    </a:lnT>
                    <a:lnB>
                      <a:noFill/>
                    </a:lnB>
                    <a:solidFill>
                      <a:srgbClr val="F2F2F2"/>
                    </a:solidFill>
                  </a:tcPr>
                </a:tc>
                <a:tc>
                  <a:txBody>
                    <a:bodyPr/>
                    <a:lstStyle/>
                    <a:p>
                      <a:pPr algn="ctr">
                        <a:buNone/>
                      </a:pPr>
                      <a:r>
                        <a:rPr sz="1000" b="0">
                          <a:solidFill>
                            <a:srgbClr val="080808"/>
                          </a:solidFill>
                          <a:latin typeface="Calibri"/>
                        </a:rPr>
                        <a:t>3.7x</a:t>
                      </a:r>
                      <a:endParaRPr lang="en-US" sz="800" dirty="0">
                        <a:effectLst/>
                      </a:endParaRPr>
                    </a:p>
                  </a:txBody>
                  <a:tcPr marL="45720" marR="45720" marT="9144" marB="9144" anchor="ctr">
                    <a:lnL>
                      <a:noFill/>
                    </a:lnL>
                    <a:lnR>
                      <a:noFill/>
                    </a:lnR>
                    <a:lnT>
                      <a:noFill/>
                    </a:lnT>
                    <a:lnB>
                      <a:noFill/>
                    </a:lnB>
                    <a:solidFill>
                      <a:srgbClr val="F2F2F2"/>
                    </a:solidFill>
                  </a:tcPr>
                </a:tc>
                <a:tc>
                  <a:txBody>
                    <a:bodyPr/>
                    <a:lstStyle/>
                    <a:p>
                      <a:pPr algn="ctr">
                        <a:buNone/>
                      </a:pPr>
                      <a:r>
                        <a:rPr sz="1000" b="0">
                          <a:solidFill>
                            <a:srgbClr val="080808"/>
                          </a:solidFill>
                          <a:latin typeface="Calibri"/>
                        </a:rPr>
                        <a:t>3.2x</a:t>
                      </a:r>
                      <a:endParaRPr lang="en-US" sz="800" dirty="0">
                        <a:effectLst/>
                      </a:endParaRPr>
                    </a:p>
                  </a:txBody>
                  <a:tcPr marL="45720" marR="45720" marT="9144" marB="9144" anchor="ctr">
                    <a:lnL>
                      <a:noFill/>
                    </a:lnL>
                    <a:lnR>
                      <a:noFill/>
                    </a:lnR>
                    <a:lnT>
                      <a:noFill/>
                    </a:lnT>
                    <a:lnB>
                      <a:noFill/>
                    </a:lnB>
                    <a:solidFill>
                      <a:srgbClr val="F2F2F2"/>
                    </a:solidFill>
                  </a:tcPr>
                </a:tc>
                <a:tc>
                  <a:txBody>
                    <a:bodyPr/>
                    <a:lstStyle/>
                    <a:p>
                      <a:pPr algn="ctr">
                        <a:buNone/>
                      </a:pPr>
                      <a:r>
                        <a:rPr sz="1000" b="0">
                          <a:solidFill>
                            <a:srgbClr val="080808"/>
                          </a:solidFill>
                          <a:latin typeface="Calibri"/>
                        </a:rPr>
                        <a:t>2.8x</a:t>
                      </a:r>
                      <a:endParaRPr lang="en-US" sz="800" dirty="0">
                        <a:effectLst/>
                      </a:endParaRPr>
                    </a:p>
                  </a:txBody>
                  <a:tcPr marL="45720" marR="45720" marT="9144" marB="9144" anchor="ctr">
                    <a:lnL>
                      <a:noFill/>
                    </a:lnL>
                    <a:lnR>
                      <a:noFill/>
                    </a:lnR>
                    <a:lnT>
                      <a:noFill/>
                    </a:lnT>
                    <a:lnB>
                      <a:noFill/>
                    </a:lnB>
                    <a:solidFill>
                      <a:srgbClr val="F2DCDB"/>
                    </a:solidFill>
                  </a:tcPr>
                </a:tc>
                <a:tc>
                  <a:txBody>
                    <a:bodyPr/>
                    <a:lstStyle/>
                    <a:p>
                      <a:pPr algn="ctr">
                        <a:buNone/>
                      </a:pPr>
                      <a:r>
                        <a:rPr sz="1000" b="0">
                          <a:solidFill>
                            <a:srgbClr val="080808"/>
                          </a:solidFill>
                          <a:latin typeface="Calibri"/>
                        </a:rPr>
                        <a:t>2.5x</a:t>
                      </a:r>
                      <a:endParaRPr lang="en-US" sz="800" dirty="0">
                        <a:effectLst/>
                      </a:endParaRPr>
                    </a:p>
                  </a:txBody>
                  <a:tcPr marL="45720" marR="45720" marT="9144" marB="9144" anchor="ctr">
                    <a:lnL>
                      <a:noFill/>
                    </a:lnL>
                    <a:lnR>
                      <a:noFill/>
                    </a:lnR>
                    <a:lnT>
                      <a:noFill/>
                    </a:lnT>
                    <a:lnB>
                      <a:noFill/>
                    </a:lnB>
                    <a:solidFill>
                      <a:srgbClr val="F2DCDB"/>
                    </a:solidFill>
                  </a:tcPr>
                </a:tc>
                <a:extLst>
                  <a:ext uri="{0D108BD9-81ED-4DB2-BD59-A6C34878D82A}">
                    <a16:rowId xmlns:a16="http://schemas.microsoft.com/office/drawing/2014/main" val="1281518369"/>
                  </a:ext>
                </a:extLst>
                <a:tc>
                  <a:txBody>
                    <a:bodyPr/>
                    <a:lstStyle/>
                    <a:p>
                      <a:pPr algn="ctr">
                        <a:buNone/>
                      </a:pPr>
                      <a:r>
                        <a:rPr sz="1000" b="0">
                          <a:solidFill>
                            <a:srgbClr val="080808"/>
                          </a:solidFill>
                          <a:latin typeface="Calibri"/>
                        </a:rPr>
                        <a:t>2.2x</a:t>
                      </a:r>
                      <a:endParaRPr lang="en-US" sz="800" dirty="0">
                        <a:effectLst/>
                      </a:endParaRPr>
                    </a:p>
                  </a:txBody>
                  <a:tcPr marL="45720" marR="45720" marT="9144" marB="9144" anchor="ctr">
                    <a:lnL>
                      <a:noFill/>
                    </a:lnL>
                    <a:lnR>
                      <a:noFill/>
                    </a:lnR>
                    <a:lnT>
                      <a:noFill/>
                    </a:lnT>
                    <a:lnB>
                      <a:noFill/>
                    </a:lnB>
                    <a:solidFill>
                      <a:srgbClr val="F2DCDB"/>
                    </a:solidFill>
                  </a:tcPr>
                </a:tc>
              </a:tr>
              <a:tr h="274320">
                <a:tc>
                  <a:txBody>
                    <a:bodyPr/>
                    <a:lstStyle/>
                    <a:p>
                      <a:pPr algn="ctr">
                        <a:buNone/>
                      </a:pPr>
                      <a:r>
                        <a:rPr lang="en-US" sz="1000" b="0" dirty="0" u="none">
                          <a:solidFill>
                            <a:srgbClr val="080808"/>
                          </a:solidFill>
                          <a:effectLst/>
                          <a:latin typeface="Calibri"/>
                        </a:rPr>
                        <a:t>106.0%</a:t>
                      </a: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1000" dirty="0" b="0" u="none">
                          <a:solidFill>
                            <a:srgbClr val="080808"/>
                          </a:solidFill>
                          <a:effectLst/>
                          <a:latin typeface="Calibri"/>
                        </a:rPr>
                        <a:t>5.0x</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2EFDA"/>
                    </a:solidFill>
                  </a:tcPr>
                </a:tc>
                <a:tc>
                  <a:txBody>
                    <a:bodyPr/>
                    <a:lstStyle/>
                    <a:p>
                      <a:pPr algn="ctr">
                        <a:buNone/>
                      </a:pPr>
                      <a:r>
                        <a:rPr lang="en-US" sz="1000" dirty="0" b="0" u="none">
                          <a:solidFill>
                            <a:srgbClr val="080808"/>
                          </a:solidFill>
                          <a:effectLst/>
                          <a:latin typeface="Calibri"/>
                        </a:rPr>
                        <a:t>4.2x</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F2F2"/>
                    </a:solidFill>
                  </a:tcPr>
                </a:tc>
                <a:tc>
                  <a:txBody>
                    <a:bodyPr/>
                    <a:lstStyle/>
                    <a:p>
                      <a:pPr algn="ctr">
                        <a:buNone/>
                      </a:pPr>
                      <a:r>
                        <a:rPr lang="en-US" sz="1000" dirty="0" b="0" u="none">
                          <a:solidFill>
                            <a:srgbClr val="080808"/>
                          </a:solidFill>
                          <a:effectLst/>
                          <a:latin typeface="Calibri"/>
                        </a:rPr>
                        <a:t>3.6x</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F2F2"/>
                    </a:solidFill>
                  </a:tcPr>
                </a:tc>
                <a:tc>
                  <a:txBody>
                    <a:bodyPr/>
                    <a:lstStyle/>
                    <a:p>
                      <a:pPr algn="ctr">
                        <a:buNone/>
                      </a:pPr>
                      <a:r>
                        <a:rPr lang="en-US" sz="1000" dirty="0" b="0" u="none">
                          <a:solidFill>
                            <a:srgbClr val="080808"/>
                          </a:solidFill>
                          <a:effectLst/>
                          <a:latin typeface="Calibri"/>
                        </a:rPr>
                        <a:t>3.1x</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F2F2"/>
                    </a:solidFill>
                  </a:tcPr>
                </a:tc>
                <a:tc>
                  <a:txBody>
                    <a:bodyPr/>
                    <a:lstStyle/>
                    <a:p>
                      <a:pPr algn="ctr">
                        <a:buNone/>
                      </a:pPr>
                      <a:r>
                        <a:rPr lang="en-US" sz="1000" dirty="0" b="0" u="none">
                          <a:solidFill>
                            <a:srgbClr val="080808"/>
                          </a:solidFill>
                          <a:effectLst/>
                          <a:latin typeface="Calibri"/>
                        </a:rPr>
                        <a:t>2.8x</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a:noFill/>
                    </a:lnB>
                    <a:solidFill>
                      <a:srgbClr val="F2DCDB"/>
                    </a:solidFill>
                  </a:tcPr>
                </a:tc>
                <a:extLst>
                  <a:ext uri="{0D108BD9-81ED-4DB2-BD59-A6C34878D82A}">
                    <a16:rowId xmlns:a16="http://schemas.microsoft.com/office/drawing/2014/main" val="138252583"/>
                  </a:ext>
                </a:extLst>
                <a:tc>
                  <a:txBody>
                    <a:bodyPr/>
                    <a:lstStyle/>
                    <a:p>
                      <a:pPr algn="ctr">
                        <a:buNone/>
                      </a:pPr>
                      <a:r>
                        <a:rPr lang="en-US" sz="1000" dirty="0" b="0" u="none">
                          <a:solidFill>
                            <a:srgbClr val="080808"/>
                          </a:solidFill>
                          <a:effectLst/>
                          <a:latin typeface="Calibri"/>
                        </a:rPr>
                        <a:t>2.5x</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a:noFill/>
                    </a:lnB>
                    <a:solidFill>
                      <a:srgbClr val="F2DCDB"/>
                    </a:solidFill>
                  </a:tcPr>
                </a:tc>
              </a:tr>
              <a:tr h="274320">
                <a:tc>
                  <a:txBody>
                    <a:bodyPr/>
                    <a:lstStyle/>
                    <a:p>
                      <a:pPr algn="ctr">
                        <a:buNone/>
                      </a:pPr>
                      <a:r>
                        <a:rPr lang="en-US" sz="1000" b="0" dirty="0" u="none">
                          <a:solidFill>
                            <a:srgbClr val="080808"/>
                          </a:solidFill>
                          <a:effectLst/>
                          <a:latin typeface="Calibri"/>
                        </a:rPr>
                        <a:t>112.0%</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1000" dirty="0" b="0" u="none">
                          <a:solidFill>
                            <a:srgbClr val="080808"/>
                          </a:solidFill>
                          <a:effectLst/>
                          <a:latin typeface="Calibri"/>
                        </a:rPr>
                        <a:t>5.6x</a:t>
                      </a:r>
                    </a:p>
                  </a:txBody>
                  <a:tcPr marL="45720" marR="45720" marT="9144" marB="9144" anchor="ctr">
                    <a:lnL>
                      <a:noFill/>
                    </a:lnL>
                    <a:lnR>
                      <a:noFill/>
                    </a:lnR>
                    <a:lnT>
                      <a:noFill/>
                    </a:lnT>
                    <a:lnB>
                      <a:noFill/>
                    </a:lnB>
                    <a:solidFill>
                      <a:srgbClr val="E2EFDA"/>
                    </a:solidFill>
                  </a:tcPr>
                </a:tc>
                <a:tc>
                  <a:txBody>
                    <a:bodyPr/>
                    <a:lstStyle/>
                    <a:p>
                      <a:pPr algn="ctr">
                        <a:buNone/>
                      </a:pPr>
                      <a:r>
                        <a:rPr lang="en-US" sz="1000" dirty="0" b="0" u="none">
                          <a:solidFill>
                            <a:srgbClr val="080808"/>
                          </a:solidFill>
                          <a:effectLst/>
                          <a:latin typeface="Calibri"/>
                        </a:rPr>
                        <a:t>4.6x</a:t>
                      </a:r>
                    </a:p>
                  </a:txBody>
                  <a:tcPr marL="45720" marR="45720" marT="9144" marB="9144" anchor="ctr">
                    <a:lnL>
                      <a:noFill/>
                    </a:lnL>
                    <a:lnR>
                      <a:noFill/>
                    </a:lnR>
                    <a:lnT>
                      <a:noFill/>
                    </a:lnT>
                    <a:lnB>
                      <a:noFill/>
                    </a:lnB>
                    <a:solidFill>
                      <a:srgbClr val="E2EFDA"/>
                    </a:solidFill>
                  </a:tcPr>
                </a:tc>
                <a:tc>
                  <a:txBody>
                    <a:bodyPr/>
                    <a:lstStyle/>
                    <a:p>
                      <a:pPr algn="ctr">
                        <a:buNone/>
                      </a:pPr>
                      <a:r>
                        <a:rPr lang="en-US" sz="1000" dirty="0" b="0" u="none">
                          <a:solidFill>
                            <a:srgbClr val="080808"/>
                          </a:solidFill>
                          <a:effectLst/>
                          <a:latin typeface="Calibri"/>
                        </a:rPr>
                        <a:t>4.0x</a:t>
                      </a:r>
                    </a:p>
                  </a:txBody>
                  <a:tcPr marL="45720" marR="45720" marT="9144" marB="9144" anchor="ctr">
                    <a:lnL>
                      <a:noFill/>
                    </a:lnL>
                    <a:lnR>
                      <a:noFill/>
                    </a:lnR>
                    <a:lnT>
                      <a:noFill/>
                    </a:lnT>
                    <a:lnB>
                      <a:noFill/>
                    </a:lnB>
                    <a:solidFill>
                      <a:srgbClr val="F2F2F2"/>
                    </a:solidFill>
                  </a:tcPr>
                </a:tc>
                <a:tc>
                  <a:txBody>
                    <a:bodyPr/>
                    <a:lstStyle/>
                    <a:p>
                      <a:pPr algn="ctr">
                        <a:buNone/>
                      </a:pPr>
                      <a:r>
                        <a:rPr lang="en-US" sz="1000" dirty="0" b="0" u="none">
                          <a:solidFill>
                            <a:srgbClr val="080808"/>
                          </a:solidFill>
                          <a:effectLst/>
                          <a:latin typeface="Calibri"/>
                        </a:rPr>
                        <a:t>3.5x</a:t>
                      </a:r>
                    </a:p>
                  </a:txBody>
                  <a:tcPr marL="45720" marR="45720" marT="9144" marB="9144" anchor="ctr">
                    <a:lnL>
                      <a:noFill/>
                    </a:lnL>
                    <a:lnR>
                      <a:noFill/>
                    </a:lnR>
                    <a:lnT>
                      <a:noFill/>
                    </a:lnT>
                    <a:lnB>
                      <a:noFill/>
                    </a:lnB>
                    <a:solidFill>
                      <a:srgbClr val="F2F2F2"/>
                    </a:solidFill>
                  </a:tcPr>
                </a:tc>
                <a:tc>
                  <a:txBody>
                    <a:bodyPr/>
                    <a:lstStyle/>
                    <a:p>
                      <a:pPr algn="ctr">
                        <a:buNone/>
                      </a:pPr>
                      <a:r>
                        <a:rPr lang="en-US" sz="1000" dirty="0" b="0" u="none">
                          <a:solidFill>
                            <a:srgbClr val="080808"/>
                          </a:solidFill>
                          <a:effectLst/>
                          <a:latin typeface="Calibri"/>
                        </a:rPr>
                        <a:t>3.1x</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022646303"/>
                  </a:ext>
                </a:extLst>
                <a:tc>
                  <a:txBody>
                    <a:bodyPr/>
                    <a:lstStyle/>
                    <a:p>
                      <a:pPr algn="ctr">
                        <a:buNone/>
                      </a:pPr>
                      <a:r>
                        <a:rPr lang="en-US" sz="1000" dirty="0" b="0" u="none">
                          <a:solidFill>
                            <a:srgbClr val="080808"/>
                          </a:solidFill>
                          <a:effectLst/>
                          <a:latin typeface="Calibri"/>
                        </a:rPr>
                        <a:t>2.8x</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F2DCDB"/>
                    </a:solidFill>
                  </a:tcPr>
                </a:tc>
              </a:tr>
              <a:tr h="274320">
                <a:tc>
                  <a:txBody>
                    <a:bodyPr/>
                    <a:lstStyle/>
                    <a:p>
                      <a:pPr algn="ctr">
                        <a:buNone/>
                      </a:pPr>
                      <a:r>
                        <a:rPr lang="en-US" sz="1000" b="0" dirty="0" u="none">
                          <a:solidFill>
                            <a:srgbClr val="080808"/>
                          </a:solidFill>
                          <a:effectLst/>
                          <a:latin typeface="Calibri"/>
                        </a:rPr>
                        <a:t>118.0%</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1000" dirty="0" b="0" u="none">
                          <a:solidFill>
                            <a:srgbClr val="080808"/>
                          </a:solidFill>
                          <a:effectLst/>
                          <a:latin typeface="Calibri"/>
                        </a:rPr>
                        <a:t>6.2x</a:t>
                      </a:r>
                    </a:p>
                  </a:txBody>
                  <a:tcPr marL="45720" marR="45720" marT="9144" marB="9144" anchor="ctr">
                    <a:lnL>
                      <a:noFill/>
                    </a:lnL>
                    <a:lnR>
                      <a:noFill/>
                    </a:lnR>
                    <a:lnT>
                      <a:noFill/>
                    </a:lnT>
                    <a:lnB>
                      <a:noFill/>
                    </a:lnB>
                    <a:solidFill>
                      <a:srgbClr val="E2EFDA"/>
                    </a:solidFill>
                  </a:tcPr>
                </a:tc>
                <a:tc>
                  <a:txBody>
                    <a:bodyPr/>
                    <a:lstStyle/>
                    <a:p>
                      <a:pPr algn="ctr">
                        <a:buNone/>
                      </a:pPr>
                      <a:r>
                        <a:rPr lang="en-US" sz="1000" dirty="0" b="0" u="none">
                          <a:solidFill>
                            <a:srgbClr val="080808"/>
                          </a:solidFill>
                          <a:effectLst/>
                          <a:latin typeface="Calibri"/>
                        </a:rPr>
                        <a:t>5.2x</a:t>
                      </a:r>
                    </a:p>
                  </a:txBody>
                  <a:tcPr marL="45720" marR="45720" marT="9144" marB="9144" anchor="ctr">
                    <a:lnL>
                      <a:noFill/>
                    </a:lnL>
                    <a:lnR>
                      <a:noFill/>
                    </a:lnR>
                    <a:lnT>
                      <a:noFill/>
                    </a:lnT>
                    <a:lnB>
                      <a:noFill/>
                    </a:lnB>
                    <a:solidFill>
                      <a:srgbClr val="E2EFDA"/>
                    </a:solidFill>
                  </a:tcPr>
                </a:tc>
                <a:tc>
                  <a:txBody>
                    <a:bodyPr/>
                    <a:lstStyle/>
                    <a:p>
                      <a:pPr algn="ctr">
                        <a:buNone/>
                      </a:pPr>
                      <a:r>
                        <a:rPr lang="en-US" sz="1000" dirty="0" b="0" u="none">
                          <a:solidFill>
                            <a:srgbClr val="080808"/>
                          </a:solidFill>
                          <a:effectLst/>
                          <a:latin typeface="Calibri"/>
                        </a:rPr>
                        <a:t>4.4x</a:t>
                      </a:r>
                    </a:p>
                  </a:txBody>
                  <a:tcPr marL="45720" marR="45720" marT="9144" marB="9144" anchor="ctr">
                    <a:lnL>
                      <a:noFill/>
                    </a:lnL>
                    <a:lnR>
                      <a:noFill/>
                    </a:lnR>
                    <a:lnT>
                      <a:noFill/>
                    </a:lnT>
                    <a:lnB>
                      <a:noFill/>
                    </a:lnB>
                    <a:solidFill>
                      <a:srgbClr val="F2F2F2"/>
                    </a:solidFill>
                  </a:tcPr>
                </a:tc>
                <a:tc>
                  <a:txBody>
                    <a:bodyPr/>
                    <a:lstStyle/>
                    <a:p>
                      <a:pPr algn="ctr">
                        <a:buNone/>
                      </a:pPr>
                      <a:r>
                        <a:rPr lang="en-US" sz="1000" dirty="0" b="0" u="none">
                          <a:solidFill>
                            <a:srgbClr val="080808"/>
                          </a:solidFill>
                          <a:effectLst/>
                          <a:latin typeface="Calibri"/>
                        </a:rPr>
                        <a:t>3.9x</a:t>
                      </a:r>
                    </a:p>
                  </a:txBody>
                  <a:tcPr marL="45720" marR="45720" marT="9144" marB="9144" anchor="ctr">
                    <a:lnL>
                      <a:noFill/>
                    </a:lnL>
                    <a:lnR>
                      <a:noFill/>
                    </a:lnR>
                    <a:lnT>
                      <a:noFill/>
                    </a:lnT>
                    <a:lnB>
                      <a:noFill/>
                    </a:lnB>
                    <a:solidFill>
                      <a:srgbClr val="F2F2F2"/>
                    </a:solidFill>
                  </a:tcPr>
                </a:tc>
                <a:tc>
                  <a:txBody>
                    <a:bodyPr/>
                    <a:lstStyle/>
                    <a:p>
                      <a:pPr algn="ctr">
                        <a:buNone/>
                      </a:pPr>
                      <a:r>
                        <a:rPr lang="en-US" sz="1000" dirty="0" b="0" u="none">
                          <a:solidFill>
                            <a:srgbClr val="080808"/>
                          </a:solidFill>
                          <a:effectLst/>
                          <a:latin typeface="Calibri"/>
                        </a:rPr>
                        <a:t>3.4x</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292835242"/>
                  </a:ext>
                </a:extLst>
                <a:tc>
                  <a:txBody>
                    <a:bodyPr/>
                    <a:lstStyle/>
                    <a:p>
                      <a:pPr algn="ctr">
                        <a:buNone/>
                      </a:pPr>
                      <a:r>
                        <a:rPr lang="en-US" sz="1000" dirty="0" b="0" u="none">
                          <a:solidFill>
                            <a:srgbClr val="080808"/>
                          </a:solidFill>
                          <a:effectLst/>
                          <a:latin typeface="Calibri"/>
                        </a:rPr>
                        <a:t>3.1x</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F2F2F2"/>
                    </a:solidFill>
                  </a:tcPr>
                </a:tc>
              </a:tr>
              <a:tr h="274320">
                <a:tc>
                  <a:txBody>
                    <a:bodyPr/>
                    <a:lstStyle/>
                    <a:p>
                      <a:pPr algn="ctr">
                        <a:buNone/>
                      </a:pPr>
                      <a:r>
                        <a:rPr lang="en-US" sz="1000" b="0" dirty="0" u="none">
                          <a:solidFill>
                            <a:srgbClr val="080808"/>
                          </a:solidFill>
                          <a:effectLst/>
                          <a:latin typeface="Calibri"/>
                        </a:rPr>
                        <a:t>124.0%</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1000" dirty="0" b="0" u="none">
                          <a:solidFill>
                            <a:srgbClr val="080808"/>
                          </a:solidFill>
                          <a:effectLst/>
                          <a:latin typeface="Calibri"/>
                        </a:rPr>
                        <a:t>6.9x</a:t>
                      </a:r>
                    </a:p>
                  </a:txBody>
                  <a:tcPr marL="45720" marR="45720" marT="9144" marB="9144" anchor="ctr">
                    <a:lnL>
                      <a:noFill/>
                    </a:lnL>
                    <a:lnR>
                      <a:noFill/>
                    </a:lnR>
                    <a:lnT>
                      <a:noFill/>
                    </a:lnT>
                    <a:lnB>
                      <a:noFill/>
                    </a:lnB>
                    <a:solidFill>
                      <a:srgbClr val="E2EFDA"/>
                    </a:solidFill>
                  </a:tcPr>
                </a:tc>
                <a:tc>
                  <a:txBody>
                    <a:bodyPr/>
                    <a:lstStyle/>
                    <a:p>
                      <a:pPr algn="ctr">
                        <a:buNone/>
                      </a:pPr>
                      <a:r>
                        <a:rPr lang="en-US" sz="1000" dirty="0" b="0" u="none">
                          <a:solidFill>
                            <a:srgbClr val="080808"/>
                          </a:solidFill>
                          <a:effectLst/>
                          <a:latin typeface="Calibri"/>
                        </a:rPr>
                        <a:t>5.8x</a:t>
                      </a:r>
                    </a:p>
                  </a:txBody>
                  <a:tcPr marL="45720" marR="45720" marT="9144" marB="9144" anchor="ctr">
                    <a:lnL>
                      <a:noFill/>
                    </a:lnL>
                    <a:lnR>
                      <a:noFill/>
                    </a:lnR>
                    <a:lnT>
                      <a:noFill/>
                    </a:lnT>
                    <a:lnB>
                      <a:noFill/>
                    </a:lnB>
                    <a:solidFill>
                      <a:srgbClr val="E2EFDA"/>
                    </a:solidFill>
                  </a:tcPr>
                </a:tc>
                <a:tc>
                  <a:txBody>
                    <a:bodyPr/>
                    <a:lstStyle/>
                    <a:p>
                      <a:pPr algn="ctr">
                        <a:buNone/>
                      </a:pPr>
                      <a:r>
                        <a:rPr lang="en-US" sz="1000" dirty="0" b="0" u="none">
                          <a:solidFill>
                            <a:srgbClr val="080808"/>
                          </a:solidFill>
                          <a:effectLst/>
                          <a:latin typeface="Calibri"/>
                        </a:rPr>
                        <a:t>4.9x</a:t>
                      </a:r>
                    </a:p>
                  </a:txBody>
                  <a:tcPr marL="45720" marR="45720" marT="9144" marB="9144" anchor="ctr">
                    <a:lnL>
                      <a:noFill/>
                    </a:lnL>
                    <a:lnR>
                      <a:noFill/>
                    </a:lnR>
                    <a:lnT>
                      <a:noFill/>
                    </a:lnT>
                    <a:lnB>
                      <a:noFill/>
                    </a:lnB>
                    <a:solidFill>
                      <a:srgbClr val="E2EFDA"/>
                    </a:solidFill>
                  </a:tcPr>
                </a:tc>
                <a:tc>
                  <a:txBody>
                    <a:bodyPr/>
                    <a:lstStyle/>
                    <a:p>
                      <a:pPr algn="ctr">
                        <a:buNone/>
                      </a:pPr>
                      <a:r>
                        <a:rPr lang="en-US" sz="1000" dirty="0" b="0" u="none">
                          <a:solidFill>
                            <a:srgbClr val="080808"/>
                          </a:solidFill>
                          <a:effectLst/>
                          <a:latin typeface="Calibri"/>
                        </a:rPr>
                        <a:t>4.3x</a:t>
                      </a:r>
                    </a:p>
                  </a:txBody>
                  <a:tcPr marL="45720" marR="45720" marT="9144" marB="9144" anchor="ctr">
                    <a:lnL>
                      <a:noFill/>
                    </a:lnL>
                    <a:lnR>
                      <a:noFill/>
                    </a:lnR>
                    <a:lnT>
                      <a:noFill/>
                    </a:lnT>
                    <a:lnB>
                      <a:noFill/>
                    </a:lnB>
                    <a:solidFill>
                      <a:srgbClr val="F2F2F2"/>
                    </a:solidFill>
                  </a:tcPr>
                </a:tc>
                <a:tc>
                  <a:txBody>
                    <a:bodyPr/>
                    <a:lstStyle/>
                    <a:p>
                      <a:pPr algn="ctr">
                        <a:buNone/>
                      </a:pPr>
                      <a:r>
                        <a:rPr lang="en-US" sz="1000" dirty="0" b="0" u="none">
                          <a:solidFill>
                            <a:srgbClr val="080808"/>
                          </a:solidFill>
                          <a:effectLst/>
                          <a:latin typeface="Calibri"/>
                        </a:rPr>
                        <a:t>3.8x</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165910800"/>
                  </a:ext>
                </a:extLst>
                <a:tc>
                  <a:txBody>
                    <a:bodyPr/>
                    <a:lstStyle/>
                    <a:p>
                      <a:pPr algn="ctr">
                        <a:buNone/>
                      </a:pPr>
                      <a:r>
                        <a:rPr lang="en-US" sz="1000" dirty="0" b="0" u="none">
                          <a:solidFill>
                            <a:srgbClr val="080808"/>
                          </a:solidFill>
                          <a:effectLst/>
                          <a:latin typeface="Calibri"/>
                        </a:rPr>
                        <a:t>3.5x</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F2F2F2"/>
                    </a:solidFill>
                  </a:tcPr>
                </a:tc>
              </a:tr>
            </a:tbl>
          </a:graphicData>
        </a:graphic>
      </p:graphicFrame>
      <p:graphicFrame>
        <p:nvGraphicFramePr>
          <p:cNvPr id="11" name="Table 10"/>
          <p:cNvGraphicFramePr>
            <a:graphicFrameLocks noGrp="1"/>
          </p:cNvGraphicFramePr>
          <p:nvPr/>
        </p:nvGraphicFramePr>
        <p:xfrm>
          <a:off x="160020" y="3749039"/>
          <a:ext cx="8823960" cy="1645920"/>
        </p:xfrm>
        <a:graphic>
          <a:graphicData uri="http://schemas.openxmlformats.org/drawingml/2006/table">
            <a:tbl>
              <a:tblPr>
                <a:tableStyleId>{5C22544A-7EE6-4342-B048-85BDC9FD1C3A}</a:tableStyleId>
              </a:tblPr>
              <a:tblGrid>
                <a:gridCol w="1417320"/>
                <a:gridCol w="1481328"/>
                <a:gridCol w="1481328"/>
                <a:gridCol w="1481328"/>
                <a:gridCol w="1481328"/>
                <a:gridCol w="1481328"/>
              </a:tblGrid>
              <a:tr h="274320">
                <a:tc>
                  <a:txBody>
                    <a:bodyPr/>
                    <a:lstStyle/>
                    <a:p>
                      <a:pPr algn="ctr"/>
                      <a:r>
                        <a:rPr sz="1000" b="1">
                          <a:solidFill>
                            <a:srgbClr val="FFFFFF"/>
                          </a:solidFill>
                          <a:latin typeface="Calibri"/>
                        </a:rPr>
                        <a:t>Customers \ ACV</a:t>
                      </a:r>
                    </a:p>
                  </a:txBody>
                  <a:tcPr anchor="ctr" marL="45720" marR="45720" marT="9144" marB="9144">
                    <a:solidFill>
                      <a:srgbClr val="858D97"/>
                    </a:solidFill>
                  </a:tcPr>
                </a:tc>
                <a:tc>
                  <a:txBody>
                    <a:bodyPr/>
                    <a:lstStyle/>
                    <a:p>
                      <a:pPr algn="ctr"/>
                      <a:r>
                        <a:rPr sz="1000" b="1">
                          <a:solidFill>
                            <a:srgbClr val="FFFFFF"/>
                          </a:solidFill>
                          <a:latin typeface="Calibri"/>
                        </a:rPr>
                        <a:t>$28,000</a:t>
                      </a:r>
                    </a:p>
                  </a:txBody>
                  <a:tcPr anchor="ctr" marL="45720" marR="45720" marT="9144" marB="9144">
                    <a:solidFill>
                      <a:srgbClr val="858D97"/>
                    </a:solidFill>
                  </a:tcPr>
                </a:tc>
                <a:tc>
                  <a:txBody>
                    <a:bodyPr/>
                    <a:lstStyle/>
                    <a:p>
                      <a:pPr algn="ctr"/>
                      <a:r>
                        <a:rPr sz="1000" b="1">
                          <a:solidFill>
                            <a:srgbClr val="FFFFFF"/>
                          </a:solidFill>
                          <a:latin typeface="Calibri"/>
                        </a:rPr>
                        <a:t>$32,000</a:t>
                      </a:r>
                    </a:p>
                  </a:txBody>
                  <a:tcPr anchor="ctr" marL="45720" marR="45720" marT="9144" marB="9144">
                    <a:solidFill>
                      <a:srgbClr val="858D97"/>
                    </a:solidFill>
                  </a:tcPr>
                </a:tc>
                <a:tc>
                  <a:txBody>
                    <a:bodyPr/>
                    <a:lstStyle/>
                    <a:p>
                      <a:pPr algn="ctr"/>
                      <a:r>
                        <a:rPr sz="1000" b="1">
                          <a:solidFill>
                            <a:srgbClr val="FFFFFF"/>
                          </a:solidFill>
                          <a:latin typeface="Calibri"/>
                        </a:rPr>
                        <a:t>$36,000</a:t>
                      </a:r>
                    </a:p>
                  </a:txBody>
                  <a:tcPr anchor="ctr" marL="45720" marR="45720" marT="9144" marB="9144">
                    <a:solidFill>
                      <a:srgbClr val="858D97"/>
                    </a:solidFill>
                  </a:tcPr>
                </a:tc>
                <a:tc>
                  <a:txBody>
                    <a:bodyPr/>
                    <a:lstStyle/>
                    <a:p>
                      <a:pPr algn="ctr"/>
                      <a:r>
                        <a:rPr sz="1000" b="1">
                          <a:solidFill>
                            <a:srgbClr val="FFFFFF"/>
                          </a:solidFill>
                          <a:latin typeface="Calibri"/>
                        </a:rPr>
                        <a:t>$40,000</a:t>
                      </a:r>
                    </a:p>
                  </a:txBody>
                  <a:tcPr anchor="ctr" marL="45720" marR="45720" marT="9144" marB="9144">
                    <a:solidFill>
                      <a:srgbClr val="858D97"/>
                    </a:solidFill>
                  </a:tcPr>
                </a:tc>
                <a:tc>
                  <a:txBody>
                    <a:bodyPr/>
                    <a:lstStyle/>
                    <a:p>
                      <a:pPr algn="ctr"/>
                      <a:r>
                        <a:rPr sz="1000" b="1">
                          <a:solidFill>
                            <a:srgbClr val="FFFFFF"/>
                          </a:solidFill>
                          <a:latin typeface="Calibri"/>
                        </a:rPr>
                        <a:t>$44,000</a:t>
                      </a:r>
                    </a:p>
                  </a:txBody>
                  <a:tcPr anchor="ctr" marL="45720" marR="45720" marT="9144" marB="9144">
                    <a:solidFill>
                      <a:srgbClr val="858D97"/>
                    </a:solidFill>
                  </a:tcPr>
                </a:tc>
              </a:tr>
              <a:tr h="274320">
                <a:tc>
                  <a:txBody>
                    <a:bodyPr/>
                    <a:lstStyle/>
                    <a:p>
                      <a:pPr algn="ctr"/>
                      <a:r>
                        <a:rPr sz="1000" b="1">
                          <a:solidFill>
                            <a:srgbClr val="080808"/>
                          </a:solidFill>
                          <a:latin typeface="Calibri"/>
                        </a:rPr>
                        <a:t>150</a:t>
                      </a:r>
                    </a:p>
                  </a:txBody>
                  <a:tcPr anchor="ctr" marL="45720" marR="45720" marT="9144" marB="9144">
                    <a:solidFill>
                      <a:srgbClr val="F2F2F2"/>
                    </a:solidFill>
                  </a:tcPr>
                </a:tc>
                <a:tc>
                  <a:txBody>
                    <a:bodyPr/>
                    <a:lstStyle/>
                    <a:p>
                      <a:pPr algn="ctr"/>
                      <a:r>
                        <a:rPr sz="1000" b="0">
                          <a:solidFill>
                            <a:srgbClr val="080808"/>
                          </a:solidFill>
                          <a:latin typeface="Calibri"/>
                        </a:rPr>
                        <a:t>$4.2M</a:t>
                      </a:r>
                    </a:p>
                  </a:txBody>
                  <a:tcPr anchor="ctr" marL="45720" marR="45720" marT="9144" marB="9144">
                    <a:solidFill>
                      <a:srgbClr val="F2DCDB"/>
                    </a:solidFill>
                  </a:tcPr>
                </a:tc>
                <a:tc>
                  <a:txBody>
                    <a:bodyPr/>
                    <a:lstStyle/>
                    <a:p>
                      <a:pPr algn="ctr"/>
                      <a:r>
                        <a:rPr sz="1000" b="0">
                          <a:solidFill>
                            <a:srgbClr val="080808"/>
                          </a:solidFill>
                          <a:latin typeface="Calibri"/>
                        </a:rPr>
                        <a:t>$4.8M</a:t>
                      </a:r>
                    </a:p>
                  </a:txBody>
                  <a:tcPr anchor="ctr" marL="45720" marR="45720" marT="9144" marB="9144">
                    <a:solidFill>
                      <a:srgbClr val="F2DCDB"/>
                    </a:solidFill>
                  </a:tcPr>
                </a:tc>
                <a:tc>
                  <a:txBody>
                    <a:bodyPr/>
                    <a:lstStyle/>
                    <a:p>
                      <a:pPr algn="ctr"/>
                      <a:r>
                        <a:rPr sz="1000" b="0">
                          <a:solidFill>
                            <a:srgbClr val="080808"/>
                          </a:solidFill>
                          <a:latin typeface="Calibri"/>
                        </a:rPr>
                        <a:t>$5.4M</a:t>
                      </a:r>
                    </a:p>
                  </a:txBody>
                  <a:tcPr anchor="ctr" marL="45720" marR="45720" marT="9144" marB="9144">
                    <a:solidFill>
                      <a:srgbClr val="F2F2F2"/>
                    </a:solidFill>
                  </a:tcPr>
                </a:tc>
                <a:tc>
                  <a:txBody>
                    <a:bodyPr/>
                    <a:lstStyle/>
                    <a:p>
                      <a:pPr algn="ctr"/>
                      <a:r>
                        <a:rPr sz="1000" b="0">
                          <a:solidFill>
                            <a:srgbClr val="080808"/>
                          </a:solidFill>
                          <a:latin typeface="Calibri"/>
                        </a:rPr>
                        <a:t>$6.0M</a:t>
                      </a:r>
                    </a:p>
                  </a:txBody>
                  <a:tcPr anchor="ctr" marL="45720" marR="45720" marT="9144" marB="9144">
                    <a:solidFill>
                      <a:srgbClr val="F2F2F2"/>
                    </a:solidFill>
                  </a:tcPr>
                </a:tc>
                <a:tc>
                  <a:txBody>
                    <a:bodyPr/>
                    <a:lstStyle/>
                    <a:p>
                      <a:pPr algn="ctr"/>
                      <a:r>
                        <a:rPr sz="1000" b="0">
                          <a:solidFill>
                            <a:srgbClr val="080808"/>
                          </a:solidFill>
                          <a:latin typeface="Calibri"/>
                        </a:rPr>
                        <a:t>$6.6M</a:t>
                      </a:r>
                    </a:p>
                  </a:txBody>
                  <a:tcPr anchor="ctr" marL="45720" marR="45720" marT="9144" marB="9144">
                    <a:solidFill>
                      <a:srgbClr val="F2F2F2"/>
                    </a:solidFill>
                  </a:tcPr>
                </a:tc>
              </a:tr>
              <a:tr h="274320">
                <a:tc>
                  <a:txBody>
                    <a:bodyPr/>
                    <a:lstStyle/>
                    <a:p>
                      <a:pPr algn="ctr"/>
                      <a:r>
                        <a:rPr sz="1000" b="1">
                          <a:solidFill>
                            <a:srgbClr val="080808"/>
                          </a:solidFill>
                          <a:latin typeface="Calibri"/>
                        </a:rPr>
                        <a:t>185</a:t>
                      </a:r>
                    </a:p>
                  </a:txBody>
                  <a:tcPr anchor="ctr" marL="45720" marR="45720" marT="9144" marB="9144">
                    <a:solidFill>
                      <a:srgbClr val="F2F2F2"/>
                    </a:solidFill>
                  </a:tcPr>
                </a:tc>
                <a:tc>
                  <a:txBody>
                    <a:bodyPr/>
                    <a:lstStyle/>
                    <a:p>
                      <a:pPr algn="ctr"/>
                      <a:r>
                        <a:rPr sz="1000" b="0">
                          <a:solidFill>
                            <a:srgbClr val="080808"/>
                          </a:solidFill>
                          <a:latin typeface="Calibri"/>
                        </a:rPr>
                        <a:t>$5.2M</a:t>
                      </a:r>
                    </a:p>
                  </a:txBody>
                  <a:tcPr anchor="ctr" marL="45720" marR="45720" marT="9144" marB="9144">
                    <a:solidFill>
                      <a:srgbClr val="F2F2F2"/>
                    </a:solidFill>
                  </a:tcPr>
                </a:tc>
                <a:tc>
                  <a:txBody>
                    <a:bodyPr/>
                    <a:lstStyle/>
                    <a:p>
                      <a:pPr algn="ctr"/>
                      <a:r>
                        <a:rPr sz="1000" b="0">
                          <a:solidFill>
                            <a:srgbClr val="080808"/>
                          </a:solidFill>
                          <a:latin typeface="Calibri"/>
                        </a:rPr>
                        <a:t>$5.9M</a:t>
                      </a:r>
                    </a:p>
                  </a:txBody>
                  <a:tcPr anchor="ctr" marL="45720" marR="45720" marT="9144" marB="9144">
                    <a:solidFill>
                      <a:srgbClr val="F2F2F2"/>
                    </a:solidFill>
                  </a:tcPr>
                </a:tc>
                <a:tc>
                  <a:txBody>
                    <a:bodyPr/>
                    <a:lstStyle/>
                    <a:p>
                      <a:pPr algn="ctr"/>
                      <a:r>
                        <a:rPr sz="1000" b="0">
                          <a:solidFill>
                            <a:srgbClr val="080808"/>
                          </a:solidFill>
                          <a:latin typeface="Calibri"/>
                        </a:rPr>
                        <a:t>$6.7M</a:t>
                      </a:r>
                    </a:p>
                  </a:txBody>
                  <a:tcPr anchor="ctr" marL="45720" marR="45720" marT="9144" marB="9144">
                    <a:solidFill>
                      <a:srgbClr val="F2F2F2"/>
                    </a:solidFill>
                  </a:tcPr>
                </a:tc>
                <a:tc>
                  <a:txBody>
                    <a:bodyPr/>
                    <a:lstStyle/>
                    <a:p>
                      <a:pPr algn="ctr"/>
                      <a:r>
                        <a:rPr sz="1000" b="0">
                          <a:solidFill>
                            <a:srgbClr val="080808"/>
                          </a:solidFill>
                          <a:latin typeface="Calibri"/>
                        </a:rPr>
                        <a:t>$7.4M</a:t>
                      </a:r>
                    </a:p>
                  </a:txBody>
                  <a:tcPr anchor="ctr" marL="45720" marR="45720" marT="9144" marB="9144">
                    <a:solidFill>
                      <a:srgbClr val="F2F2F2"/>
                    </a:solidFill>
                  </a:tcPr>
                </a:tc>
                <a:tc>
                  <a:txBody>
                    <a:bodyPr/>
                    <a:lstStyle/>
                    <a:p>
                      <a:pPr algn="ctr"/>
                      <a:r>
                        <a:rPr sz="1000" b="0">
                          <a:solidFill>
                            <a:srgbClr val="080808"/>
                          </a:solidFill>
                          <a:latin typeface="Calibri"/>
                        </a:rPr>
                        <a:t>$8.1M</a:t>
                      </a:r>
                    </a:p>
                  </a:txBody>
                  <a:tcPr anchor="ctr" marL="45720" marR="45720" marT="9144" marB="9144">
                    <a:solidFill>
                      <a:srgbClr val="F2F2F2"/>
                    </a:solidFill>
                  </a:tcPr>
                </a:tc>
              </a:tr>
              <a:tr h="274320">
                <a:tc>
                  <a:txBody>
                    <a:bodyPr/>
                    <a:lstStyle/>
                    <a:p>
                      <a:pPr algn="ctr"/>
                      <a:r>
                        <a:rPr sz="1000" b="1">
                          <a:solidFill>
                            <a:srgbClr val="080808"/>
                          </a:solidFill>
                          <a:latin typeface="Calibri"/>
                        </a:rPr>
                        <a:t>220</a:t>
                      </a:r>
                    </a:p>
                  </a:txBody>
                  <a:tcPr anchor="ctr" marL="45720" marR="45720" marT="9144" marB="9144">
                    <a:solidFill>
                      <a:srgbClr val="F2F2F2"/>
                    </a:solidFill>
                  </a:tcPr>
                </a:tc>
                <a:tc>
                  <a:txBody>
                    <a:bodyPr/>
                    <a:lstStyle/>
                    <a:p>
                      <a:pPr algn="ctr"/>
                      <a:r>
                        <a:rPr sz="1000" b="0">
                          <a:solidFill>
                            <a:srgbClr val="080808"/>
                          </a:solidFill>
                          <a:latin typeface="Calibri"/>
                        </a:rPr>
                        <a:t>$6.2M</a:t>
                      </a:r>
                    </a:p>
                  </a:txBody>
                  <a:tcPr anchor="ctr" marL="45720" marR="45720" marT="9144" marB="9144">
                    <a:solidFill>
                      <a:srgbClr val="F2F2F2"/>
                    </a:solidFill>
                  </a:tcPr>
                </a:tc>
                <a:tc>
                  <a:txBody>
                    <a:bodyPr/>
                    <a:lstStyle/>
                    <a:p>
                      <a:pPr algn="ctr"/>
                      <a:r>
                        <a:rPr sz="1000" b="0">
                          <a:solidFill>
                            <a:srgbClr val="080808"/>
                          </a:solidFill>
                          <a:latin typeface="Calibri"/>
                        </a:rPr>
                        <a:t>$7.0M</a:t>
                      </a:r>
                    </a:p>
                  </a:txBody>
                  <a:tcPr anchor="ctr" marL="45720" marR="45720" marT="9144" marB="9144">
                    <a:solidFill>
                      <a:srgbClr val="F2F2F2"/>
                    </a:solidFill>
                  </a:tcPr>
                </a:tc>
                <a:tc>
                  <a:txBody>
                    <a:bodyPr/>
                    <a:lstStyle/>
                    <a:p>
                      <a:pPr algn="ctr"/>
                      <a:r>
                        <a:rPr sz="1000" b="0">
                          <a:solidFill>
                            <a:srgbClr val="080808"/>
                          </a:solidFill>
                          <a:latin typeface="Calibri"/>
                        </a:rPr>
                        <a:t>$7.9M</a:t>
                      </a:r>
                    </a:p>
                  </a:txBody>
                  <a:tcPr anchor="ctr" marL="45720" marR="45720" marT="9144" marB="9144">
                    <a:solidFill>
                      <a:srgbClr val="F2F2F2"/>
                    </a:solidFill>
                  </a:tcPr>
                </a:tc>
                <a:tc>
                  <a:txBody>
                    <a:bodyPr/>
                    <a:lstStyle/>
                    <a:p>
                      <a:pPr algn="ctr"/>
                      <a:r>
                        <a:rPr sz="1000" b="0">
                          <a:solidFill>
                            <a:srgbClr val="080808"/>
                          </a:solidFill>
                          <a:latin typeface="Calibri"/>
                        </a:rPr>
                        <a:t>$8.8M</a:t>
                      </a:r>
                    </a:p>
                  </a:txBody>
                  <a:tcPr anchor="ctr" marL="45720" marR="45720" marT="9144" marB="9144">
                    <a:solidFill>
                      <a:srgbClr val="F2F2F2"/>
                    </a:solidFill>
                  </a:tcPr>
                </a:tc>
                <a:tc>
                  <a:txBody>
                    <a:bodyPr/>
                    <a:lstStyle/>
                    <a:p>
                      <a:pPr algn="ctr"/>
                      <a:r>
                        <a:rPr sz="1000" b="0">
                          <a:solidFill>
                            <a:srgbClr val="080808"/>
                          </a:solidFill>
                          <a:latin typeface="Calibri"/>
                        </a:rPr>
                        <a:t>$9.7M</a:t>
                      </a:r>
                    </a:p>
                  </a:txBody>
                  <a:tcPr anchor="ctr" marL="45720" marR="45720" marT="9144" marB="9144">
                    <a:solidFill>
                      <a:srgbClr val="E2EFDA"/>
                    </a:solidFill>
                  </a:tcPr>
                </a:tc>
              </a:tr>
              <a:tr h="274320">
                <a:tc>
                  <a:txBody>
                    <a:bodyPr/>
                    <a:lstStyle/>
                    <a:p>
                      <a:pPr algn="ctr"/>
                      <a:r>
                        <a:rPr sz="1000" b="1">
                          <a:solidFill>
                            <a:srgbClr val="080808"/>
                          </a:solidFill>
                          <a:latin typeface="Calibri"/>
                        </a:rPr>
                        <a:t>255</a:t>
                      </a:r>
                    </a:p>
                  </a:txBody>
                  <a:tcPr anchor="ctr" marL="45720" marR="45720" marT="9144" marB="9144">
                    <a:solidFill>
                      <a:srgbClr val="F2F2F2"/>
                    </a:solidFill>
                  </a:tcPr>
                </a:tc>
                <a:tc>
                  <a:txBody>
                    <a:bodyPr/>
                    <a:lstStyle/>
                    <a:p>
                      <a:pPr algn="ctr"/>
                      <a:r>
                        <a:rPr sz="1000" b="0">
                          <a:solidFill>
                            <a:srgbClr val="080808"/>
                          </a:solidFill>
                          <a:latin typeface="Calibri"/>
                        </a:rPr>
                        <a:t>$7.1M</a:t>
                      </a:r>
                    </a:p>
                  </a:txBody>
                  <a:tcPr anchor="ctr" marL="45720" marR="45720" marT="9144" marB="9144">
                    <a:solidFill>
                      <a:srgbClr val="F2F2F2"/>
                    </a:solidFill>
                  </a:tcPr>
                </a:tc>
                <a:tc>
                  <a:txBody>
                    <a:bodyPr/>
                    <a:lstStyle/>
                    <a:p>
                      <a:pPr algn="ctr"/>
                      <a:r>
                        <a:rPr sz="1000" b="0">
                          <a:solidFill>
                            <a:srgbClr val="080808"/>
                          </a:solidFill>
                          <a:latin typeface="Calibri"/>
                        </a:rPr>
                        <a:t>$8.2M</a:t>
                      </a:r>
                    </a:p>
                  </a:txBody>
                  <a:tcPr anchor="ctr" marL="45720" marR="45720" marT="9144" marB="9144">
                    <a:solidFill>
                      <a:srgbClr val="F2F2F2"/>
                    </a:solidFill>
                  </a:tcPr>
                </a:tc>
                <a:tc>
                  <a:txBody>
                    <a:bodyPr/>
                    <a:lstStyle/>
                    <a:p>
                      <a:pPr algn="ctr"/>
                      <a:r>
                        <a:rPr sz="1000" b="0">
                          <a:solidFill>
                            <a:srgbClr val="080808"/>
                          </a:solidFill>
                          <a:latin typeface="Calibri"/>
                        </a:rPr>
                        <a:t>$9.2M</a:t>
                      </a:r>
                    </a:p>
                  </a:txBody>
                  <a:tcPr anchor="ctr" marL="45720" marR="45720" marT="9144" marB="9144">
                    <a:solidFill>
                      <a:srgbClr val="E2EFDA"/>
                    </a:solidFill>
                  </a:tcPr>
                </a:tc>
                <a:tc>
                  <a:txBody>
                    <a:bodyPr/>
                    <a:lstStyle/>
                    <a:p>
                      <a:pPr algn="ctr"/>
                      <a:r>
                        <a:rPr sz="1000" b="0">
                          <a:solidFill>
                            <a:srgbClr val="080808"/>
                          </a:solidFill>
                          <a:latin typeface="Calibri"/>
                        </a:rPr>
                        <a:t>$10.2M</a:t>
                      </a:r>
                    </a:p>
                  </a:txBody>
                  <a:tcPr anchor="ctr" marL="45720" marR="45720" marT="9144" marB="9144">
                    <a:solidFill>
                      <a:srgbClr val="E2EFDA"/>
                    </a:solidFill>
                  </a:tcPr>
                </a:tc>
                <a:tc>
                  <a:txBody>
                    <a:bodyPr/>
                    <a:lstStyle/>
                    <a:p>
                      <a:pPr algn="ctr"/>
                      <a:r>
                        <a:rPr sz="1000" b="0">
                          <a:solidFill>
                            <a:srgbClr val="080808"/>
                          </a:solidFill>
                          <a:latin typeface="Calibri"/>
                        </a:rPr>
                        <a:t>$11.2M</a:t>
                      </a:r>
                    </a:p>
                  </a:txBody>
                  <a:tcPr anchor="ctr" marL="45720" marR="45720" marT="9144" marB="9144">
                    <a:solidFill>
                      <a:srgbClr val="E2EFDA"/>
                    </a:solidFill>
                  </a:tcPr>
                </a:tc>
              </a:tr>
              <a:tr h="274320">
                <a:tc>
                  <a:txBody>
                    <a:bodyPr/>
                    <a:lstStyle/>
                    <a:p>
                      <a:pPr algn="ctr"/>
                      <a:r>
                        <a:rPr sz="1000" b="1">
                          <a:solidFill>
                            <a:srgbClr val="080808"/>
                          </a:solidFill>
                          <a:latin typeface="Calibri"/>
                        </a:rPr>
                        <a:t>290</a:t>
                      </a:r>
                    </a:p>
                  </a:txBody>
                  <a:tcPr anchor="ctr" marL="45720" marR="45720" marT="9144" marB="9144">
                    <a:solidFill>
                      <a:srgbClr val="F2F2F2"/>
                    </a:solidFill>
                  </a:tcPr>
                </a:tc>
                <a:tc>
                  <a:txBody>
                    <a:bodyPr/>
                    <a:lstStyle/>
                    <a:p>
                      <a:pPr algn="ctr"/>
                      <a:r>
                        <a:rPr sz="1000" b="0">
                          <a:solidFill>
                            <a:srgbClr val="080808"/>
                          </a:solidFill>
                          <a:latin typeface="Calibri"/>
                        </a:rPr>
                        <a:t>$8.1M</a:t>
                      </a:r>
                    </a:p>
                  </a:txBody>
                  <a:tcPr anchor="ctr" marL="45720" marR="45720" marT="9144" marB="9144">
                    <a:solidFill>
                      <a:srgbClr val="F2F2F2"/>
                    </a:solidFill>
                  </a:tcPr>
                </a:tc>
                <a:tc>
                  <a:txBody>
                    <a:bodyPr/>
                    <a:lstStyle/>
                    <a:p>
                      <a:pPr algn="ctr"/>
                      <a:r>
                        <a:rPr sz="1000" b="0">
                          <a:solidFill>
                            <a:srgbClr val="080808"/>
                          </a:solidFill>
                          <a:latin typeface="Calibri"/>
                        </a:rPr>
                        <a:t>$9.3M</a:t>
                      </a:r>
                    </a:p>
                  </a:txBody>
                  <a:tcPr anchor="ctr" marL="45720" marR="45720" marT="9144" marB="9144">
                    <a:solidFill>
                      <a:srgbClr val="E2EFDA"/>
                    </a:solidFill>
                  </a:tcPr>
                </a:tc>
                <a:tc>
                  <a:txBody>
                    <a:bodyPr/>
                    <a:lstStyle/>
                    <a:p>
                      <a:pPr algn="ctr"/>
                      <a:r>
                        <a:rPr sz="1000" b="0">
                          <a:solidFill>
                            <a:srgbClr val="080808"/>
                          </a:solidFill>
                          <a:latin typeface="Calibri"/>
                        </a:rPr>
                        <a:t>$10.4M</a:t>
                      </a:r>
                    </a:p>
                  </a:txBody>
                  <a:tcPr anchor="ctr" marL="45720" marR="45720" marT="9144" marB="9144">
                    <a:solidFill>
                      <a:srgbClr val="E2EFDA"/>
                    </a:solidFill>
                  </a:tcPr>
                </a:tc>
                <a:tc>
                  <a:txBody>
                    <a:bodyPr/>
                    <a:lstStyle/>
                    <a:p>
                      <a:pPr algn="ctr"/>
                      <a:r>
                        <a:rPr sz="1000" b="0">
                          <a:solidFill>
                            <a:srgbClr val="080808"/>
                          </a:solidFill>
                          <a:latin typeface="Calibri"/>
                        </a:rPr>
                        <a:t>$11.6M</a:t>
                      </a:r>
                    </a:p>
                  </a:txBody>
                  <a:tcPr anchor="ctr" marL="45720" marR="45720" marT="9144" marB="9144">
                    <a:solidFill>
                      <a:srgbClr val="E2EFDA"/>
                    </a:solidFill>
                  </a:tcPr>
                </a:tc>
                <a:tc>
                  <a:txBody>
                    <a:bodyPr/>
                    <a:lstStyle/>
                    <a:p>
                      <a:pPr algn="ctr"/>
                      <a:r>
                        <a:rPr sz="1000" b="0">
                          <a:solidFill>
                            <a:srgbClr val="080808"/>
                          </a:solidFill>
                          <a:latin typeface="Calibri"/>
                        </a:rPr>
                        <a:t>$12.8M</a:t>
                      </a:r>
                    </a:p>
                  </a:txBody>
                  <a:tcPr anchor="ctr" marL="45720" marR="45720" marT="9144" marB="9144">
                    <a:solidFill>
                      <a:srgbClr val="E2EFDA"/>
                    </a:solidFill>
                  </a:tcPr>
                </a:tc>
              </a:tr>
            </a:tbl>
          </a:graphicData>
        </a:graphic>
      </p:graphicFrame>
      <p:sp>
        <p:nvSpPr>
          <p:cNvPr id="12" name="TextBox 11"/>
          <p:cNvSpPr txBox="1"/>
          <p:nvPr/>
        </p:nvSpPr>
        <p:spPr>
          <a:xfrm>
            <a:off x="160020" y="3456432"/>
            <a:ext cx="8823960" cy="274320"/>
          </a:xfrm>
          <a:prstGeom prst="rect">
            <a:avLst/>
          </a:prstGeom>
          <a:solidFill>
            <a:srgbClr val="0E2E51"/>
          </a:solidFill>
        </p:spPr>
        <p:txBody>
          <a:bodyPr wrap="none" lIns="64008" anchor="ctr">
            <a:noAutofit/>
          </a:bodyPr>
          <a:lstStyle/>
          <a:p>
            <a:r>
              <a:rPr sz="1000" b="1">
                <a:solidFill>
                  <a:srgbClr val="FFFFFF"/>
                </a:solidFill>
                <a:latin typeface="Calibri"/>
              </a:rPr>
              <a:t>Year 5 ending ARR: customer count versus blended ACV</a:t>
            </a:r>
          </a:p>
        </p:txBody>
      </p:sp>
      <p:sp>
        <p:nvSpPr>
          <p:cNvPr id="13" name="TextBox 12"/>
          <p:cNvSpPr txBox="1"/>
          <p:nvPr/>
        </p:nvSpPr>
        <p:spPr>
          <a:xfrm>
            <a:off x="160020" y="5577840"/>
            <a:ext cx="8823960" cy="219456"/>
          </a:xfrm>
          <a:prstGeom prst="rect">
            <a:avLst/>
          </a:prstGeom>
          <a:noFill/>
        </p:spPr>
        <p:txBody>
          <a:bodyPr wrap="square">
            <a:spAutoFit/>
          </a:bodyPr>
          <a:lstStyle/>
          <a:p>
            <a:r>
              <a:rPr sz="700" i="1">
                <a:solidFill>
                  <a:srgbClr val="9AA0A8"/>
                </a:solidFill>
                <a:latin typeface="Calibri"/>
              </a:rPr>
              <a:t>Note: the Year 5 ARR grid is an independent cross-check on the financial build, which arrives at $10.2M by a different route. Reaching $12M by Year 5 requires either 290 customers, which is 12% of the entire addressable universe, or a $44,000 ACV, which implies selling a full asset performance product rather than capex data alone. Base case cells are outlined in the accompanying workbook.</a:t>
            </a:r>
          </a:p>
        </p:txBody>
      </p:sp>
    </p:spTree>
    <p:extLst>
      <p:ext uri="{BB962C8B-B14F-4D97-AF65-F5344CB8AC3E}">
        <p14:creationId xmlns:p14="http://schemas.microsoft.com/office/powerpoint/2010/main" val="340124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9A13-2B42-BEB7-4AD2-E66793389E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BD7D85-4D15-7473-D50F-996A98D8A114}"/>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26</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itle 2">
            <a:extLst>
              <a:ext uri="{FF2B5EF4-FFF2-40B4-BE49-F238E27FC236}">
                <a16:creationId xmlns:a16="http://schemas.microsoft.com/office/drawing/2014/main" id="{35745E89-2DDF-54A5-E1B6-77F88FAFBCCA}"/>
              </a:ext>
            </a:extLst>
          </p:cNvPr>
          <p:cNvSpPr>
            <a:spLocks noGrp="1"/>
          </p:cNvSpPr>
          <p:nvPr>
            <p:ph type="title"/>
          </p:nvPr>
        </p:nvSpPr>
        <p:spPr/>
        <p:txBody>
          <a:bodyPr/>
          <a:lstStyle/>
          <a:p>
            <a:r>
              <a:rPr lang="en-US" dirty="0"/>
              <a:t>Five-year financial build</a:t>
            </a:r>
          </a:p>
        </p:txBody>
      </p:sp>
      <p:sp>
        <p:nvSpPr>
          <p:cNvPr id="4" name="TAKEAWAY">
            <a:extLst>
              <a:ext uri="{FF2B5EF4-FFF2-40B4-BE49-F238E27FC236}">
                <a16:creationId xmlns:a16="http://schemas.microsoft.com/office/drawing/2014/main" id="{163BA451-7717-46AD-BB00-11D04ACA35A8}"/>
              </a:ext>
            </a:extLst>
          </p:cNvPr>
          <p:cNvSpPr txBox="1">
            <a:spLocks/>
          </p:cNvSpPr>
          <p:nvPr/>
        </p:nvSpPr>
        <p:spPr>
          <a:xfrm>
            <a:off x="160020" y="603504"/>
            <a:ext cx="8823960" cy="566928"/>
          </a:xfrm>
          <a:prstGeom prst="rect">
            <a:avLst/>
          </a:prstGeom>
          <a:ln w="9525">
            <a:solidFill>
              <a:schemeClr val="bg1">
                <a:lumMod val="75000"/>
              </a:schemeClr>
            </a:solidFill>
          </a:ln>
        </p:spPr>
        <p:txBody>
          <a:bodyPr lIns="91440"/>
          <a:lstStyle>
            <a:defPPr>
              <a:defRPr lang="en-US"/>
            </a:defPPr>
            <a:lvl1pPr marL="171450" indent="-171450" algn="l" defTabSz="914290" rtl="0" eaLnBrk="1" latinLnBrk="0" hangingPunct="1">
              <a:lnSpc>
                <a:spcPct val="100000"/>
              </a:lnSpc>
              <a:spcBef>
                <a:spcPts val="0"/>
              </a:spcBef>
              <a:spcAft>
                <a:spcPts val="1200"/>
              </a:spcAft>
              <a:buClr>
                <a:srgbClr val="808080"/>
              </a:buClr>
              <a:buSzPct val="100000"/>
              <a:buFont typeface="Wingdings" panose="05000000000000000000" pitchFamily="2" charset="2"/>
              <a:buChar char="§"/>
              <a:defRPr sz="1800" kern="0" spc="0" baseline="0">
                <a:solidFill>
                  <a:srgbClr val="C0C0C0"/>
                </a:solidFill>
                <a:latin typeface="Calibri" panose="020F0502020204030204" pitchFamily="34" charset="0"/>
                <a:ea typeface="+mn-ea"/>
                <a:cs typeface="+mn-cs"/>
              </a:defRPr>
            </a:lvl1pPr>
            <a:lvl2pPr marL="4000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2pPr>
            <a:lvl3pPr marL="5715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3pPr>
            <a:lvl4pPr marL="74295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4pPr>
            <a:lvl5pPr marL="914400" indent="-171450" algn="l" defTabSz="914290" rtl="0" eaLnBrk="1" latinLnBrk="0" hangingPunct="1">
              <a:lnSpc>
                <a:spcPct val="100000"/>
              </a:lnSpc>
              <a:spcBef>
                <a:spcPts val="0"/>
              </a:spcBef>
              <a:spcAft>
                <a:spcPts val="1200"/>
              </a:spcAft>
              <a:buClr>
                <a:srgbClr val="808080"/>
              </a:buClr>
              <a:buFont typeface="Arial" pitchFamily="34" charset="0"/>
              <a:buChar char="•"/>
              <a:defRPr sz="1800" kern="0" spc="0" baseline="0">
                <a:solidFill>
                  <a:srgbClr val="C0C0C0"/>
                </a:solidFill>
                <a:latin typeface="Calibri" panose="020F0502020204030204" pitchFamily="34" charset="0"/>
                <a:ea typeface="+mn-ea"/>
                <a:cs typeface="+mn-cs"/>
              </a:defRPr>
            </a:lvl5pPr>
            <a:lvl6pPr marL="2514298"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43"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89"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734" indent="-228573" algn="l" defTabSz="91429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300"/>
              </a:spcBef>
              <a:spcAft>
                <a:spcPts val="300"/>
              </a:spcAft>
              <a:buFont typeface="Arial" panose="020B0604020202020204" pitchFamily="34" charset="0"/>
              <a:buChar char="•"/>
            </a:pPr>
            <a:r>
              <a:rPr lang="en-US" sz="1000" dirty="0" b="0" u="none">
                <a:solidFill>
                  <a:srgbClr val="080808"/>
                </a:solidFill>
                <a:latin typeface="Calibri"/>
              </a:rPr>
              <a:t>The base plan reaches $10.2M of ending ARR in Year 5 on 218 customers, and consumes $16.8M of equity to get there without yet reaching profitability. That is the central tension: the unit economics work, but the market is not deep enough to outgrow the cost base inside five years.</a:t>
            </a:r>
          </a:p>
        </p:txBody>
      </p:sp>
      <p:sp>
        <p:nvSpPr>
          <p:cNvPr id="9" name="Rectangle 8">
            <a:extLst>
              <a:ext uri="{FF2B5EF4-FFF2-40B4-BE49-F238E27FC236}">
                <a16:creationId xmlns:a16="http://schemas.microsoft.com/office/drawing/2014/main" id="{C9E7D6FF-8B30-2BF1-F0BB-F2ACC6447940}"/>
              </a:ext>
            </a:extLst>
          </p:cNvPr>
          <p:cNvSpPr/>
          <p:nvPr/>
        </p:nvSpPr>
        <p:spPr>
          <a:xfrm>
            <a:off x="160020" y="1225296"/>
            <a:ext cx="8823960" cy="274320"/>
          </a:xfrm>
          <a:prstGeom prst="rect">
            <a:avLst/>
          </a:prstGeom>
          <a:solidFill>
            <a:srgbClr val="0E2E5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64008" rIns="45720" rtlCol="0" anchor="ctr"/>
          <a:lstStyle/>
          <a:p>
            <a:pPr algn="l"/>
            <a:r>
              <a:rPr lang="en-US" sz="1000" b="1" kern="0" dirty="0" u="none">
                <a:solidFill>
                  <a:srgbClr val="FFFFFF"/>
                </a:solidFill>
                <a:latin typeface="Calibri"/>
              </a:rPr>
              <a:t>Base case, driven by the assumptions tab of the accompanying workbook</a:t>
            </a:r>
            <a:endParaRPr lang="en-US" sz="900" b="1" kern="0" dirty="0">
              <a:solidFill>
                <a:srgbClr val="FF0000"/>
              </a:solidFill>
            </a:endParaRPr>
          </a:p>
        </p:txBody>
      </p:sp>
      <p:graphicFrame>
        <p:nvGraphicFramePr>
          <p:cNvPr id="10" name="Table 9">
            <a:extLst>
              <a:ext uri="{FF2B5EF4-FFF2-40B4-BE49-F238E27FC236}">
                <a16:creationId xmlns:a16="http://schemas.microsoft.com/office/drawing/2014/main" id="{1B237A7A-DE7F-C779-E098-FB2FBA99ABDE}"/>
              </a:ext>
            </a:extLst>
          </p:cNvPr>
          <p:cNvGraphicFramePr>
            <a:graphicFrameLocks noGrp="1"/>
          </p:cNvGraphicFramePr>
          <p:nvPr>
            <p:extLst>
              <p:ext uri="{D42A27DB-BD31-4B8C-83A1-F6EECF244321}">
                <p14:modId xmlns:p14="http://schemas.microsoft.com/office/powerpoint/2010/main" val="2039852589"/>
              </p:ext>
            </p:extLst>
          </p:nvPr>
        </p:nvGraphicFramePr>
        <p:xfrm>
          <a:off x="160020" y="1517904"/>
          <a:ext cx="8823960" cy="3909059"/>
        </p:xfrm>
        <a:graphic>
          <a:graphicData uri="http://schemas.openxmlformats.org/drawingml/2006/table">
            <a:tbl>
              <a:tblPr/>
              <a:tblGrid>
                <a:gridCol w="2788920">
                  <a:extLst>
                    <a:ext uri="{9D8B030D-6E8A-4147-A177-3AD203B41FA5}">
                      <a16:colId xmlns:a16="http://schemas.microsoft.com/office/drawing/2014/main" val="2045504679"/>
                    </a:ext>
                  </a:extLst>
                </a:gridCol>
                <a:gridCol w="1207008">
                  <a:extLst>
                    <a:ext uri="{9D8B030D-6E8A-4147-A177-3AD203B41FA5}">
                      <a16:colId xmlns:a16="http://schemas.microsoft.com/office/drawing/2014/main" val="1500048310"/>
                    </a:ext>
                  </a:extLst>
                </a:gridCol>
                <a:gridCol w="1207008">
                  <a:extLst>
                    <a:ext uri="{9D8B030D-6E8A-4147-A177-3AD203B41FA5}">
                      <a16:colId xmlns:a16="http://schemas.microsoft.com/office/drawing/2014/main" val="1123483130"/>
                    </a:ext>
                  </a:extLst>
                </a:gridCol>
                <a:gridCol w="1207008">
                  <a:extLst>
                    <a:ext uri="{9D8B030D-6E8A-4147-A177-3AD203B41FA5}">
                      <a16:colId xmlns:a16="http://schemas.microsoft.com/office/drawing/2014/main" val="3331087705"/>
                    </a:ext>
                  </a:extLst>
                </a:gridCol>
                <a:gridCol w="1207008">
                  <a:extLst>
                    <a:ext uri="{9D8B030D-6E8A-4147-A177-3AD203B41FA5}">
                      <a16:colId xmlns:a16="http://schemas.microsoft.com/office/drawing/2014/main" val="2191868649"/>
                    </a:ext>
                  </a:extLst>
                </a:gridCol>
                <a:gridCol w="1207008">
                  <a:extLst>
                    <a:ext uri="{9D8B030D-6E8A-4147-A177-3AD203B41FA5}">
                      <a16:colId xmlns:a16="http://schemas.microsoft.com/office/drawing/2014/main" val="2433905927"/>
                    </a:ext>
                  </a:extLst>
                </a:gridCol>
              </a:tblGrid>
              <a:tr h="260603">
                <a:tc>
                  <a:txBody>
                    <a:bodyPr/>
                    <a:lstStyle/>
                    <a:p>
                      <a:pPr algn="l">
                        <a:buNone/>
                      </a:pPr>
                      <a:r>
                        <a:rPr sz="900" b="1">
                          <a:solidFill>
                            <a:srgbClr val="FFFFFF"/>
                          </a:solidFill>
                          <a:latin typeface="Calibri"/>
                        </a:rPr>
                        <a:t>($ in thousands unless noted)</a:t>
                      </a:r>
                      <a:endParaRPr lang="en-US" sz="800" b="1" dirty="0">
                        <a:effectLst/>
                      </a:endParaRP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Year 1</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Year 2</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Year 3</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Year 4</a:t>
                      </a:r>
                    </a:p>
                  </a:txBody>
                  <a:tcPr marL="45720" marR="45720" marT="9144" marB="9144" anchor="ctr">
                    <a:lnL>
                      <a:noFill/>
                    </a:lnL>
                    <a:lnR>
                      <a:noFill/>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tc>
                  <a:txBody>
                    <a:bodyPr/>
                    <a:lstStyle/>
                    <a:p>
                      <a:pPr algn="ctr">
                        <a:buNone/>
                      </a:pPr>
                      <a:r>
                        <a:rPr lang="en-US" sz="900" b="1" dirty="0" u="none">
                          <a:solidFill>
                            <a:srgbClr val="FFFFFF"/>
                          </a:solidFill>
                          <a:effectLst/>
                          <a:latin typeface="Calibri"/>
                        </a:rPr>
                        <a:t>Year 5</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solidFill>
                      <a:srgbClr val="858D97"/>
                    </a:solidFill>
                  </a:tcPr>
                </a:tc>
                <a:extLst>
                  <a:ext uri="{0D108BD9-81ED-4DB2-BD59-A6C34878D82A}">
                    <a16:rowId xmlns:a16="http://schemas.microsoft.com/office/drawing/2014/main" val="716169627"/>
                  </a:ext>
                </a:extLst>
              </a:tr>
              <a:tr h="260603">
                <a:tc>
                  <a:txBody>
                    <a:bodyPr/>
                    <a:lstStyle/>
                    <a:p>
                      <a:pPr algn="l">
                        <a:buNone/>
                      </a:pPr>
                      <a:r>
                        <a:rPr lang="en-US" sz="900" b="0" dirty="0" u="none">
                          <a:solidFill>
                            <a:srgbClr val="080808"/>
                          </a:solidFill>
                          <a:effectLst/>
                          <a:latin typeface="Calibri"/>
                        </a:rPr>
                        <a:t>New logos added (#)</a:t>
                      </a:r>
                    </a:p>
                  </a:txBody>
                  <a:tcPr marL="45720" marR="45720" marT="9144" marB="9144" anchor="ctr">
                    <a:lnL w="6350" cap="flat" cmpd="sng" algn="ctr">
                      <a:solidFill>
                        <a:srgbClr val="A0ABB4"/>
                      </a:solidFill>
                      <a:prstDash val="solid"/>
                      <a:round/>
                      <a:headEnd type="none" w="med" len="med"/>
                      <a:tailEnd type="none" w="med" len="med"/>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noFill/>
                  </a:tcPr>
                </a:tc>
                <a:tc>
                  <a:txBody>
                    <a:bodyPr/>
                    <a:lstStyle/>
                    <a:p>
                      <a:pPr algn="ctr">
                        <a:buNone/>
                      </a:pPr>
                      <a:r>
                        <a:rPr sz="900" b="0">
                          <a:solidFill>
                            <a:srgbClr val="080808"/>
                          </a:solidFill>
                          <a:latin typeface="Calibri"/>
                        </a:rPr>
                        <a:t>8</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28</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48</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70</a:t>
                      </a:r>
                      <a:endParaRPr lang="en-US" sz="800" dirty="0">
                        <a:effectLst/>
                      </a:endParaRPr>
                    </a:p>
                  </a:txBody>
                  <a:tcPr marL="45720" marR="45720" marT="9144" marB="9144" anchor="ctr">
                    <a:lnL>
                      <a:noFill/>
                    </a:lnL>
                    <a:lnR>
                      <a:noFill/>
                    </a:lnR>
                    <a:lnT>
                      <a:noFill/>
                    </a:lnT>
                    <a:lnB>
                      <a:noFill/>
                    </a:lnB>
                    <a:noFill/>
                  </a:tcPr>
                </a:tc>
                <a:tc>
                  <a:txBody>
                    <a:bodyPr/>
                    <a:lstStyle/>
                    <a:p>
                      <a:pPr algn="ctr">
                        <a:buNone/>
                      </a:pPr>
                      <a:r>
                        <a:rPr sz="900" b="0">
                          <a:solidFill>
                            <a:srgbClr val="080808"/>
                          </a:solidFill>
                          <a:latin typeface="Calibri"/>
                        </a:rPr>
                        <a:t>95</a:t>
                      </a:r>
                      <a:endParaRPr lang="en-US" sz="800" dirty="0">
                        <a:effectLst/>
                      </a:endParaRPr>
                    </a:p>
                  </a:txBody>
                  <a:tcPr marL="45720" marR="45720" marT="9144" marB="9144" anchor="ctr">
                    <a:lnL>
                      <a:noFill/>
                    </a:lnL>
                    <a:lnR>
                      <a:noFill/>
                    </a:lnR>
                    <a:lnT>
                      <a:noFill/>
                    </a:lnT>
                    <a:lnB>
                      <a:noFill/>
                    </a:lnB>
                    <a:noFill/>
                  </a:tcPr>
                </a:tc>
                <a:extLst>
                  <a:ext uri="{0D108BD9-81ED-4DB2-BD59-A6C34878D82A}">
                    <a16:rowId xmlns:a16="http://schemas.microsoft.com/office/drawing/2014/main" val="1281518369"/>
                  </a:ext>
                </a:extLst>
              </a:tr>
              <a:tr h="260603">
                <a:tc>
                  <a:txBody>
                    <a:bodyPr/>
                    <a:lstStyle/>
                    <a:p>
                      <a:pPr algn="l">
                        <a:buNone/>
                      </a:pPr>
                      <a:r>
                        <a:rPr lang="en-US" sz="900" b="0" dirty="0" u="none">
                          <a:solidFill>
                            <a:srgbClr val="080808"/>
                          </a:solidFill>
                          <a:effectLst/>
                          <a:latin typeface="Calibri"/>
                        </a:rPr>
                        <a:t>Ending customers (#)</a:t>
                      </a: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8</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35</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79</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139</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0" u="none">
                          <a:solidFill>
                            <a:srgbClr val="080808"/>
                          </a:solidFill>
                          <a:effectLst/>
                          <a:latin typeface="Calibri"/>
                        </a:rPr>
                        <a:t>218</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a:noFill/>
                    </a:lnB>
                    <a:solidFill>
                      <a:srgbClr val="ECEEF0"/>
                    </a:solidFill>
                  </a:tcPr>
                </a:tc>
                <a:extLst>
                  <a:ext uri="{0D108BD9-81ED-4DB2-BD59-A6C34878D82A}">
                    <a16:rowId xmlns:a16="http://schemas.microsoft.com/office/drawing/2014/main" val="138252583"/>
                  </a:ext>
                </a:extLst>
              </a:tr>
              <a:tr h="260603">
                <a:tc>
                  <a:txBody>
                    <a:bodyPr/>
                    <a:lstStyle/>
                    <a:p>
                      <a:pPr algn="l">
                        <a:buNone/>
                      </a:pPr>
                      <a:r>
                        <a:rPr lang="en-US" sz="900" b="0" dirty="0" u="none">
                          <a:solidFill>
                            <a:srgbClr val="080808"/>
                          </a:solidFill>
                          <a:effectLst/>
                          <a:latin typeface="Calibri"/>
                        </a:rPr>
                        <a:t>New-logo ACV ($)</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$32,000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$33,280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$34,611</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$35,996</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$37,435</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4022646303"/>
                  </a:ext>
                </a:extLst>
              </a:tr>
              <a:tr h="260603">
                <a:tc>
                  <a:txBody>
                    <a:bodyPr/>
                    <a:lstStyle/>
                    <a:p>
                      <a:pPr algn="l">
                        <a:buNone/>
                      </a:pPr>
                      <a:r>
                        <a:rPr lang="en-US" sz="900" b="1" dirty="0" u="none">
                          <a:solidFill>
                            <a:srgbClr val="080808"/>
                          </a:solidFill>
                          <a:effectLst/>
                          <a:latin typeface="Calibri"/>
                        </a:rPr>
                        <a:t>Ending ARR</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1" u="none">
                          <a:solidFill>
                            <a:srgbClr val="080808"/>
                          </a:solidFill>
                          <a:effectLst/>
                          <a:latin typeface="Calibri"/>
                        </a:rPr>
                        <a:t>$256</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1" u="none">
                          <a:solidFill>
                            <a:srgbClr val="080808"/>
                          </a:solidFill>
                          <a:effectLst/>
                          <a:latin typeface="Calibri"/>
                        </a:rPr>
                        <a:t>$1,219</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1" u="none">
                          <a:solidFill>
                            <a:srgbClr val="080808"/>
                          </a:solidFill>
                          <a:effectLst/>
                          <a:latin typeface="Calibri"/>
                        </a:rPr>
                        <a:t>$3,026</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1" u="none">
                          <a:solidFill>
                            <a:srgbClr val="080808"/>
                          </a:solidFill>
                          <a:effectLst/>
                          <a:latin typeface="Calibri"/>
                        </a:rPr>
                        <a:t>$5,909</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1" u="none">
                          <a:solidFill>
                            <a:srgbClr val="080808"/>
                          </a:solidFill>
                          <a:effectLst/>
                          <a:latin typeface="Calibri"/>
                        </a:rPr>
                        <a:t>$10,174</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ECEEF0"/>
                    </a:solidFill>
                  </a:tcPr>
                </a:tc>
                <a:extLst>
                  <a:ext uri="{0D108BD9-81ED-4DB2-BD59-A6C34878D82A}">
                    <a16:rowId xmlns:a16="http://schemas.microsoft.com/office/drawing/2014/main" val="3292835242"/>
                  </a:ext>
                </a:extLst>
              </a:tr>
              <a:tr h="260603">
                <a:tc>
                  <a:txBody>
                    <a:bodyPr/>
                    <a:lstStyle/>
                    <a:p>
                      <a:pPr algn="l">
                        <a:buNone/>
                      </a:pPr>
                      <a:r>
                        <a:rPr lang="en-US" sz="900" b="0" dirty="0" u="none">
                          <a:solidFill>
                            <a:srgbClr val="080808"/>
                          </a:solidFill>
                          <a:effectLst/>
                          <a:latin typeface="Calibri"/>
                        </a:rPr>
                        <a:t>Revenue (recognised)</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$128</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$737</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$2,122</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$4,468</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$8,042</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1165910800"/>
                  </a:ext>
                </a:extLst>
              </a:tr>
              <a:tr h="260603">
                <a:tc>
                  <a:txBody>
                    <a:bodyPr/>
                    <a:lstStyle/>
                    <a:p>
                      <a:pPr algn="l">
                        <a:buNone/>
                      </a:pPr>
                      <a:r>
                        <a:rPr lang="en-US" sz="900" b="0" dirty="0" u="none">
                          <a:solidFill>
                            <a:srgbClr val="080808"/>
                          </a:solidFill>
                          <a:effectLst/>
                          <a:latin typeface="Calibri"/>
                        </a:rPr>
                        <a:t>Gross profit</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$575</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$1,655</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$3,485</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$6,273</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ECEEF0"/>
                    </a:solidFill>
                  </a:tcPr>
                </a:tc>
                <a:extLst>
                  <a:ext uri="{0D108BD9-81ED-4DB2-BD59-A6C34878D82A}">
                    <a16:rowId xmlns:a16="http://schemas.microsoft.com/office/drawing/2014/main" val="1588774024"/>
                  </a:ext>
                </a:extLst>
              </a:tr>
              <a:tr h="260603">
                <a:tc>
                  <a:txBody>
                    <a:bodyPr/>
                    <a:lstStyle/>
                    <a:p>
                      <a:pPr algn="l">
                        <a:buNone/>
                      </a:pPr>
                      <a:r>
                        <a:rPr lang="en-US" sz="900" b="0" dirty="0" u="none">
                          <a:solidFill>
                            <a:srgbClr val="080808"/>
                          </a:solidFill>
                          <a:effectLst/>
                          <a:latin typeface="Calibri"/>
                        </a:rPr>
                        <a:t>Total sales and marketing</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($374)</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($1,284)</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($2,244)</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($3,260)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($4,360)</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2174908012"/>
                  </a:ext>
                </a:extLst>
              </a:tr>
              <a:tr h="260603">
                <a:tc>
                  <a:txBody>
                    <a:bodyPr/>
                    <a:lstStyle/>
                    <a:p>
                      <a:pPr algn="l">
                        <a:buNone/>
                      </a:pPr>
                      <a:r>
                        <a:rPr lang="en-US" sz="900" b="0" dirty="0" u="none">
                          <a:solidFill>
                            <a:srgbClr val="080808"/>
                          </a:solidFill>
                          <a:effectLst/>
                          <a:latin typeface="Calibri"/>
                        </a:rPr>
                        <a:t>Research and development</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($900)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($1,600)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($2,400)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($3,200)</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($4,000)</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ECEEF0"/>
                    </a:solidFill>
                  </a:tcPr>
                </a:tc>
                <a:extLst>
                  <a:ext uri="{0D108BD9-81ED-4DB2-BD59-A6C34878D82A}">
                    <a16:rowId xmlns:a16="http://schemas.microsoft.com/office/drawing/2014/main" val="252964039"/>
                  </a:ext>
                </a:extLst>
              </a:tr>
              <a:tr h="260603">
                <a:tc>
                  <a:txBody>
                    <a:bodyPr/>
                    <a:lstStyle/>
                    <a:p>
                      <a:pPr algn="l">
                        <a:buNone/>
                      </a:pPr>
                      <a:r>
                        <a:rPr lang="en-US" sz="900" b="0" dirty="0" u="none">
                          <a:solidFill>
                            <a:srgbClr val="080808"/>
                          </a:solidFill>
                          <a:effectLst/>
                          <a:latin typeface="Calibri"/>
                        </a:rPr>
                        <a:t>General and administrative</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($400)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($700)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($1,000)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($1,400)</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($1,800)</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3967209063"/>
                  </a:ext>
                </a:extLst>
              </a:tr>
              <a:tr h="260603">
                <a:tc>
                  <a:txBody>
                    <a:bodyPr/>
                    <a:lstStyle/>
                    <a:p>
                      <a:pPr algn="l">
                        <a:buNone/>
                      </a:pPr>
                      <a:r>
                        <a:rPr lang="en-US" sz="900" b="1" dirty="0" u="none">
                          <a:solidFill>
                            <a:srgbClr val="080808"/>
                          </a:solidFill>
                          <a:effectLst/>
                          <a:latin typeface="Calibri"/>
                        </a:rPr>
                        <a:t>EBITDA</a:t>
                      </a:r>
                    </a:p>
                  </a:txBody>
                  <a:tcPr marL="45720" marR="45720" marT="9144" marB="9144" anchor="ctr">
                    <a:lnL w="6350" cap="flat" cmpd="sng" algn="ctr">
                      <a:solidFill>
                        <a:srgbClr val="A0ABB4"/>
                      </a:solidFill>
                      <a:prstDash val="solid"/>
                      <a:round/>
                      <a:headEnd type="none" w="med" len="med"/>
                      <a:tailEnd type="none" w="med" len="med"/>
                    </a:lnL>
                    <a:lnR>
                      <a:noFill/>
                    </a:lnR>
                    <a:lnT>
                      <a:noFill/>
                    </a:lnT>
                    <a:lnB w="6350" cap="flat" cmpd="sng" algn="ctr">
                      <a:solidFill>
                        <a:srgbClr val="A0ABB4"/>
                      </a:solidFill>
                      <a:prstDash val="solid"/>
                      <a:round/>
                      <a:headEnd type="none" w="med" len="med"/>
                      <a:tailEnd type="none" w="med" len="med"/>
                    </a:lnB>
                    <a:solidFill>
                      <a:srgbClr val="ECEEF0"/>
                    </a:solidFill>
                  </a:tcPr>
                </a:tc>
                <a:tc>
                  <a:txBody>
                    <a:bodyPr/>
                    <a:lstStyle/>
                    <a:p>
                      <a:pPr algn="ctr">
                        <a:buNone/>
                      </a:pPr>
                      <a:r>
                        <a:rPr lang="en-US" sz="900" dirty="0" b="1" u="none">
                          <a:solidFill>
                            <a:srgbClr val="080808"/>
                          </a:solidFill>
                          <a:effectLst/>
                          <a:latin typeface="Calibri"/>
                        </a:rPr>
                        <a:t>($1,574)</a:t>
                      </a:r>
                    </a:p>
                  </a:txBody>
                  <a:tcPr marL="45720" marR="45720" marT="9144" marB="9144" anchor="ctr">
                    <a:lnL>
                      <a:noFill/>
                    </a:lnL>
                    <a:lnR>
                      <a:noFill/>
                    </a:lnR>
                    <a:lnT>
                      <a:noFill/>
                    </a:lnT>
                    <a:lnB w="6350" cap="flat" cmpd="sng" algn="ctr">
                      <a:solidFill>
                        <a:srgbClr val="A0ABB4"/>
                      </a:solidFill>
                      <a:prstDash val="solid"/>
                      <a:round/>
                      <a:headEnd type="none" w="med" len="med"/>
                      <a:tailEnd type="none" w="med" len="med"/>
                    </a:lnB>
                    <a:solidFill>
                      <a:srgbClr val="ECEEF0"/>
                    </a:solidFill>
                  </a:tcPr>
                </a:tc>
                <a:tc>
                  <a:txBody>
                    <a:bodyPr/>
                    <a:lstStyle/>
                    <a:p>
                      <a:pPr algn="ctr">
                        <a:buNone/>
                      </a:pPr>
                      <a:r>
                        <a:rPr lang="en-US" sz="900" dirty="0" b="1" u="none">
                          <a:solidFill>
                            <a:srgbClr val="080808"/>
                          </a:solidFill>
                          <a:effectLst/>
                          <a:latin typeface="Calibri"/>
                        </a:rPr>
                        <a:t>($3,009)</a:t>
                      </a:r>
                    </a:p>
                  </a:txBody>
                  <a:tcPr marL="45720" marR="45720" marT="9144" marB="9144" anchor="ctr">
                    <a:lnL>
                      <a:noFill/>
                    </a:lnL>
                    <a:lnR>
                      <a:noFill/>
                    </a:lnR>
                    <a:lnT>
                      <a:noFill/>
                    </a:lnT>
                    <a:lnB w="6350" cap="flat" cmpd="sng" algn="ctr">
                      <a:solidFill>
                        <a:srgbClr val="A0ABB4"/>
                      </a:solidFill>
                      <a:prstDash val="solid"/>
                      <a:round/>
                      <a:headEnd type="none" w="med" len="med"/>
                      <a:tailEnd type="none" w="med" len="med"/>
                    </a:lnB>
                    <a:solidFill>
                      <a:srgbClr val="ECEEF0"/>
                    </a:solidFill>
                  </a:tcPr>
                </a:tc>
                <a:tc>
                  <a:txBody>
                    <a:bodyPr/>
                    <a:lstStyle/>
                    <a:p>
                      <a:pPr algn="ctr">
                        <a:buNone/>
                      </a:pPr>
                      <a:r>
                        <a:rPr lang="en-US" sz="900" dirty="0" b="1" u="none">
                          <a:solidFill>
                            <a:srgbClr val="080808"/>
                          </a:solidFill>
                          <a:effectLst/>
                          <a:latin typeface="Calibri"/>
                        </a:rPr>
                        <a:t>($3,989)</a:t>
                      </a:r>
                    </a:p>
                  </a:txBody>
                  <a:tcPr marL="45720" marR="45720" marT="9144" marB="9144" anchor="ctr">
                    <a:lnL>
                      <a:noFill/>
                    </a:lnL>
                    <a:lnR>
                      <a:noFill/>
                    </a:lnR>
                    <a:lnT>
                      <a:noFill/>
                    </a:lnT>
                    <a:lnB w="6350" cap="flat" cmpd="sng" algn="ctr">
                      <a:solidFill>
                        <a:srgbClr val="A0ABB4"/>
                      </a:solidFill>
                      <a:prstDash val="solid"/>
                      <a:round/>
                      <a:headEnd type="none" w="med" len="med"/>
                      <a:tailEnd type="none" w="med" len="med"/>
                    </a:lnB>
                    <a:solidFill>
                      <a:srgbClr val="ECEEF0"/>
                    </a:solidFill>
                  </a:tcPr>
                </a:tc>
                <a:tc>
                  <a:txBody>
                    <a:bodyPr/>
                    <a:lstStyle/>
                    <a:p>
                      <a:pPr algn="ctr">
                        <a:buNone/>
                      </a:pPr>
                      <a:r>
                        <a:rPr lang="en-US" sz="900" dirty="0" b="1" u="none">
                          <a:solidFill>
                            <a:srgbClr val="080808"/>
                          </a:solidFill>
                          <a:effectLst/>
                          <a:latin typeface="Calibri"/>
                        </a:rPr>
                        <a:t>($4,375)</a:t>
                      </a:r>
                    </a:p>
                  </a:txBody>
                  <a:tcPr marL="45720" marR="45720" marT="9144" marB="9144" anchor="ctr">
                    <a:lnL>
                      <a:noFill/>
                    </a:lnL>
                    <a:lnR>
                      <a:noFill/>
                    </a:lnR>
                    <a:lnT>
                      <a:noFill/>
                    </a:lnT>
                    <a:lnB w="6350" cap="flat" cmpd="sng" algn="ctr">
                      <a:solidFill>
                        <a:srgbClr val="A0ABB4"/>
                      </a:solidFill>
                      <a:prstDash val="solid"/>
                      <a:round/>
                      <a:headEnd type="none" w="med" len="med"/>
                      <a:tailEnd type="none" w="med" len="med"/>
                    </a:lnB>
                    <a:solidFill>
                      <a:srgbClr val="ECEEF0"/>
                    </a:solidFill>
                  </a:tcPr>
                </a:tc>
                <a:tc>
                  <a:txBody>
                    <a:bodyPr/>
                    <a:lstStyle/>
                    <a:p>
                      <a:pPr algn="ctr">
                        <a:buNone/>
                      </a:pPr>
                      <a:r>
                        <a:rPr lang="en-US" sz="900" dirty="0" b="1" u="none">
                          <a:solidFill>
                            <a:srgbClr val="080808"/>
                          </a:solidFill>
                          <a:effectLst/>
                          <a:latin typeface="Calibri"/>
                        </a:rPr>
                        <a:t>($3,887)</a:t>
                      </a:r>
                    </a:p>
                  </a:txBody>
                  <a:tcPr marL="45720" marR="45720" marT="9144" marB="9144" anchor="ctr">
                    <a:lnL>
                      <a:noFill/>
                    </a:lnL>
                    <a:lnR w="6350" cap="flat" cmpd="sng" algn="ctr">
                      <a:solidFill>
                        <a:srgbClr val="A0ABB4"/>
                      </a:solidFill>
                      <a:prstDash val="solid"/>
                      <a:round/>
                      <a:headEnd type="none" w="med" len="med"/>
                      <a:tailEnd type="none" w="med" len="med"/>
                    </a:lnR>
                    <a:lnT>
                      <a:noFill/>
                    </a:lnT>
                    <a:lnB w="6350" cap="flat" cmpd="sng" algn="ctr">
                      <a:solidFill>
                        <a:srgbClr val="A0ABB4"/>
                      </a:solidFill>
                      <a:prstDash val="solid"/>
                      <a:round/>
                      <a:headEnd type="none" w="med" len="med"/>
                      <a:tailEnd type="none" w="med" len="med"/>
                    </a:lnB>
                    <a:solidFill>
                      <a:srgbClr val="ECEEF0"/>
                    </a:solidFill>
                  </a:tcPr>
                </a:tc>
                <a:extLst>
                  <a:ext uri="{0D108BD9-81ED-4DB2-BD59-A6C34878D82A}">
                    <a16:rowId xmlns:a16="http://schemas.microsoft.com/office/drawing/2014/main" val="247726244"/>
                  </a:ext>
                </a:extLst>
              </a:tr>
              <a:tr h="260603">
                <a:tc>
                  <a:txBody>
                    <a:bodyPr/>
                    <a:lstStyle/>
                    <a:p>
                      <a:pPr algn="l">
                        <a:buNone/>
                      </a:pPr>
                      <a:r>
                        <a:rPr lang="en-US" sz="900" b="0" dirty="0" u="none">
                          <a:solidFill>
                            <a:srgbClr val="080808"/>
                          </a:solidFill>
                          <a:effectLst/>
                          <a:latin typeface="Calibri"/>
                        </a:rPr>
                        <a:t>EBITDA margin</a:t>
                      </a:r>
                    </a:p>
                  </a:txBody>
                  <a:tcPr marL="45720" marR="45720" marT="9144" marB="9144" anchor="ctr">
                    <a:lnL w="6350" cap="flat" cmpd="sng" algn="ctr">
                      <a:solidFill>
                        <a:srgbClr val="A0ABB4"/>
                      </a:solidFill>
                      <a:prstDash val="solid"/>
                      <a:round/>
                      <a:headEnd type="none" w="med" len="med"/>
                      <a:tailEnd type="none" w="med" len="med"/>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w="6350" cap="flat" cmpd="sng" algn="ctr">
                      <a:solidFill>
                        <a:srgbClr val="A0ABB4"/>
                      </a:solidFill>
                      <a:prstDash val="solid"/>
                      <a:round/>
                      <a:headEnd type="none" w="med" len="med"/>
                      <a:tailEnd type="none" w="med" len="med"/>
                    </a:lnB>
                    <a:noFill/>
                  </a:tcPr>
                </a:tc>
                <a:tc>
                  <a:txBody>
                    <a:bodyPr/>
                    <a:lstStyle/>
                    <a:p>
                      <a:pPr algn="ctr">
                        <a:buNone/>
                      </a:pPr>
                      <a:r>
                        <a:rPr sz="900" b="0">
                          <a:solidFill>
                            <a:srgbClr val="080808"/>
                          </a:solidFill>
                          <a:latin typeface="Calibri"/>
                        </a:rPr>
                        <a:t>(1,230%)</a:t>
                      </a:r>
                      <a:endParaRPr lang="en-US" sz="800" dirty="0">
                        <a:effectLst/>
                      </a:endParaRPr>
                    </a:p>
                  </a:txBody>
                  <a:tcPr marL="45720" marR="45720" marT="9144" marB="9144" anchor="ctr">
                    <a:lnL>
                      <a:noFill/>
                    </a:lnL>
                    <a:lnR>
                      <a:noFill/>
                    </a:lnR>
                    <a:lnT>
                      <a:noFill/>
                    </a:lnT>
                    <a:lnB>
                      <a:noFill/>
                    </a:lnB>
                    <a:solidFill>
                      <a:srgbClr val="F2DCDB"/>
                    </a:solidFill>
                  </a:tcPr>
                </a:tc>
                <a:tc>
                  <a:txBody>
                    <a:bodyPr/>
                    <a:lstStyle/>
                    <a:p>
                      <a:pPr algn="ctr">
                        <a:buNone/>
                      </a:pPr>
                      <a:r>
                        <a:rPr sz="900" b="0">
                          <a:solidFill>
                            <a:srgbClr val="080808"/>
                          </a:solidFill>
                          <a:latin typeface="Calibri"/>
                        </a:rPr>
                        <a:t>(408.1%)</a:t>
                      </a:r>
                      <a:endParaRPr lang="en-US" sz="800" dirty="0">
                        <a:effectLst/>
                      </a:endParaRPr>
                    </a:p>
                  </a:txBody>
                  <a:tcPr marL="45720" marR="45720" marT="9144" marB="9144" anchor="ctr">
                    <a:lnL>
                      <a:noFill/>
                    </a:lnL>
                    <a:lnR>
                      <a:noFill/>
                    </a:lnR>
                    <a:lnT>
                      <a:noFill/>
                    </a:lnT>
                    <a:lnB>
                      <a:noFill/>
                    </a:lnB>
                    <a:solidFill>
                      <a:srgbClr val="F2DCDB"/>
                    </a:solidFill>
                  </a:tcPr>
                </a:tc>
                <a:tc>
                  <a:txBody>
                    <a:bodyPr/>
                    <a:lstStyle/>
                    <a:p>
                      <a:pPr algn="ctr">
                        <a:buNone/>
                      </a:pPr>
                      <a:r>
                        <a:rPr sz="900" b="0">
                          <a:solidFill>
                            <a:srgbClr val="080808"/>
                          </a:solidFill>
                          <a:latin typeface="Calibri"/>
                        </a:rPr>
                        <a:t>(188.0%)</a:t>
                      </a:r>
                      <a:endParaRPr lang="en-US" sz="800" dirty="0">
                        <a:effectLst/>
                      </a:endParaRPr>
                    </a:p>
                  </a:txBody>
                  <a:tcPr marL="45720" marR="45720" marT="9144" marB="9144" anchor="ctr">
                    <a:lnL>
                      <a:noFill/>
                    </a:lnL>
                    <a:lnR>
                      <a:noFill/>
                    </a:lnR>
                    <a:lnT>
                      <a:noFill/>
                    </a:lnT>
                    <a:lnB>
                      <a:noFill/>
                    </a:lnB>
                    <a:solidFill>
                      <a:srgbClr val="F2DCDB"/>
                    </a:solidFill>
                  </a:tcPr>
                </a:tc>
                <a:tc>
                  <a:txBody>
                    <a:bodyPr/>
                    <a:lstStyle/>
                    <a:p>
                      <a:pPr algn="ctr">
                        <a:buNone/>
                      </a:pPr>
                      <a:r>
                        <a:rPr sz="900" b="0">
                          <a:solidFill>
                            <a:srgbClr val="080808"/>
                          </a:solidFill>
                          <a:latin typeface="Calibri"/>
                        </a:rPr>
                        <a:t>(97.9%)</a:t>
                      </a:r>
                      <a:endParaRPr lang="en-US" sz="800" dirty="0">
                        <a:effectLst/>
                      </a:endParaRPr>
                    </a:p>
                  </a:txBody>
                  <a:tcPr marL="45720" marR="45720" marT="9144" marB="9144" anchor="ctr">
                    <a:lnL>
                      <a:noFill/>
                    </a:lnL>
                    <a:lnR>
                      <a:noFill/>
                    </a:lnR>
                    <a:lnT>
                      <a:noFill/>
                    </a:lnT>
                    <a:lnB>
                      <a:noFill/>
                    </a:lnB>
                    <a:solidFill>
                      <a:srgbClr val="F2DCDB"/>
                    </a:solidFill>
                  </a:tcPr>
                </a:tc>
                <a:tc>
                  <a:txBody>
                    <a:bodyPr/>
                    <a:lstStyle/>
                    <a:p>
                      <a:pPr algn="ctr">
                        <a:buNone/>
                      </a:pPr>
                      <a:r>
                        <a:rPr sz="900" b="0">
                          <a:solidFill>
                            <a:srgbClr val="080808"/>
                          </a:solidFill>
                          <a:latin typeface="Calibri"/>
                        </a:rPr>
                        <a:t>(48.3%)</a:t>
                      </a:r>
                      <a:endParaRPr lang="en-US" sz="800" dirty="0">
                        <a:effectLst/>
                      </a:endParaRPr>
                    </a:p>
                  </a:txBody>
                  <a:tcPr marL="45720" marR="45720" marT="9144" marB="9144" anchor="ctr">
                    <a:lnL>
                      <a:noFill/>
                    </a:lnL>
                    <a:lnR>
                      <a:noFill/>
                    </a:lnR>
                    <a:lnT>
                      <a:noFill/>
                    </a:lnT>
                    <a:lnB>
                      <a:noFill/>
                    </a:lnB>
                    <a:solidFill>
                      <a:srgbClr val="F2DCDB"/>
                    </a:solidFill>
                  </a:tcPr>
                </a:tc>
                <a:extLst>
                  <a:ext uri="{0D108BD9-81ED-4DB2-BD59-A6C34878D82A}">
                    <a16:rowId xmlns:a16="http://schemas.microsoft.com/office/drawing/2014/main" val="3622864677"/>
                  </a:ext>
                </a:extLst>
              </a:tr>
              <a:tr h="260603">
                <a:tc>
                  <a:txBody>
                    <a:bodyPr/>
                    <a:lstStyle/>
                    <a:p>
                      <a:pPr algn="l">
                        <a:buNone/>
                      </a:pPr>
                      <a:r>
                        <a:rPr lang="en-US" sz="900" b="1" dirty="0" u="none">
                          <a:solidFill>
                            <a:srgbClr val="080808"/>
                          </a:solidFill>
                          <a:effectLst/>
                          <a:latin typeface="Calibri"/>
                        </a:rPr>
                        <a:t>Peak equity requirement</a:t>
                      </a:r>
                    </a:p>
                  </a:txBody>
                  <a:tcPr marL="45720" marR="45720" marT="9144" marB="9144" anchor="ctr">
                    <a:lnL w="6350" cap="flat" cmpd="sng" algn="ctr">
                      <a:solidFill>
                        <a:srgbClr val="A0ABB4"/>
                      </a:solidFill>
                      <a:prstDash val="solid"/>
                      <a:round/>
                      <a:headEnd type="none" w="med" len="med"/>
                      <a:tailEnd type="none" w="med" len="med"/>
                    </a:lnL>
                    <a:lnR>
                      <a:noFill/>
                    </a:lnR>
                    <a:lnT w="6350" cap="flat" cmpd="sng" algn="ctr">
                      <a:solidFill>
                        <a:srgbClr val="A0ABB4"/>
                      </a:solidFill>
                      <a:prstDash val="solid"/>
                      <a:round/>
                      <a:headEnd type="none" w="med" len="med"/>
                      <a:tailEnd type="none" w="med" len="med"/>
                    </a:lnT>
                    <a:lnB>
                      <a:noFill/>
                    </a:lnB>
                    <a:solidFill>
                      <a:srgbClr val="ECEEF0"/>
                    </a:solidFill>
                  </a:tcPr>
                </a:tc>
                <a:tc>
                  <a:txBody>
                    <a:bodyPr/>
                    <a:lstStyle/>
                    <a:p>
                      <a:pPr algn="ctr">
                        <a:buNone/>
                      </a:pPr>
                      <a:r>
                        <a:rPr lang="en-US" sz="900" dirty="0" b="1" u="none">
                          <a:solidFill>
                            <a:srgbClr val="080808"/>
                          </a:solidFill>
                          <a:effectLst/>
                          <a:latin typeface="Calibri"/>
                        </a:rPr>
                        <a:t>$1,574</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DCDB"/>
                    </a:solidFill>
                  </a:tcPr>
                </a:tc>
                <a:tc>
                  <a:txBody>
                    <a:bodyPr/>
                    <a:lstStyle/>
                    <a:p>
                      <a:pPr algn="ctr">
                        <a:buNone/>
                      </a:pPr>
                      <a:r>
                        <a:rPr lang="en-US" sz="900" dirty="0" b="1" u="none">
                          <a:solidFill>
                            <a:srgbClr val="080808"/>
                          </a:solidFill>
                          <a:effectLst/>
                          <a:latin typeface="Calibri"/>
                        </a:rPr>
                        <a:t>$4,583</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DCDB"/>
                    </a:solidFill>
                  </a:tcPr>
                </a:tc>
                <a:tc>
                  <a:txBody>
                    <a:bodyPr/>
                    <a:lstStyle/>
                    <a:p>
                      <a:pPr algn="ctr">
                        <a:buNone/>
                      </a:pPr>
                      <a:r>
                        <a:rPr lang="en-US" sz="900" dirty="0" b="1" u="none">
                          <a:solidFill>
                            <a:srgbClr val="080808"/>
                          </a:solidFill>
                          <a:effectLst/>
                          <a:latin typeface="Calibri"/>
                        </a:rPr>
                        <a:t>$8,572</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DCDB"/>
                    </a:solidFill>
                  </a:tcPr>
                </a:tc>
                <a:tc>
                  <a:txBody>
                    <a:bodyPr/>
                    <a:lstStyle/>
                    <a:p>
                      <a:pPr algn="ctr">
                        <a:buNone/>
                      </a:pPr>
                      <a:r>
                        <a:rPr lang="en-US" sz="900" dirty="0" b="1" u="none">
                          <a:solidFill>
                            <a:srgbClr val="080808"/>
                          </a:solidFill>
                          <a:effectLst/>
                          <a:latin typeface="Calibri"/>
                        </a:rPr>
                        <a:t>$12,947</a:t>
                      </a:r>
                    </a:p>
                  </a:txBody>
                  <a:tcPr marL="45720" marR="45720" marT="9144" marB="9144" anchor="ctr">
                    <a:lnL>
                      <a:noFill/>
                    </a:lnL>
                    <a:lnR>
                      <a:noFill/>
                    </a:lnR>
                    <a:lnT w="6350" cap="flat" cmpd="sng" algn="ctr">
                      <a:solidFill>
                        <a:srgbClr val="A0ABB4"/>
                      </a:solidFill>
                      <a:prstDash val="solid"/>
                      <a:round/>
                      <a:headEnd type="none" w="med" len="med"/>
                      <a:tailEnd type="none" w="med" len="med"/>
                    </a:lnT>
                    <a:lnB>
                      <a:noFill/>
                    </a:lnB>
                    <a:solidFill>
                      <a:srgbClr val="F2DCDB"/>
                    </a:solidFill>
                  </a:tcPr>
                </a:tc>
                <a:tc>
                  <a:txBody>
                    <a:bodyPr/>
                    <a:lstStyle/>
                    <a:p>
                      <a:pPr algn="ctr">
                        <a:buNone/>
                      </a:pPr>
                      <a:r>
                        <a:rPr lang="en-US" sz="900" dirty="0" b="1" u="none">
                          <a:solidFill>
                            <a:srgbClr val="080808"/>
                          </a:solidFill>
                          <a:effectLst/>
                          <a:latin typeface="Calibri"/>
                        </a:rPr>
                        <a:t>$16,834</a:t>
                      </a:r>
                    </a:p>
                  </a:txBody>
                  <a:tcPr marL="45720" marR="45720" marT="9144" marB="9144" anchor="ctr">
                    <a:lnL>
                      <a:noFill/>
                    </a:lnL>
                    <a:lnR w="6350" cap="flat" cmpd="sng" algn="ctr">
                      <a:solidFill>
                        <a:srgbClr val="A0ABB4"/>
                      </a:solidFill>
                      <a:prstDash val="solid"/>
                      <a:round/>
                      <a:headEnd type="none" w="med" len="med"/>
                      <a:tailEnd type="none" w="med" len="med"/>
                    </a:lnR>
                    <a:lnT w="6350" cap="flat" cmpd="sng" algn="ctr">
                      <a:solidFill>
                        <a:srgbClr val="A0ABB4"/>
                      </a:solidFill>
                      <a:prstDash val="solid"/>
                      <a:round/>
                      <a:headEnd type="none" w="med" len="med"/>
                      <a:tailEnd type="none" w="med" len="med"/>
                    </a:lnT>
                    <a:lnB>
                      <a:noFill/>
                    </a:lnB>
                    <a:solidFill>
                      <a:srgbClr val="F2DCDB"/>
                    </a:solidFill>
                  </a:tcPr>
                </a:tc>
                <a:extLst>
                  <a:ext uri="{0D108BD9-81ED-4DB2-BD59-A6C34878D82A}">
                    <a16:rowId xmlns:a16="http://schemas.microsoft.com/office/drawing/2014/main" val="2503630392"/>
                  </a:ext>
                </a:extLst>
              </a:tr>
              <a:tr h="260603">
                <a:tc>
                  <a:txBody>
                    <a:bodyPr/>
                    <a:lstStyle/>
                    <a:p>
                      <a:pPr algn="l">
                        <a:buNone/>
                      </a:pPr>
                      <a:r>
                        <a:rPr lang="en-US" sz="900" b="0" dirty="0" u="none">
                          <a:solidFill>
                            <a:srgbClr val="080808"/>
                          </a:solidFill>
                          <a:effectLst/>
                          <a:latin typeface="Calibri"/>
                        </a:rPr>
                        <a:t>Magic number</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noFill/>
                  </a:tcPr>
                </a:tc>
                <a:tc>
                  <a:txBody>
                    <a:bodyPr/>
                    <a:lstStyle/>
                    <a:p>
                      <a:pPr algn="ctr">
                        <a:buNone/>
                      </a:pPr>
                      <a:r>
                        <a:rPr lang="en-US" sz="900" dirty="0" b="0" u="none">
                          <a:solidFill>
                            <a:srgbClr val="080808"/>
                          </a:solidFill>
                          <a:effectLst/>
                          <a:latin typeface="Calibri"/>
                        </a:rPr>
                        <a:t>-</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2.6x</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1.4x</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1.3x</a:t>
                      </a:r>
                    </a:p>
                  </a:txBody>
                  <a:tcPr marL="45720" marR="45720" marT="9144" marB="9144" anchor="ctr">
                    <a:lnL>
                      <a:noFill/>
                    </a:lnL>
                    <a:lnR>
                      <a:noFill/>
                    </a:lnR>
                    <a:lnT>
                      <a:noFill/>
                    </a:lnT>
                    <a:lnB>
                      <a:noFill/>
                    </a:lnB>
                    <a:noFill/>
                  </a:tcPr>
                </a:tc>
                <a:tc>
                  <a:txBody>
                    <a:bodyPr/>
                    <a:lstStyle/>
                    <a:p>
                      <a:pPr algn="ctr">
                        <a:buNone/>
                      </a:pPr>
                      <a:r>
                        <a:rPr lang="en-US" sz="900" dirty="0" b="0" u="none">
                          <a:solidFill>
                            <a:srgbClr val="080808"/>
                          </a:solidFill>
                          <a:effectLst/>
                          <a:latin typeface="Calibri"/>
                        </a:rPr>
                        <a:t>1.3x</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noFill/>
                  </a:tcPr>
                </a:tc>
                <a:extLst>
                  <a:ext uri="{0D108BD9-81ED-4DB2-BD59-A6C34878D82A}">
                    <a16:rowId xmlns:a16="http://schemas.microsoft.com/office/drawing/2014/main" val="370535643"/>
                  </a:ext>
                </a:extLst>
              </a:tr>
              <a:tr h="260603">
                <a:tc>
                  <a:txBody>
                    <a:bodyPr/>
                    <a:lstStyle/>
                    <a:p>
                      <a:pPr algn="l">
                        <a:buNone/>
                      </a:pPr>
                      <a:r>
                        <a:rPr lang="en-US" sz="900" b="0" dirty="0" u="none">
                          <a:solidFill>
                            <a:srgbClr val="080808"/>
                          </a:solidFill>
                          <a:effectLst/>
                          <a:latin typeface="Calibri"/>
                        </a:rPr>
                        <a:t>Ending ARR per employee ($)</a:t>
                      </a:r>
                    </a:p>
                  </a:txBody>
                  <a:tcPr marL="45720" marR="45720" marT="9144" marB="9144" anchor="ctr">
                    <a:lnL w="6350" cap="flat" cmpd="sng" algn="ctr">
                      <a:solidFill>
                        <a:srgbClr val="A0ABB4"/>
                      </a:solidFill>
                      <a:prstDash val="solid"/>
                      <a:round/>
                      <a:headEnd type="none" w="med" len="med"/>
                      <a:tailEnd type="none" w="med" len="med"/>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$28,444</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$67,698</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$100,871</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$134,294</a:t>
                      </a:r>
                    </a:p>
                  </a:txBody>
                  <a:tcPr marL="45720" marR="45720" marT="9144" marB="9144" anchor="ctr">
                    <a:lnL>
                      <a:noFill/>
                    </a:lnL>
                    <a:lnR>
                      <a:noFill/>
                    </a:lnR>
                    <a:lnT>
                      <a:noFill/>
                    </a:lnT>
                    <a:lnB>
                      <a:noFill/>
                    </a:lnB>
                    <a:solidFill>
                      <a:srgbClr val="ECEEF0"/>
                    </a:solidFill>
                  </a:tcPr>
                </a:tc>
                <a:tc>
                  <a:txBody>
                    <a:bodyPr/>
                    <a:lstStyle/>
                    <a:p>
                      <a:pPr algn="ctr">
                        <a:buNone/>
                      </a:pPr>
                      <a:r>
                        <a:rPr lang="en-US" sz="900" dirty="0" b="0" u="none">
                          <a:solidFill>
                            <a:srgbClr val="080808"/>
                          </a:solidFill>
                          <a:effectLst/>
                          <a:latin typeface="Calibri"/>
                        </a:rPr>
                        <a:t>$169,573</a:t>
                      </a:r>
                    </a:p>
                  </a:txBody>
                  <a:tcPr marL="45720" marR="45720" marT="9144" marB="9144" anchor="ctr">
                    <a:lnL>
                      <a:noFill/>
                    </a:lnL>
                    <a:lnR w="6350" cap="flat" cmpd="sng" algn="ctr">
                      <a:solidFill>
                        <a:srgbClr val="A0ABB4"/>
                      </a:solidFill>
                      <a:prstDash val="solid"/>
                      <a:round/>
                      <a:headEnd type="none" w="med" len="med"/>
                      <a:tailEnd type="none" w="med" len="med"/>
                    </a:lnR>
                    <a:lnT>
                      <a:noFill/>
                    </a:lnT>
                    <a:lnB>
                      <a:noFill/>
                    </a:lnB>
                    <a:solidFill>
                      <a:srgbClr val="ECEEF0"/>
                    </a:solidFill>
                  </a:tcPr>
                </a:tc>
                <a:extLst>
                  <a:ext uri="{0D108BD9-81ED-4DB2-BD59-A6C34878D82A}">
                    <a16:rowId xmlns:a16="http://schemas.microsoft.com/office/drawing/2014/main" val="3949758607"/>
                  </a:ext>
                </a:extLst>
              </a:tr>
            </a:tbl>
          </a:graphicData>
        </a:graphic>
      </p:graphicFrame>
      <p:sp>
        <p:nvSpPr>
          <p:cNvPr id="11" name="TextBox 10"/>
          <p:cNvSpPr txBox="1"/>
          <p:nvPr/>
        </p:nvSpPr>
        <p:spPr>
          <a:xfrm>
            <a:off x="160020" y="5532120"/>
            <a:ext cx="8823960" cy="219456"/>
          </a:xfrm>
          <a:prstGeom prst="rect">
            <a:avLst/>
          </a:prstGeom>
          <a:noFill/>
        </p:spPr>
        <p:txBody>
          <a:bodyPr wrap="square">
            <a:spAutoFit/>
          </a:bodyPr>
          <a:lstStyle/>
          <a:p>
            <a:r>
              <a:rPr sz="700" i="1">
                <a:solidFill>
                  <a:srgbClr val="9AA0A8"/>
                </a:solidFill>
                <a:latin typeface="Calibri"/>
              </a:rPr>
              <a:t>Note: revenue is approximated as the average of beginning and ending ARR rather than cohort-modelled. Magic number above 1.5x in Years 2 and 3 reflects a small ARR base and should be read as a signal to stress-test the CAC assumption, not as evidence of unusual efficiency. Headcount rises from 9 to 60 across the period and is a memo line; operating costs are entered directly.</a:t>
            </a:r>
          </a:p>
        </p:txBody>
      </p:sp>
    </p:spTree>
    <p:extLst>
      <p:ext uri="{BB962C8B-B14F-4D97-AF65-F5344CB8AC3E}">
        <p14:creationId xmlns:p14="http://schemas.microsoft.com/office/powerpoint/2010/main" val="340124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81032-6B85-2495-FDD6-0011A393CD8A}"/>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01FAE7C-C0A8-E57B-C637-6A563090AB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5" name="Object 4" hidden="1">
                        <a:extLst>
                          <a:ext uri="{FF2B5EF4-FFF2-40B4-BE49-F238E27FC236}">
                            <a16:creationId xmlns:a16="http://schemas.microsoft.com/office/drawing/2014/main" id="{CE2B5443-8077-7BE7-1D10-9376716B66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F9EC298-B22D-3D43-9B16-518D797D79D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kern="0" dirty="0">
              <a:solidFill>
                <a:schemeClr val="tx1"/>
              </a:solidFill>
              <a:latin typeface="Calibri" panose="020F0502020204030204" pitchFamily="34" charset="0"/>
              <a:ea typeface="+mj-ea"/>
              <a:cs typeface="+mj-cs"/>
              <a:sym typeface="Calibri" panose="020F0502020204030204" pitchFamily="34" charset="0"/>
            </a:endParaRPr>
          </a:p>
        </p:txBody>
      </p:sp>
      <p:sp>
        <p:nvSpPr>
          <p:cNvPr id="4" name="Title 3">
            <a:extLst>
              <a:ext uri="{FF2B5EF4-FFF2-40B4-BE49-F238E27FC236}">
                <a16:creationId xmlns:a16="http://schemas.microsoft.com/office/drawing/2014/main" id="{534B8DDA-AFAC-09FA-BD1F-FC9DD4B59DC8}"/>
              </a:ext>
            </a:extLst>
          </p:cNvPr>
          <p:cNvSpPr>
            <a:spLocks noGrp="1"/>
          </p:cNvSpPr>
          <p:nvPr>
            <p:ph type="title"/>
          </p:nvPr>
        </p:nvSpPr>
        <p:spPr/>
        <p:txBody>
          <a:bodyPr/>
          <a:lstStyle/>
          <a:p>
            <a:r>
              <a:rPr lang="en-US" dirty="0"/>
              <a:t>Key concerns and mitigants</a:t>
            </a:r>
          </a:p>
        </p:txBody>
      </p:sp>
      <p:sp>
        <p:nvSpPr>
          <p:cNvPr id="11" name="Slide Number Placeholder 1">
            <a:extLst>
              <a:ext uri="{FF2B5EF4-FFF2-40B4-BE49-F238E27FC236}">
                <a16:creationId xmlns:a16="http://schemas.microsoft.com/office/drawing/2014/main" id="{1C2ECBD9-90AE-D94B-945E-08D7D21B441F}"/>
              </a:ext>
            </a:extLst>
          </p:cNvPr>
          <p:cNvSpPr>
            <a:spLocks noGrp="1"/>
          </p:cNvSpPr>
          <p:nvPr>
            <p:ph type="sldNum" sz="quarter" idx="4"/>
          </p:nvPr>
        </p:nvSpPr>
        <p:spPr>
          <a:xfrm>
            <a:off x="8756374" y="6529556"/>
            <a:ext cx="227606" cy="137160"/>
          </a:xfrm>
        </p:spPr>
        <p:txBody>
          <a:bodyPr/>
          <a:lstStyle/>
          <a:p>
            <a:fld id="{C094185C-1F9E-4EDB-A688-258533A03247}" type="slidenum">
              <a:rPr lang="en-US" smtClean="0"/>
              <a:pPr/>
              <a:t>4</a:t>
            </a:fld>
            <a:endParaRPr lang="en-US" dirty="0"/>
          </a:p>
        </p:txBody>
      </p:sp>
      <p:graphicFrame>
        <p:nvGraphicFramePr>
          <p:cNvPr id="7" name="Table 180">
            <a:extLst>
              <a:ext uri="{FF2B5EF4-FFF2-40B4-BE49-F238E27FC236}">
                <a16:creationId xmlns:a16="http://schemas.microsoft.com/office/drawing/2014/main" id="{A6360193-9A36-D331-7C7A-8D01B3484A7A}"/>
              </a:ext>
            </a:extLst>
          </p:cNvPr>
          <p:cNvGraphicFramePr>
            <a:graphicFrameLocks noGrp="1"/>
          </p:cNvGraphicFramePr>
          <p:nvPr>
            <p:extLst>
              <p:ext uri="{D42A27DB-BD31-4B8C-83A1-F6EECF244321}">
                <p14:modId xmlns:p14="http://schemas.microsoft.com/office/powerpoint/2010/main" val="2583439606"/>
              </p:ext>
            </p:extLst>
          </p:nvPr>
        </p:nvGraphicFramePr>
        <p:xfrm>
          <a:off x="160020" y="603504"/>
          <a:ext cx="8823960" cy="5852160"/>
        </p:xfrm>
        <a:graphic>
          <a:graphicData uri="http://schemas.openxmlformats.org/drawingml/2006/table">
            <a:tbl>
              <a:tblPr firstRow="1" bandRow="1">
                <a:tableStyleId>{5C22544A-7EE6-4342-B048-85BDC9FD1C3A}</a:tableStyleId>
              </a:tblPr>
              <a:tblGrid>
                <a:gridCol w="949318">
                  <a:extLst>
                    <a:ext uri="{9D8B030D-6E8A-4147-A177-3AD203B41FA5}">
                      <a16:colId xmlns:a16="http://schemas.microsoft.com/office/drawing/2014/main" val="44862911"/>
                    </a:ext>
                  </a:extLst>
                </a:gridCol>
                <a:gridCol w="7874642">
                  <a:extLst>
                    <a:ext uri="{9D8B030D-6E8A-4147-A177-3AD203B41FA5}">
                      <a16:colId xmlns:a16="http://schemas.microsoft.com/office/drawing/2014/main" val="2302682346"/>
                    </a:ext>
                  </a:extLst>
                </a:gridCol>
              </a:tblGrid>
              <a:tr h="3402439">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Key concerns</a:t>
                      </a:r>
                      <a:endParaRPr lang="en-US" sz="1000" b="1" cap="all" dirty="0">
                        <a:solidFill>
                          <a:schemeClr val="tx1"/>
                        </a:solidFill>
                        <a:latin typeface="+mj-lt"/>
                        <a:ea typeface="SimSun" pitchFamily="2" charset="-122"/>
                      </a:endParaRPr>
                    </a:p>
                  </a:txBody>
                  <a:tcPr marL="45720" marR="45720" marT="9144" marB="9144"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Cold start on the dataset</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Concern:</a:t>
                      </a:r>
                      <a:r>
                        <a:rPr lang="en-US" sz="1000" b="0" u="none" kern="0" spc="0" baseline="0" dirty="0">
                          <a:solidFill>
                            <a:schemeClr val="tx1"/>
                          </a:solidFill>
                          <a:latin typeface="+mn-lt"/>
                          <a:ea typeface="+mn-ea"/>
                          <a:cs typeface="+mn-cs"/>
                        </a:rPr>
                        <a:t> we view the cold start as the single largest execution risk, because the product has no value until roughly 300 to 500 projects are in the dataset, and no owner will pay for a benchmark of one.</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Mitigant:</a:t>
                      </a:r>
                      <a:r>
                        <a:rPr lang="en-US" sz="1000" b="0" u="none" kern="0" spc="0" baseline="0" dirty="0">
                          <a:solidFill>
                            <a:schemeClr val="tx1"/>
                          </a:solidFill>
                          <a:latin typeface="+mn-lt"/>
                          <a:ea typeface="+mn-ea"/>
                          <a:cs typeface="+mn-cs"/>
                        </a:rPr>
                        <a:t> we believe a contributory model solves this, whereby the first 15 to 20 owners receive the product free in perpetuity in exchange for historical capex data, which converts the founder's access into the moat rather than into a first sale.</a:t>
                      </a:r>
                    </a:p>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Modest total addressable market</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Concern:</a:t>
                      </a:r>
                      <a:r>
                        <a:rPr lang="en-US" sz="1000" b="0" u="none" kern="0" spc="0" baseline="0" dirty="0">
                          <a:solidFill>
                            <a:schemeClr val="tx1"/>
                          </a:solidFill>
                          <a:latin typeface="+mn-lt"/>
                          <a:ea typeface="+mn-ea"/>
                          <a:cs typeface="+mn-cs"/>
                        </a:rPr>
                        <a:t> a $202M US total addressable market supports a $30M to $60M revenue business at maturity, which we think is thin for an investor underwriting a $1B outcome.</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Mitigant:</a:t>
                      </a:r>
                      <a:r>
                        <a:rPr lang="en-US" sz="1000" b="0" u="none" kern="0" spc="0" baseline="0" dirty="0">
                          <a:solidFill>
                            <a:schemeClr val="tx1"/>
                          </a:solidFill>
                          <a:latin typeface="+mn-lt"/>
                          <a:ea typeface="+mn-ea"/>
                          <a:cs typeface="+mn-cs"/>
                        </a:rPr>
                        <a:t> we view international expansion, covering roughly 100,000 hotels outside the US on the same brand PIP dynamic, and a move into full owner-side asset performance, which roughly triples ACV, as credible extensions. Neither should be promised in a seed pitch before the US wedge is proven.</a:t>
                      </a:r>
                    </a:p>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Founder is non-technical</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Concern:</a:t>
                      </a:r>
                      <a:r>
                        <a:rPr lang="en-US" sz="1000" b="0" u="none" kern="0" spc="0" baseline="0" dirty="0">
                          <a:solidFill>
                            <a:schemeClr val="tx1"/>
                          </a:solidFill>
                          <a:latin typeface="+mn-lt"/>
                          <a:ea typeface="+mn-ea"/>
                          <a:cs typeface="+mn-cs"/>
                        </a:rPr>
                        <a:t> we recognise that a data business with no engineering founder is harder to finance, and that a contracted build carries technical debt that weakens the later cofounder pitch.</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Mitigant:</a:t>
                      </a:r>
                      <a:r>
                        <a:rPr lang="en-US" sz="1000" b="0" u="none" kern="0" spc="0" baseline="0" dirty="0">
                          <a:solidFill>
                            <a:schemeClr val="tx1"/>
                          </a:solidFill>
                          <a:latin typeface="+mn-lt"/>
                          <a:ea typeface="+mn-ea"/>
                          <a:cs typeface="+mn-cs"/>
                        </a:rPr>
                        <a:t> we think the correct sequence is to validate manually first, delivering the benchmark as an Excel work product to two or three paying pilots at $2,000 to $5,000 per month, and to recruit the technical cofounder against paying customers rather than against an idea.</a:t>
                      </a:r>
                    </a:p>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Employment and data provenance</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Concern:</a:t>
                      </a:r>
                      <a:r>
                        <a:rPr lang="en-US" sz="1000" b="0" u="none" kern="0" spc="0" baseline="0" dirty="0">
                          <a:solidFill>
                            <a:schemeClr val="tx1"/>
                          </a:solidFill>
                          <a:latin typeface="+mn-lt"/>
                          <a:ea typeface="+mn-ea"/>
                          <a:cs typeface="+mn-cs"/>
                        </a:rPr>
                        <a:t> building a company that sells to hotel owners while employed at a firm that underwrites hotel credit is a fact pattern that compliance will examine, and a dataset with contaminated origin is not financeable.</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Mitigant:</a:t>
                      </a:r>
                      <a:r>
                        <a:rPr lang="en-US" sz="1000" b="0" u="none" kern="0" spc="0" baseline="0" dirty="0">
                          <a:solidFill>
                            <a:schemeClr val="tx1"/>
                          </a:solidFill>
                          <a:latin typeface="+mn-lt"/>
                          <a:ea typeface="+mn-ea"/>
                          <a:cs typeface="+mn-cs"/>
                        </a:rPr>
                        <a:t> we view written outside business activity approval and a documented, permissioned data chain, sourced in the founder's own name and never from deal materials, as prerequisites rather than as follow-ups. Both are materially cheaper to resolve before there are customers.</a:t>
                      </a:r>
                    </a:p>
                  </a:txBody>
                  <a:tcPr marL="36000" marR="36000" marT="91440" marB="91440"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5079713"/>
                  </a:ext>
                </a:extLst>
              </a:tr>
            </a:tbl>
          </a:graphicData>
        </a:graphic>
      </p:graphicFrame>
    </p:spTree>
    <p:extLst>
      <p:ext uri="{BB962C8B-B14F-4D97-AF65-F5344CB8AC3E}">
        <p14:creationId xmlns:p14="http://schemas.microsoft.com/office/powerpoint/2010/main" val="1814860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BB4D68-53C9-4884-A143-07DE9A496F84}"/>
              </a:ext>
            </a:extLst>
          </p:cNvPr>
          <p:cNvSpPr>
            <a:spLocks noGrp="1"/>
          </p:cNvSpPr>
          <p:nvPr>
            <p:ph type="sldNum" sz="quarter" idx="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94185C-1F9E-4EDB-A688-258533A03247}" type="slidenum">
              <a:rPr kumimoji="0" lang="en-US" sz="650" b="0" i="0" u="none" strike="noStrike" kern="1200" cap="none" spc="0" normalizeH="0" baseline="0" noProof="0" smtClean="0">
                <a:ln>
                  <a:noFill/>
                </a:ln>
                <a:solidFill>
                  <a:srgbClr val="9AA0A8">
                    <a:lumMod val="75000"/>
                  </a:srgbClr>
                </a:solidFill>
                <a:effectLst/>
                <a:uLnTx/>
                <a:uFillTx/>
                <a:latin typeface="Calibri"/>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a:t>
            </a:fld>
            <a:endParaRPr kumimoji="0" lang="en-US" sz="650" b="0" i="0" u="none" strike="noStrike" kern="1200" cap="none" spc="0" normalizeH="0" baseline="0" noProof="0" dirty="0">
              <a:ln>
                <a:noFill/>
              </a:ln>
              <a:solidFill>
                <a:srgbClr val="9AA0A8">
                  <a:lumMod val="75000"/>
                </a:srgbClr>
              </a:solidFill>
              <a:effectLst/>
              <a:uLnTx/>
              <a:uFillTx/>
              <a:latin typeface="Calibri"/>
              <a:ea typeface="+mn-ea"/>
              <a:cs typeface="+mn-cs"/>
            </a:endParaRPr>
          </a:p>
        </p:txBody>
      </p:sp>
      <p:sp>
        <p:nvSpPr>
          <p:cNvPr id="3" name="Title 2">
            <a:extLst>
              <a:ext uri="{FF2B5EF4-FFF2-40B4-BE49-F238E27FC236}">
                <a16:creationId xmlns:a16="http://schemas.microsoft.com/office/drawing/2014/main" id="{F70B48FD-BCAB-43B0-9E43-EEBC7678CD2B}"/>
              </a:ext>
            </a:extLst>
          </p:cNvPr>
          <p:cNvSpPr>
            <a:spLocks noGrp="1"/>
          </p:cNvSpPr>
          <p:nvPr>
            <p:ph type="title"/>
          </p:nvPr>
        </p:nvSpPr>
        <p:spPr/>
        <p:txBody>
          <a:bodyPr/>
          <a:lstStyle/>
          <a:p>
            <a:r>
              <a:rPr lang="en-US" dirty="0"/>
              <a:t>90 day validation plan</a:t>
            </a:r>
          </a:p>
        </p:txBody>
      </p:sp>
      <p:graphicFrame>
        <p:nvGraphicFramePr>
          <p:cNvPr id="4" name="Table 180">
            <a:extLst>
              <a:ext uri="{FF2B5EF4-FFF2-40B4-BE49-F238E27FC236}">
                <a16:creationId xmlns:a16="http://schemas.microsoft.com/office/drawing/2014/main" id="{D960C524-67DE-40FF-AC14-0456E1FC8A44}"/>
              </a:ext>
            </a:extLst>
          </p:cNvPr>
          <p:cNvGraphicFramePr>
            <a:graphicFrameLocks noGrp="1"/>
          </p:cNvGraphicFramePr>
          <p:nvPr>
            <p:extLst>
              <p:ext uri="{D42A27DB-BD31-4B8C-83A1-F6EECF244321}">
                <p14:modId xmlns:p14="http://schemas.microsoft.com/office/powerpoint/2010/main" val="1227565085"/>
              </p:ext>
            </p:extLst>
          </p:nvPr>
        </p:nvGraphicFramePr>
        <p:xfrm>
          <a:off x="160021" y="603504"/>
          <a:ext cx="8823960" cy="4754880"/>
        </p:xfrm>
        <a:graphic>
          <a:graphicData uri="http://schemas.openxmlformats.org/drawingml/2006/table">
            <a:tbl>
              <a:tblPr firstRow="1" bandRow="1">
                <a:tableStyleId>{5C22544A-7EE6-4342-B048-85BDC9FD1C3A}</a:tableStyleId>
              </a:tblPr>
              <a:tblGrid>
                <a:gridCol w="1637782">
                  <a:extLst>
                    <a:ext uri="{9D8B030D-6E8A-4147-A177-3AD203B41FA5}">
                      <a16:colId xmlns:a16="http://schemas.microsoft.com/office/drawing/2014/main" val="44862911"/>
                    </a:ext>
                  </a:extLst>
                </a:gridCol>
                <a:gridCol w="7186178">
                  <a:extLst>
                    <a:ext uri="{9D8B030D-6E8A-4147-A177-3AD203B41FA5}">
                      <a16:colId xmlns:a16="http://schemas.microsoft.com/office/drawing/2014/main" val="2302682346"/>
                    </a:ext>
                  </a:extLst>
                </a:gridCol>
              </a:tblGrid>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sym typeface="Palatino Linotype"/>
                        </a:rPr>
                        <a:t>Objective</a:t>
                      </a:r>
                      <a:endParaRPr kumimoji="0" lang="en-US" sz="1000" b="1" i="0" u="none" strike="noStrike" kern="1200" cap="all" spc="0" normalizeH="0" baseline="0" noProof="0" dirty="0">
                        <a:ln>
                          <a:noFill/>
                        </a:ln>
                        <a:solidFill>
                          <a:schemeClr val="tx1"/>
                        </a:solidFill>
                        <a:effectLst/>
                        <a:uLnTx/>
                        <a:uFillTx/>
                        <a:latin typeface="+mn-lt"/>
                        <a:ea typeface="SimSun" pitchFamily="2" charset="-122"/>
                        <a:cs typeface="+mn-cs"/>
                      </a:endParaRP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Establish whether hotel owners will pay for a capex benchmark before any code is written. The test is a signed pilot, not expressed interest.</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2862030"/>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sym typeface="Palatino Linotype"/>
                        </a:rPr>
                        <a:t>Weeks 1 to 2</a:t>
                      </a:r>
                      <a:endParaRPr kumimoji="0" lang="en-US" sz="1000" b="1" i="0" u="none" strike="noStrike" kern="1200" cap="all" spc="0" normalizeH="0" baseline="0" noProof="0" dirty="0">
                        <a:ln>
                          <a:noFill/>
                        </a:ln>
                        <a:solidFill>
                          <a:schemeClr val="tx1"/>
                        </a:solidFill>
                        <a:effectLst/>
                        <a:uLnTx/>
                        <a:uFillTx/>
                        <a:latin typeface="+mn-lt"/>
                        <a:ea typeface="SimSun" pitchFamily="2" charset="-122"/>
                        <a:cs typeface="+mn-cs"/>
                      </a:endParaRP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Secure written outside business activity approval and confirm the data provenance rules that will govern every conversation that follows.</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4651638"/>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sym typeface="Palatino Linotype"/>
                        </a:rPr>
                        <a:t>Weeks 2 to 6</a:t>
                      </a:r>
                      <a:endParaRPr kumimoji="0" lang="en-US" sz="1000" b="1" i="0" u="none" strike="noStrike" kern="1200" cap="all" spc="0" normalizeH="0" baseline="0" noProof="0" dirty="0">
                        <a:ln>
                          <a:noFill/>
                        </a:ln>
                        <a:solidFill>
                          <a:schemeClr val="tx1"/>
                        </a:solidFill>
                        <a:effectLst/>
                        <a:uLnTx/>
                        <a:uFillTx/>
                        <a:latin typeface="+mn-lt"/>
                        <a:ea typeface="SimSun" pitchFamily="2" charset="-122"/>
                        <a:cs typeface="+mn-cs"/>
                      </a:endParaRP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Run 15 to 20 structured discovery calls with owner-side asset managers, using the discovery guide accompanying this deck. Target a mix of 10+ hotel institutional owners and 3 to 9 hotel mid-market owners.</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22151558"/>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Weeks 4 to 8</a:t>
                      </a: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Hand build the benchmark for two owners as an Excel deliverable, using capex history they provide. The objective is to learn what an asset manager actually looks at, not to produce a scalable artefact.</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4385601"/>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Weeks 6 to 10</a:t>
                      </a: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Convert two to three of those owners to paid pilots at $2,000 to $5,000 per month. A pilot that cannot be priced is a reference call, not validation.</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5636848"/>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Weeks 8 to 12</a:t>
                      </a: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Negotiate contributory data agreements with the first cohort, granting the product free in perpetuity in exchange for historical project data and the right to use it in anonymised benchmarks.</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7288336"/>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Weeks 10 to 12</a:t>
                      </a: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Begin technical cofounder recruiting, on the strength of paying pilots and signed data agreements rather than on the concept.</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7295179"/>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Kill criteria</a:t>
                      </a: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Fewer than 3 of 20 owners will share capex history; or no owner will pay for the hand-built version; or the sample reveals capex scope is too heterogeneous to normalise. Any one of these should stop the project.</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1887583"/>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Budget</a:t>
                      </a: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Under $15,000, covering travel, entity formation, legal review of the data agreements and one industry conference.</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8920285"/>
                  </a:ext>
                </a:extLst>
              </a:tr>
              <a:tr h="475488">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Deliverable at day 90</a:t>
                      </a:r>
                    </a:p>
                  </a:txBody>
                  <a:tcPr marL="45720" marR="45720" marT="9144" marB="9144"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defTabSz="914290" rtl="0" eaLnBrk="1" latinLnBrk="0" hangingPunct="1">
                        <a:lnSpc>
                          <a:spcPct val="90000"/>
                        </a:lnSpc>
                        <a:spcBef>
                          <a:spcPts val="0"/>
                        </a:spcBef>
                        <a:spcAft>
                          <a:spcPts val="200"/>
                        </a:spcAft>
                        <a:buClr>
                          <a:schemeClr val="accent2"/>
                        </a:buClr>
                        <a:buSzPct val="90000"/>
                        <a:buFont typeface="Arial" panose="020B0604020202020204" pitchFamily="34" charset="0"/>
                        <a:buChar char="•"/>
                      </a:pPr>
                      <a:r>
                        <a:rPr lang="en-US" sz="1000" b="0" u="none" kern="0" spc="0" baseline="0" dirty="0">
                          <a:solidFill>
                            <a:schemeClr val="tx1"/>
                          </a:solidFill>
                          <a:latin typeface="+mn-lt"/>
                          <a:ea typeface="+mn-ea"/>
                          <a:cs typeface="+mn-cs"/>
                        </a:rPr>
                        <a:t>Two to three paying pilots, 15+ discovery transcripts, a normalised schema for capex scope, and a defensible answer on whether the dataset can be assembled at all.</a:t>
                      </a:r>
                    </a:p>
                  </a:txBody>
                  <a:tcPr marL="36576" marR="0" marT="0" marB="0" anchor="ctr">
                    <a:lnL w="12700" cmpd="sng">
                      <a:noFill/>
                    </a:lnL>
                    <a:lnR w="19050" cap="flat" cmpd="sng" algn="ctr">
                      <a:noFill/>
                      <a:prstDash val="solid"/>
                      <a:round/>
                      <a:headEnd type="none" w="med" len="med"/>
                      <a:tailEnd type="none" w="med" len="med"/>
                    </a:lnR>
                    <a:lnT w="9525" cap="flat" cmpd="sng" algn="ctr">
                      <a:solidFill>
                        <a:srgbClr val="A0ABB4"/>
                      </a:solidFill>
                      <a:prstDash val="solid"/>
                      <a:round/>
                      <a:headEnd type="none" w="med" len="med"/>
                      <a:tailEnd type="none" w="med" len="med"/>
                    </a:lnT>
                    <a:lnB w="9525" cap="flat" cmpd="sng" algn="ctr">
                      <a:solidFill>
                        <a:srgbClr val="A0ABB4"/>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9229808"/>
                  </a:ext>
                </a:extLst>
              </a:tr>
            </a:tbl>
          </a:graphicData>
        </a:graphic>
      </p:graphicFrame>
    </p:spTree>
    <p:extLst>
      <p:ext uri="{BB962C8B-B14F-4D97-AF65-F5344CB8AC3E}">
        <p14:creationId xmlns:p14="http://schemas.microsoft.com/office/powerpoint/2010/main" val="4243021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81032-6B85-2495-FDD6-0011A393CD8A}"/>
            </a:ext>
          </a:extLst>
        </p:cNvPr>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01FAE7C-C0A8-E57B-C637-6A563090AB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8" imgH="408" progId="TCLayout.ActiveDocument.1">
                  <p:embed/>
                </p:oleObj>
              </mc:Choice>
              <mc:Fallback>
                <p:oleObj name="think-cell Slide" r:id="rId4" imgW="408" imgH="408" progId="TCLayout.ActiveDocument.1">
                  <p:embed/>
                  <p:pic>
                    <p:nvPicPr>
                      <p:cNvPr id="5" name="Object 4" hidden="1">
                        <a:extLst>
                          <a:ext uri="{FF2B5EF4-FFF2-40B4-BE49-F238E27FC236}">
                            <a16:creationId xmlns:a16="http://schemas.microsoft.com/office/drawing/2014/main" id="{CE2B5443-8077-7BE7-1D10-9376716B667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F9EC298-B22D-3D43-9B16-518D797D79D2}"/>
              </a:ext>
            </a:extLst>
          </p:cNvPr>
          <p:cNvSpPr/>
          <p:nvPr>
            <p:custDataLst>
              <p:tags r:id="rId2"/>
            </p:custDataLst>
          </p:nvPr>
        </p:nvSpPr>
        <p:spPr>
          <a:xfrm>
            <a:off x="0" y="0"/>
            <a:ext cx="158750" cy="158750"/>
          </a:xfrm>
          <a:prstGeom prst="rect">
            <a:avLst/>
          </a:prstGeom>
          <a:solidFill>
            <a:schemeClr val="bg2"/>
          </a:solidFill>
          <a:ln w="9525">
            <a:solidFill>
              <a:srgbClr val="C33154"/>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kern="0" dirty="0">
              <a:solidFill>
                <a:schemeClr val="tx1"/>
              </a:solidFill>
              <a:latin typeface="Calibri" panose="020F0502020204030204" pitchFamily="34" charset="0"/>
              <a:ea typeface="+mj-ea"/>
              <a:cs typeface="+mj-cs"/>
              <a:sym typeface="Calibri" panose="020F0502020204030204" pitchFamily="34" charset="0"/>
            </a:endParaRPr>
          </a:p>
        </p:txBody>
      </p:sp>
      <p:sp>
        <p:nvSpPr>
          <p:cNvPr id="4" name="Title 3">
            <a:extLst>
              <a:ext uri="{FF2B5EF4-FFF2-40B4-BE49-F238E27FC236}">
                <a16:creationId xmlns:a16="http://schemas.microsoft.com/office/drawing/2014/main" id="{534B8DDA-AFAC-09FA-BD1F-FC9DD4B59DC8}"/>
              </a:ext>
            </a:extLst>
          </p:cNvPr>
          <p:cNvSpPr>
            <a:spLocks noGrp="1"/>
          </p:cNvSpPr>
          <p:nvPr>
            <p:ph type="title"/>
          </p:nvPr>
        </p:nvSpPr>
        <p:spPr/>
        <p:txBody>
          <a:bodyPr/>
          <a:lstStyle/>
          <a:p>
            <a:r>
              <a:rPr lang="en-US" dirty="0"/>
              <a:t>What this needs next</a:t>
            </a:r>
          </a:p>
        </p:txBody>
      </p:sp>
      <p:sp>
        <p:nvSpPr>
          <p:cNvPr id="11" name="Slide Number Placeholder 1">
            <a:extLst>
              <a:ext uri="{FF2B5EF4-FFF2-40B4-BE49-F238E27FC236}">
                <a16:creationId xmlns:a16="http://schemas.microsoft.com/office/drawing/2014/main" id="{1C2ECBD9-90AE-D94B-945E-08D7D21B441F}"/>
              </a:ext>
            </a:extLst>
          </p:cNvPr>
          <p:cNvSpPr>
            <a:spLocks noGrp="1"/>
          </p:cNvSpPr>
          <p:nvPr>
            <p:ph type="sldNum" sz="quarter" idx="4"/>
          </p:nvPr>
        </p:nvSpPr>
        <p:spPr>
          <a:xfrm>
            <a:off x="8756374" y="6529556"/>
            <a:ext cx="227606" cy="137160"/>
          </a:xfrm>
        </p:spPr>
        <p:txBody>
          <a:bodyPr/>
          <a:lstStyle/>
          <a:p>
            <a:fld id="{C094185C-1F9E-4EDB-A688-258533A03247}" type="slidenum">
              <a:rPr lang="en-US" smtClean="0"/>
              <a:pPr/>
              <a:t>4</a:t>
            </a:fld>
            <a:endParaRPr lang="en-US" dirty="0"/>
          </a:p>
        </p:txBody>
      </p:sp>
      <p:graphicFrame>
        <p:nvGraphicFramePr>
          <p:cNvPr id="7" name="Table 180">
            <a:extLst>
              <a:ext uri="{FF2B5EF4-FFF2-40B4-BE49-F238E27FC236}">
                <a16:creationId xmlns:a16="http://schemas.microsoft.com/office/drawing/2014/main" id="{A6360193-9A36-D331-7C7A-8D01B3484A7A}"/>
              </a:ext>
            </a:extLst>
          </p:cNvPr>
          <p:cNvGraphicFramePr>
            <a:graphicFrameLocks noGrp="1"/>
          </p:cNvGraphicFramePr>
          <p:nvPr>
            <p:extLst>
              <p:ext uri="{D42A27DB-BD31-4B8C-83A1-F6EECF244321}">
                <p14:modId xmlns:p14="http://schemas.microsoft.com/office/powerpoint/2010/main" val="2583439606"/>
              </p:ext>
            </p:extLst>
          </p:nvPr>
        </p:nvGraphicFramePr>
        <p:xfrm>
          <a:off x="160020" y="603504"/>
          <a:ext cx="8823960" cy="5852160"/>
        </p:xfrm>
        <a:graphic>
          <a:graphicData uri="http://schemas.openxmlformats.org/drawingml/2006/table">
            <a:tbl>
              <a:tblPr firstRow="1" bandRow="1">
                <a:tableStyleId>{5C22544A-7EE6-4342-B048-85BDC9FD1C3A}</a:tableStyleId>
              </a:tblPr>
              <a:tblGrid>
                <a:gridCol w="949318">
                  <a:extLst>
                    <a:ext uri="{9D8B030D-6E8A-4147-A177-3AD203B41FA5}">
                      <a16:colId xmlns:a16="http://schemas.microsoft.com/office/drawing/2014/main" val="44862911"/>
                    </a:ext>
                  </a:extLst>
                </a:gridCol>
                <a:gridCol w="7874642">
                  <a:extLst>
                    <a:ext uri="{9D8B030D-6E8A-4147-A177-3AD203B41FA5}">
                      <a16:colId xmlns:a16="http://schemas.microsoft.com/office/drawing/2014/main" val="2302682346"/>
                    </a:ext>
                  </a:extLst>
                </a:gridCol>
              </a:tblGrid>
              <a:tr h="3402439">
                <a:tc>
                  <a:txBody>
                    <a:bodyPr/>
                    <a:lstStyle/>
                    <a:p>
                      <a:pPr marL="0" marR="0" lvl="0" indent="0" algn="l" defTabSz="914290" rtl="0" eaLnBrk="1" fontAlgn="ctr" latinLnBrk="0" hangingPunct="1">
                        <a:lnSpc>
                          <a:spcPct val="9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80808"/>
                          </a:solidFill>
                          <a:effectLst/>
                          <a:uLnTx/>
                          <a:uFillTx/>
                          <a:latin typeface="Calibri"/>
                          <a:ea typeface="SimSun" pitchFamily="2" charset="-122"/>
                          <a:cs typeface="+mn-cs"/>
                        </a:rPr>
                        <a:t>The ask</a:t>
                      </a:r>
                      <a:endParaRPr lang="en-US" sz="1000" b="1" cap="all" dirty="0">
                        <a:solidFill>
                          <a:schemeClr val="tx1"/>
                        </a:solidFill>
                        <a:latin typeface="+mj-lt"/>
                        <a:ea typeface="SimSun" pitchFamily="2" charset="-122"/>
                      </a:endParaRPr>
                    </a:p>
                  </a:txBody>
                  <a:tcPr marL="45720" marR="45720" marT="9144" marB="9144"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The technical cofounder profile</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Data ingestion at scale, not general engineering:</a:t>
                      </a:r>
                      <a:r>
                        <a:rPr lang="en-US" sz="1000" b="0" u="none" kern="0" spc="0" baseline="0" dirty="0">
                          <a:solidFill>
                            <a:schemeClr val="tx1"/>
                          </a:solidFill>
                          <a:latin typeface="+mn-lt"/>
                          <a:ea typeface="+mn-ea"/>
                          <a:cs typeface="+mn-cs"/>
                        </a:rPr>
                        <a:t> we believe the right profile has built normalisation pipelines over messy third-party documents, because the core technical problem is turning inconsistent PIP scopes and invoices into a comparable schema, and not building an application.</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Recruit against traction, not against the idea:</a:t>
                      </a:r>
                      <a:r>
                        <a:rPr lang="en-US" sz="1000" b="0" u="none" kern="0" spc="0" baseline="0" dirty="0">
                          <a:solidFill>
                            <a:schemeClr val="tx1"/>
                          </a:solidFill>
                          <a:latin typeface="+mn-lt"/>
                          <a:ea typeface="+mn-ea"/>
                          <a:cs typeface="+mn-cs"/>
                        </a:rPr>
                        <a:t> we think the pitch converts only once two to three paying pilots and signed contributory data agreements exist, at which point the founder is offering distribution rather than a concept.</a:t>
                      </a:r>
                    </a:p>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The interim path if a cofounder is not found</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Fractional engineering leadership plus a contract team:</a:t>
                      </a:r>
                      <a:r>
                        <a:rPr lang="en-US" sz="1000" b="0" u="none" kern="0" spc="0" baseline="0" dirty="0">
                          <a:solidFill>
                            <a:schemeClr val="tx1"/>
                          </a:solidFill>
                          <a:latin typeface="+mn-lt"/>
                          <a:ea typeface="+mn-ea"/>
                          <a:cs typeface="+mn-cs"/>
                        </a:rPr>
                        <a:t> this bridges to a first product for roughly $150,000 to $300,000, and we view it as workable but inferior, because it carries technical debt and weakens the equity story at the seed round.</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Founder-built prototype:</a:t>
                      </a:r>
                      <a:r>
                        <a:rPr lang="en-US" sz="1000" b="0" u="none" kern="0" spc="0" baseline="0" dirty="0">
                          <a:solidFill>
                            <a:schemeClr val="tx1"/>
                          </a:solidFill>
                          <a:latin typeface="+mn-lt"/>
                          <a:ea typeface="+mn-ea"/>
                          <a:cs typeface="+mn-cs"/>
                        </a:rPr>
                        <a:t> AI-assisted tooling now makes a credible reporting prototype achievable without a coding background, and we think it is worth doing purely to have an artefact in front of an owner. It should not be mistaken for the company.</a:t>
                      </a:r>
                    </a:p>
                    <a:p>
                      <a:pPr marL="152400" indent="-152400" algn="just" defTabSz="914290" rtl="0" eaLnBrk="1" latinLnBrk="0" hangingPunct="1">
                        <a:lnSpc>
                          <a:spcPct val="90000"/>
                        </a:lnSpc>
                        <a:spcBef>
                          <a:spcPts val="300"/>
                        </a:spcBef>
                        <a:spcAft>
                          <a:spcPts val="0"/>
                        </a:spcAft>
                        <a:buClr>
                          <a:schemeClr val="accent2"/>
                        </a:buClr>
                        <a:buSzPct val="90000"/>
                        <a:buFont typeface="Calibri" panose="020F0502020204030204" pitchFamily="34" charset="0"/>
                        <a:buChar char="•"/>
                      </a:pPr>
                      <a:r>
                        <a:rPr lang="en-US" sz="1000" b="1" u="sng" kern="0" spc="0" baseline="0" dirty="0">
                          <a:solidFill>
                            <a:schemeClr val="tx1"/>
                          </a:solidFill>
                          <a:latin typeface="+mn-lt"/>
                          <a:ea typeface="+mn-ea"/>
                          <a:cs typeface="+mn-cs"/>
                        </a:rPr>
                        <a:t>What would change the recommendation</a:t>
                      </a:r>
                      <a:endParaRPr kumimoji="0" lang="en-US" sz="1000" b="1" i="0" u="none" strike="noStrike" kern="0" cap="none" spc="0" normalizeH="0" baseline="0" noProof="0" dirty="0">
                        <a:ln>
                          <a:noFill/>
                        </a:ln>
                        <a:solidFill>
                          <a:schemeClr val="tx1"/>
                        </a:solidFill>
                        <a:effectLst/>
                        <a:uLnTx/>
                        <a:uFillTx/>
                        <a:latin typeface="+mn-lt"/>
                        <a:ea typeface="+mn-ea"/>
                        <a:cs typeface="+mn-cs"/>
                      </a:endParaRP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Evidence the data cannot be normalised:</a:t>
                      </a:r>
                      <a:r>
                        <a:rPr lang="en-US" sz="1000" b="0" u="none" kern="0" spc="0" baseline="0" dirty="0">
                          <a:solidFill>
                            <a:schemeClr val="tx1"/>
                          </a:solidFill>
                          <a:latin typeface="+mn-lt"/>
                          <a:ea typeface="+mn-ea"/>
                          <a:cs typeface="+mn-cs"/>
                        </a:rPr>
                        <a:t> if PIP scopes prove too heterogeneous to compare across brands and vintages, the benchmark thesis fails and the mid-market owner reporting adjacency becomes the better use of the same relationships.</a:t>
                      </a:r>
                    </a:p>
                    <a:p>
                      <a:pPr marL="301625" marR="0" lvl="0" indent="-171450" algn="just" defTabSz="914290" rtl="0" eaLnBrk="1" fontAlgn="auto" latinLnBrk="0" hangingPunct="1">
                        <a:lnSpc>
                          <a:spcPct val="90000"/>
                        </a:lnSpc>
                        <a:spcBef>
                          <a:spcPts val="300"/>
                        </a:spcBef>
                        <a:spcAft>
                          <a:spcPts val="300"/>
                        </a:spcAft>
                        <a:buClr>
                          <a:srgbClr val="9AA0A8"/>
                        </a:buClr>
                        <a:buSzPct val="90000"/>
                        <a:buFont typeface="Calibri" panose="020F0502020204030204" pitchFamily="34" charset="0"/>
                        <a:buChar char="–"/>
                        <a:tabLst/>
                        <a:defRPr/>
                      </a:pPr>
                      <a:r>
                        <a:rPr lang="en-US" sz="1000" b="1" u="none" kern="0" spc="0" baseline="0" dirty="0">
                          <a:solidFill>
                            <a:schemeClr val="tx1"/>
                          </a:solidFill>
                          <a:latin typeface="+mn-lt"/>
                          <a:ea typeface="+mn-ea"/>
                          <a:cs typeface="+mn-cs"/>
                        </a:rPr>
                        <a:t>An incumbent moving first:</a:t>
                      </a:r>
                      <a:r>
                        <a:rPr lang="en-US" sz="1000" b="0" u="none" kern="0" spc="0" baseline="0" dirty="0">
                          <a:solidFill>
                            <a:schemeClr val="tx1"/>
                          </a:solidFill>
                          <a:latin typeface="+mn-lt"/>
                          <a:ea typeface="+mn-ea"/>
                          <a:cs typeface="+mn-cs"/>
                        </a:rPr>
                        <a:t> we view STR and CoStar as the genuine threat, because they already hold the contributory relationships on the revenue side and could extend to the cost side. We think this argues for speed on data agreements over polish on product.</a:t>
                      </a:r>
                    </a:p>
                  </a:txBody>
                  <a:tcPr marL="36000" marR="36000" marT="91440" marB="91440" anchor="ctr">
                    <a:lnL w="12700" cmpd="sng">
                      <a:noFill/>
                    </a:lnL>
                    <a:lnR w="190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5079713"/>
                  </a:ext>
                </a:extLst>
              </a:tr>
            </a:tbl>
          </a:graphicData>
        </a:graphic>
      </p:graphicFrame>
    </p:spTree>
    <p:extLst>
      <p:ext uri="{BB962C8B-B14F-4D97-AF65-F5344CB8AC3E}">
        <p14:creationId xmlns:p14="http://schemas.microsoft.com/office/powerpoint/2010/main" val="18148600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3QjBn36IlmakLOydlmrMU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BcTxco_DJePb7QM8CaiXXw"/>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xaPe389JG4wDjX42A4sX5A"/>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DqlJIGyxVQBr5u4qx6oSD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gyq5JShXR3_QAH6U7holg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BcTxco_DJePb7QM8CaiXX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Pir8Z.cDvxW6VE9mfwnA.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Pir8Z.cDvxW6VE9mfwnA.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__210501_Sixth Street PRINT">
  <a:themeElements>
    <a:clrScheme name="Sixth Street and TSLX_PRINT">
      <a:dk1>
        <a:srgbClr val="080808"/>
      </a:dk1>
      <a:lt1>
        <a:srgbClr val="FEFEFE"/>
      </a:lt1>
      <a:dk2>
        <a:srgbClr val="D9DDE1"/>
      </a:dk2>
      <a:lt2>
        <a:srgbClr val="ECEEF0"/>
      </a:lt2>
      <a:accent1>
        <a:srgbClr val="005587"/>
      </a:accent1>
      <a:accent2>
        <a:srgbClr val="9AA0A8"/>
      </a:accent2>
      <a:accent3>
        <a:srgbClr val="004E59"/>
      </a:accent3>
      <a:accent4>
        <a:srgbClr val="44797B"/>
      </a:accent4>
      <a:accent5>
        <a:srgbClr val="4CA585"/>
      </a:accent5>
      <a:accent6>
        <a:srgbClr val="6595AD"/>
      </a:accent6>
      <a:hlink>
        <a:srgbClr val="15C2FF"/>
      </a:hlink>
      <a:folHlink>
        <a:srgbClr val="CC6601"/>
      </a:folHlink>
    </a:clrScheme>
    <a:fontScheme name="Sixth Street and TSLX">
      <a:majorFont>
        <a:latin typeface="Calibri"/>
        <a:ea typeface=""/>
        <a:cs typeface=""/>
      </a:majorFont>
      <a:minorFont>
        <a:latin typeface="Calibri"/>
        <a:ea typeface=""/>
        <a:cs typeface=""/>
      </a:minorFont>
    </a:fontScheme>
    <a:fmtScheme name="Screen">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lin ang="5400000" scaled="0"/>
        </a:gradFill>
        <a:gradFill rotWithShape="1">
          <a:gsLst>
            <a:gs pos="0">
              <a:schemeClr val="phClr">
                <a:shade val="10000"/>
                <a:hueMod val="100000"/>
                <a:satMod val="100000"/>
                <a:lumMod val="125000"/>
              </a:schemeClr>
            </a:gs>
            <a:gs pos="50000">
              <a:schemeClr val="phClr">
                <a:tint val="100000"/>
                <a:shade val="100000"/>
                <a:hueMod val="99000"/>
                <a:satMod val="120000"/>
                <a:lumMod val="100000"/>
              </a:schemeClr>
            </a:gs>
            <a:gs pos="100000">
              <a:schemeClr val="phClr">
                <a:tint val="100000"/>
                <a:shade val="10000"/>
                <a:hueMod val="100000"/>
                <a:satMod val="100000"/>
                <a:lumMod val="125000"/>
              </a:schemeClr>
            </a:gs>
          </a:gsLst>
          <a:lin ang="18900000" scaled="0"/>
        </a:gradFill>
      </a:fillStyleLst>
      <a:lnStyleLst>
        <a:ln w="12700" cap="sq" cmpd="sng" algn="ctr">
          <a:solidFill>
            <a:schemeClr val="phClr">
              <a:tint val="95000"/>
              <a:satMod val="150000"/>
              <a:lumMod val="150000"/>
            </a:schemeClr>
          </a:solidFill>
          <a:prstDash val="solid"/>
        </a:ln>
        <a:ln w="12700" cap="sq" cmpd="sng" algn="ctr">
          <a:solidFill>
            <a:schemeClr val="phClr">
              <a:tint val="92000"/>
              <a:satMod val="250000"/>
              <a:lumMod val="165000"/>
            </a:schemeClr>
          </a:solidFill>
          <a:prstDash val="solid"/>
        </a:ln>
        <a:ln w="28575" cap="sq" cmpd="sng" algn="ctr">
          <a:solidFill>
            <a:schemeClr val="phClr">
              <a:satMod val="115000"/>
              <a:lumMod val="150000"/>
            </a:schemeClr>
          </a:solidFill>
          <a:prstDash val="solid"/>
        </a:ln>
      </a:lnStyleLst>
      <a:effectStyleLst>
        <a:effectStyle>
          <a:effectLst/>
        </a:effectStyle>
        <a:effectStyle>
          <a:effectLst/>
        </a:effectStyle>
        <a:effectStyle>
          <a:effectLst>
            <a:outerShdw blurRad="38100" dist="25400" dir="2700000" algn="br" rotWithShape="0">
              <a:srgbClr val="000000">
                <a:alpha val="60000"/>
              </a:srgbClr>
            </a:outerShdw>
          </a:effectLst>
        </a:effectStyle>
      </a:effectStyleLst>
      <a:bgFillStyleLst>
        <a:solidFill>
          <a:schemeClr val="phClr"/>
        </a:solidFill>
        <a:gradFill>
          <a:gsLst>
            <a:gs pos="0">
              <a:schemeClr val="phClr">
                <a:tint val="100000"/>
                <a:shade val="100000"/>
                <a:hueMod val="100000"/>
                <a:satMod val="100000"/>
                <a:lumMod val="100000"/>
              </a:schemeClr>
            </a:gs>
            <a:gs pos="25000">
              <a:schemeClr val="phClr">
                <a:tint val="100000"/>
                <a:shade val="75000"/>
                <a:satMod val="100000"/>
              </a:schemeClr>
            </a:gs>
            <a:gs pos="100000">
              <a:schemeClr val="phClr">
                <a:shade val="50000"/>
                <a:satMod val="175000"/>
              </a:schemeClr>
            </a:gs>
            <a:gs pos="100000">
              <a:schemeClr val="phClr">
                <a:shade val="25000"/>
                <a:satMod val="175000"/>
              </a:schemeClr>
            </a:gs>
          </a:gsLst>
          <a:lin ang="600000" scaled="0"/>
        </a:gradFill>
        <a:blipFill rotWithShape="1">
          <a:blip xmlns:r="http://schemas.openxmlformats.org/officeDocument/2006/relationships" r:embed="rId1"/>
          <a:stretch/>
        </a:blipFill>
      </a:bgFillStyleLst>
    </a:fmtScheme>
  </a:themeElements>
  <a:objectDefaults>
    <a:spDef>
      <a:spPr>
        <a:solidFill>
          <a:schemeClr val="bg2"/>
        </a:solidFill>
        <a:ln w="9525">
          <a:solidFill>
            <a:srgbClr val="C33154"/>
          </a:solidFill>
        </a:ln>
      </a:spPr>
      <a:bodyPr lIns="45720" rIns="45720" rtlCol="0" anchor="ctr"/>
      <a:lstStyle>
        <a:defPPr algn="ctr">
          <a:defRPr kern="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sq">
          <a:solidFill>
            <a:srgbClr val="969695"/>
          </a:solidFill>
          <a:prstDash val="solid"/>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chorCtr="0">
        <a:spAutoFit/>
      </a:bodyPr>
      <a:lstStyle>
        <a:defPPr>
          <a:lnSpc>
            <a:spcPct val="90000"/>
          </a:lnSpc>
          <a:spcAft>
            <a:spcPts val="200"/>
          </a:spcAft>
          <a:defRPr sz="1600" spc="0" dirty="0" smtClean="0"/>
        </a:defPPr>
      </a:lstStyle>
    </a:txDef>
  </a:objectDefaults>
  <a:extraClrSchemeLst/>
  <a:custClrLst>
    <a:custClr name="Absolute White">
      <a:srgbClr val="FEFFFF"/>
    </a:custClr>
    <a:custClr name="Active Tab PRINT">
      <a:srgbClr val="0E2E51"/>
    </a:custClr>
    <a:custClr name="Table Main Border">
      <a:srgbClr val="A0ABB4"/>
    </a:custClr>
    <a:custClr name="Text Over Color">
      <a:srgbClr val="F8F8F8"/>
    </a:custClr>
    <a:custClr name="Line 1">
      <a:srgbClr val="006AA9"/>
    </a:custClr>
    <a:custClr name="Line 2">
      <a:srgbClr val="858D97"/>
    </a:custClr>
    <a:custClr name="Line 3">
      <a:srgbClr val="006573"/>
    </a:custClr>
    <a:custClr name="Line 4">
      <a:srgbClr val="9CB9BB"/>
    </a:custClr>
    <a:custClr name="Line 5">
      <a:srgbClr val="77C3A8"/>
    </a:custClr>
    <a:custClr name="Line 6">
      <a:srgbClr val="96BDCF"/>
    </a:custClr>
    <a:custClr name="Absolute Black">
      <a:srgbClr val="050000"/>
    </a:custClr>
    <a:custClr name="Active Tab SCREEN">
      <a:srgbClr val="005688"/>
    </a:custClr>
    <a:custClr name="Conclusion Box">
      <a:srgbClr val="0F2F51"/>
    </a:custClr>
    <a:custClr name="Red 1">
      <a:srgbClr val="A82800"/>
    </a:custClr>
    <a:custClr name="Accent Blue">
      <a:srgbClr val="003E64"/>
    </a:custClr>
    <a:custClr name="Accent Gray">
      <a:srgbClr val="4C5158"/>
    </a:custClr>
    <a:custClr name="Accent Cyprus">
      <a:srgbClr val="00353C"/>
    </a:custClr>
    <a:custClr name="Accent Casal">
      <a:srgbClr val="296366"/>
    </a:custClr>
    <a:custClr name="Accent Sea Green">
      <a:srgbClr val="2F8E6D"/>
    </a:custClr>
    <a:custClr name="Accent Ocean Deep">
      <a:srgbClr val="417791"/>
    </a:custClr>
    <a:custClr name="Highlight PRINT">
      <a:srgbClr val="4179BD"/>
    </a:custClr>
    <a:custClr name="Highlight SCREEN">
      <a:srgbClr val="C58C3E"/>
    </a:custClr>
    <a:custClr name="Highlight Purple">
      <a:srgbClr val="595378"/>
    </a:custClr>
    <a:custClr name="Red 2">
      <a:srgbClr val="771D00"/>
    </a:custClr>
    <a:custClr name="Placeholder">
      <a:srgbClr val="F7F8F9"/>
    </a:custClr>
    <a:custClr name="Placeholder">
      <a:srgbClr val="F7F8F9"/>
    </a:custClr>
    <a:custClr name="Placeholder">
      <a:srgbClr val="F7F8F9"/>
    </a:custClr>
    <a:custClr name="Placeholder">
      <a:srgbClr val="F7F8F9"/>
    </a:custClr>
    <a:custClr name="Placeholder">
      <a:srgbClr val="F7F8F9"/>
    </a:custClr>
    <a:custClr name="Placeholder">
      <a:srgbClr val="F7F8F9"/>
    </a:custClr>
  </a:custClrLst>
  <a:extLst>
    <a:ext uri="{05A4C25C-085E-4340-85A3-A5531E510DB2}">
      <thm15:themeFamily xmlns:thm15="http://schemas.microsoft.com/office/thememl/2012/main" name="__210501_Sixth Street PRINT" id="{A50BB74A-157F-457E-B35D-FD9C6365CD38}" vid="{6A10F1F2-40AF-4DC0-8CCC-0A8078FC6F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39085</TotalTime>
  <Words>16380</Words>
  <Application>Microsoft Office PowerPoint</Application>
  <PresentationFormat>On-screen Show (4:3)</PresentationFormat>
  <Paragraphs>1519</Paragraphs>
  <Slides>64</Slides>
  <Notes>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64</vt:i4>
      </vt:variant>
    </vt:vector>
  </HeadingPairs>
  <TitlesOfParts>
    <vt:vector size="72" baseType="lpstr">
      <vt:lpstr>Arial</vt:lpstr>
      <vt:lpstr>Calibri</vt:lpstr>
      <vt:lpstr>Cambria Math</vt:lpstr>
      <vt:lpstr>Georgia</vt:lpstr>
      <vt:lpstr>Wingdings</vt:lpstr>
      <vt:lpstr>Wingdings 3</vt:lpstr>
      <vt:lpstr>__210501_Sixth Street PRINT</vt:lpstr>
      <vt:lpstr>think-cell Slide</vt:lpstr>
      <vt:lpstr>Crystal springs resort</vt:lpstr>
      <vt:lpstr>Executive summary (1 of 2)</vt:lpstr>
      <vt:lpstr>Executive summary (2 of 2)</vt:lpstr>
      <vt:lpstr>Investment Highlights &amp; Concerns (1 of 3)</vt:lpstr>
      <vt:lpstr>Investment Highlights &amp; Concerns (2 of 3)</vt:lpstr>
      <vt:lpstr>Investment Highlights &amp; Concerns (3 of 3)</vt:lpstr>
      <vt:lpstr>Key loan terms</vt:lpstr>
      <vt:lpstr>Key intercreditor agreement terms</vt:lpstr>
      <vt:lpstr>Sources &amp; uses</vt:lpstr>
      <vt:lpstr>Sponsorship summary</vt:lpstr>
      <vt:lpstr>Asset overview</vt:lpstr>
      <vt:lpstr>Asset location</vt:lpstr>
      <vt:lpstr>site map</vt:lpstr>
      <vt:lpstr>Grand cascade lodge photos</vt:lpstr>
      <vt:lpstr>Minerals hotel lodge photos</vt:lpstr>
      <vt:lpstr>Property Amenity photos</vt:lpstr>
      <vt:lpstr>Condo hotel overview</vt:lpstr>
      <vt:lpstr>Condo owner unit economics</vt:lpstr>
      <vt:lpstr>Condo structure quick Hits (1 of 2)</vt:lpstr>
      <vt:lpstr>Condo structure Quick hits (2 of 2)</vt:lpstr>
      <vt:lpstr>Hotel operator Ability to Influence</vt:lpstr>
      <vt:lpstr>Rental management agreement key terms</vt:lpstr>
      <vt:lpstr>Hoa governing documents key terms</vt:lpstr>
      <vt:lpstr>Management agreement rollover schedule</vt:lpstr>
      <vt:lpstr>Food &amp; beverage outlet overview</vt:lpstr>
      <vt:lpstr>Golf course overview</vt:lpstr>
      <vt:lpstr>Northern new jersey Market overview</vt:lpstr>
      <vt:lpstr>Hotel market overview</vt:lpstr>
      <vt:lpstr>Drive to leisure demand trends</vt:lpstr>
      <vt:lpstr>Competitive set analysis – Grand Cascades Lodge</vt:lpstr>
      <vt:lpstr>Competitive set analysis – Minerals Hotel</vt:lpstr>
      <vt:lpstr>New jersey golf course market overview</vt:lpstr>
      <vt:lpstr>Sixth street underwritten noi multiple build-up</vt:lpstr>
      <vt:lpstr>Historical cash flows</vt:lpstr>
      <vt:lpstr>Historical cash flows &amp; sixth street proforma</vt:lpstr>
      <vt:lpstr>Aggregate Hotel historical financials &amp; proforma</vt:lpstr>
      <vt:lpstr>F&amp;B historical financials &amp; proforma </vt:lpstr>
      <vt:lpstr>Golf course historical financials &amp; proforma </vt:lpstr>
      <vt:lpstr>Hotel Sensitivity analyses</vt:lpstr>
      <vt:lpstr>F&amp;B sensitivity analysis</vt:lpstr>
      <vt:lpstr>Golf sensitivity analysis</vt:lpstr>
      <vt:lpstr>property sensitivity analyses</vt:lpstr>
      <vt:lpstr>On the books revenue comparison</vt:lpstr>
      <vt:lpstr>Hotel demand segment distribution</vt:lpstr>
      <vt:lpstr>golf course demand segment distribution</vt:lpstr>
      <vt:lpstr>Golf resort sale comparables</vt:lpstr>
      <vt:lpstr>Condo hotel sale comparables</vt:lpstr>
      <vt:lpstr>Golf course sale comparables</vt:lpstr>
      <vt:lpstr>Instrument CM rating</vt:lpstr>
      <vt:lpstr>Hospitality Pricing comparables</vt:lpstr>
      <vt:lpstr>Non-hospitality Pricing comparables</vt:lpstr>
      <vt:lpstr>Whole business securitization Pricing comparables</vt:lpstr>
      <vt:lpstr>Appendix a: Condo owner participation cash flow sweep analysis</vt:lpstr>
      <vt:lpstr>Appendix b: condo owner usage schedule</vt:lpstr>
      <vt:lpstr>Appendix c: annual cash flow - Base case</vt:lpstr>
      <vt:lpstr>Appendix c: annual cash flow - rental at 80%</vt:lpstr>
      <vt:lpstr>Appendix c: annual cash flow - rental participation at 75%</vt:lpstr>
      <vt:lpstr>Appendix d: Grand cascades historical financials &amp; proforma</vt:lpstr>
      <vt:lpstr>Appendix d: Minerals Hotel historical financials &amp; proforma</vt:lpstr>
      <vt:lpstr>appendix e: top group accounts</vt:lpstr>
      <vt:lpstr>appendix f: condo unit sales</vt:lpstr>
      <vt:lpstr>appendix g: condo unit concentration</vt:lpstr>
      <vt:lpstr>Appendix h: Planned Capital expenditure overview</vt:lpstr>
      <vt:lpstr>Appendix i: Ri Diligence – MaSH-3776991 / deal Code: 344498 </vt:lpstr>
    </vt:vector>
  </TitlesOfParts>
  <Company>Sixth Street Partners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Crystal Springs Resort_IC Memo</dc:title>
  <dc:creator>Steele, Jon</dc:creator>
  <cp:lastModifiedBy>Russell, Charlie</cp:lastModifiedBy>
  <cp:revision>915</cp:revision>
  <cp:lastPrinted>2026-04-10T00:11:56Z</cp:lastPrinted>
  <dcterms:created xsi:type="dcterms:W3CDTF">2023-08-21T21:38:38Z</dcterms:created>
  <dcterms:modified xsi:type="dcterms:W3CDTF">2026-05-12T00:29:43Z</dcterms:modified>
</cp:coreProperties>
</file>